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8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9" d="100"/>
          <a:sy n="169" d="100"/>
        </p:scale>
        <p:origin x="19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1741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Hoş geldiniz. Önümüzdeki yarım saatte konuşacağımız konu, AI çağında ürün geliştirebilenle demo yapanlar arasındaki farkı belirleyen şeyin adı. Hepimiz "model nasıl seçilmeli" sorusunu çok duyduk. Ben bugün size, çoğunlukla unutulan ama production'da her şeyi belirleyen şeyi anlatacağım: harness.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D2021-B203-7680-4A38-990B23570F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C9FD6-BC45-76DE-0A5C-EB27998F6F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E7AAD7-E3F8-B52D-71D8-71E4A69A7CD8}"/>
              </a:ext>
            </a:extLst>
          </p:cNvPr>
          <p:cNvSpPr>
            <a:spLocks noGrp="1"/>
          </p:cNvSpPr>
          <p:nvPr>
            <p:ph type="body" idx="1"/>
          </p:nvPr>
        </p:nvSpPr>
        <p:spPr/>
        <p:txBody>
          <a:bodyPr/>
          <a:lstStyle/>
          <a:p>
            <a:r>
              <a:rPr lang="en-US" dirty="0"/>
              <a:t>Hoş geldiniz. Önümüzdeki yarım saatte konuşacağımız konu, AI çağında ürün geliştirebilenle demo yapanlar arasındaki farkı belirleyen şeyin adı. Hepimiz "model nasıl seçilmeli" sorusunu çok duyduk. Ben bugün size, çoğunlukla unutulan ama production'da her şeyi belirleyen şeyi anlatacağım: harness.</a:t>
            </a:r>
          </a:p>
        </p:txBody>
      </p:sp>
      <p:sp>
        <p:nvSpPr>
          <p:cNvPr id="4" name="Slide Number Placeholder 3">
            <a:extLst>
              <a:ext uri="{FF2B5EF4-FFF2-40B4-BE49-F238E27FC236}">
                <a16:creationId xmlns:a16="http://schemas.microsoft.com/office/drawing/2014/main" id="{BDD87F24-36D9-703E-310F-F5E3613A6BC5}"/>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130342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rakamı bir saniye düşünün. Yüzde seksen altı. Yüzde seksen dokuza kadar çıkan istatistikler var. Pilot çalışmaların büyük bölümü production'a ulaşamıyor. Ne model kötü, ne fikir kötü. Eksik olan başka bir şey, ve bugün onun adını koyacağız.</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Çoğu konuşma model kalitesi etrafında dönüyor — GPT mi, Claude mu, Gemini mi. Bu sorular önemli, ama tek başlarına yetersiz. Asıl soru, modelin arkasındaki sistemin ne kadar olgun olduğu. İşte bu sunumun konusu 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Tezimiz bu. Önümüzdeki yirmi beş dakikada bu cümleyi size satmaya çalışacağım. Önce harness'ın ne olmadığına, sonra ne olduğuna bakacağız. Bileşenlerini, mimarisini, kurumsal yansımasını göreceğiz. Sonunda kapanışta tekrar bu cümleye döneceğiz.</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Kullanıcı için agent budur. Cevap verir, plan yapar, tool çağırır. Bu yüzeyde değer görünür ve kullanıcı haklı olarak burayı önemser. Ama mimari açıdan bu sadece sonuç yüzeyi. Asıl mesele aşağıda.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Aynı agent çağrısının arkasında bu 13 görünmez parametre var. Production'da asıl kritik şeyler bunlar. Bir agent demosu sahnede parlasa bile, bu 13 sorunun cevabı yoksa, kurumsal sistemde yaşayamaz.</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tanım Anthropic'in resmi belgelerinden. Aynı dönemde TheNewStack başlığı atıyor: "Harness ürünün kendisidir." Yani sektör artık sadece daha iyi model satmıyor; bu modeli sarıp güvenilir kılan yapıyı satıyor.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Konsensüs tek başına bir argüman değil ama yön gösterici. Dört büyük oyuncu da harness katmanını ürünleştiriyor. Microsoft'un Nisan 2026'da yayınladığı governance toolkit somut delil — model ile kurum ağı arasında politika enforcement engine konumlandırıyor.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sunumun mimari iskeleti. Model en üstte, harness en altta. Her seviyenin kendi sorusu var. Çoğu ekip ilk üçüyle ilgileniyor ve dördüncüde patlıyor. Şimdi harness'ın içine girelim.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ve AWS bunu artık platform kabiliyeti olarak ele alıyor. Identity sıradan bir auth değil; agentic identity workload identity ve just-in-time authorization gerektiriyor — Strata bunun için yeni bir kategori tanımlıyor.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Bunu Maistro gibi platformda düşünün. Kullanıcı agent yaratır, tool bağlar, başkasına yetki devreder, memory tanımlar. Beş boyutlu bir yetki modeli olmadan agent platformu kurumsal anlamda yaşayamaz.</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Anthropic'in MCP standardı dış sistemlerle iki yönlü bağlantı sağlıyor — bu güçlü ama temas yüzeyini büyütüyor. Her tool için risk skorlaması, ACL ve audit gerekli.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Yarım saatlik bir görevin var; agent'ın yirmi üçüncü dakikasında patladı. Ne olur? State yoksa baştan başlar. Bu, demoda fark edilmez — production'da uzun iş akışlarında her şeyi belirler.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AgentCore memory'yi runtime resource olarak izliyor — sadece veri saklama değil, aktif bir runtime bileşeni. Retention, forget, write/read policy olmadan memory bir avantaj değil, bir risk.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OpenAI Agents SDK guardrail mekanizmasını execution pipeline'la birlikte düşünüyor. Yani guardrail bir ek değil, mimarinin parçası — sonradan eklenmiyor, en başta tasarlanıyor.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Anthropic'in browser-use yazısı net: agent internette güvenilmeyen içerikle karşılaşıyor ve içerikteki gizli komutlar agent'ı ele geçirebiliyor. Sandbox burada zekayı değil, icra riskini yönetir.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HITL'i yavaşlık olarak görmek bir yanılgı. Doğru mimaride HITL, yüksek riskli aksiyonların hızını değil, sorumluluk konumunu yönetir. Approval'ı agent iş akışının doğal parçası yapın — sonradan eklemeyin.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AgentCore Observability token usage, latency, error rate, session count gibi metrikleri vurguluyor. Bunlar sıradan log değil — operasyonel kalite ve denetim altyapısı. Üç farklı ekibin (FinOps, engineering, security) farklı sorularına aynı izden cevap çıkıyor.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Klasik model evaluation final çıktıya bakar. Agent evaluation karar zincirine bakar. İkisi farklı disiplin ve agent'ın production'a alınma kararı bu ikinci tip değerlendirmeye dayanır.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 gün denetçi gelir ve sorar: "Bu agent altı ay önce müşteriye bu kararı neden verdi?" Cevabı ancak bu on boyutun versiyonunu tutuyorsanız verebilirsiniz. Regülasyon, audit, sorumluluk meselesi.</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sunumun altın slaytı. Bir agent sistemi kurarken bu dokuz katmanın hangisi olmadan çalışıyorsanız, prod'a girmeden patlayacaksınız. Çoğu demo birinci ve üçüncü katmanı kullanır; gerisini boş bırakır. Bu sunumdan tek bir slaytı hatırlayacaksanız, bu olsun.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modele kendi sisteminizi koyun. L0-L2 demo dünyası — burada kalan ekipler %86-89 başarısızlık istatistiğini besliyor. L3 sonrası üretim disiplini başlıyor.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Halüsinasyon model problemidir, çözümü model katmanında. Yanlış retrieval ise harness problemidir, çözümü context engineering ve memory governance'da. İki ayrı problem, iki ayrı çözüm. Karıştırılırsa hiçbiri çözülmez.</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Anthropic'in prompt injection savunmaları yazısı net: browser kullanan agent güvenilmeyen web içeriğiyle karşılaşıyor ve içerikteki gizli komutlar agent davranışını ele geçirebiliyor. Bu listenin yarısı geçen yıl yoktu, önümüzdeki yıl daha uzun olacak.</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Bankacılık, sağlık, sigorta gibi regüle sektörlerde bu sorular pazarlık dışıdır. Hazır agent framework'leri size geliştirme hızı verir; ama kurumsal harness, kurumun risk iştahıyla, regülasyonuyla, veri politikasıyla birlikte tasarlanmak zorundadır.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Maistro'yu detayıyla tanıtmıyorum. Anlatmak istediğim şu: bu sunumun tezini yaşayan, regüle ortamda çalışan, yerli mühendislik ürünü bir platform var. Türkiye'de bu seviyede başka enterprise agent harness platformu görmedim — varsa bilen söylesin, ben de öğrenmek isterim.</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listeyi fotoğraflayın. Kuracağınız her sistemde bu yirmi sorunun cevabı net olmalı. Onaylamadığınız bir madde varsa, henüz production'a hazır değilsiniz — buradan başlayın.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Sunuma başlarken size bir tez sundum: harness, modelin gerçek dünya ile güvenli temas yüzeyidir. Bu yarım saatte bunu kanıtlamaya çalıştım. Şimdi sözü size bırakıyorum: yarın kurduğunuz sistem ne kadar otonom olursa olsun, bugün düşündüğünüz kontroller onun ayakta kalmasını belirleyecek. En iyi modeli kullanmak rekabet avantajı sağlamaz; en olgun harness'ı kurmak sağlar. O insanlardan biri olmanızı dilerim.</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Sorularınızı bekliyorum. LinkedIn'den de ulaşabilirsiniz. Tartışmak istediğiniz somut bir sistem varsa, ayrıca konuşmaktan mutluluk duyarım.</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93939"/>
        </a:solidFill>
        <a:effectLst/>
      </p:bgPr>
    </p:bg>
    <p:spTree>
      <p:nvGrpSpPr>
        <p:cNvPr id="1" name=""/>
        <p:cNvGrpSpPr/>
        <p:nvPr/>
      </p:nvGrpSpPr>
      <p:grpSpPr>
        <a:xfrm>
          <a:off x="0" y="0"/>
          <a:ext cx="0" cy="0"/>
          <a:chOff x="0" y="0"/>
          <a:chExt cx="0" cy="0"/>
        </a:xfrm>
      </p:grpSpPr>
      <p:sp>
        <p:nvSpPr>
          <p:cNvPr id="2" name="Shape 0"/>
          <p:cNvSpPr/>
          <p:nvPr/>
        </p:nvSpPr>
        <p:spPr>
          <a:xfrm>
            <a:off x="5943600" y="182880"/>
            <a:ext cx="3200400" cy="0"/>
          </a:xfrm>
          <a:prstGeom prst="line">
            <a:avLst/>
          </a:prstGeom>
          <a:noFill/>
          <a:ln w="6350">
            <a:solidFill>
              <a:srgbClr val="65D7DE">
                <a:alpha val="30000"/>
              </a:srgbClr>
            </a:solidFill>
            <a:prstDash val="solid"/>
          </a:ln>
        </p:spPr>
        <p:txBody>
          <a:bodyPr/>
          <a:lstStyle/>
          <a:p>
            <a:endParaRPr lang="en-TR"/>
          </a:p>
        </p:txBody>
      </p:sp>
      <p:sp>
        <p:nvSpPr>
          <p:cNvPr id="3" name="Shape 1"/>
          <p:cNvSpPr/>
          <p:nvPr/>
        </p:nvSpPr>
        <p:spPr>
          <a:xfrm>
            <a:off x="5989320" y="256032"/>
            <a:ext cx="3154680" cy="0"/>
          </a:xfrm>
          <a:prstGeom prst="line">
            <a:avLst/>
          </a:prstGeom>
          <a:noFill/>
          <a:ln w="6350">
            <a:solidFill>
              <a:srgbClr val="65D7DE">
                <a:alpha val="30000"/>
              </a:srgbClr>
            </a:solidFill>
            <a:prstDash val="solid"/>
          </a:ln>
        </p:spPr>
        <p:txBody>
          <a:bodyPr/>
          <a:lstStyle/>
          <a:p>
            <a:endParaRPr lang="en-TR"/>
          </a:p>
        </p:txBody>
      </p:sp>
      <p:sp>
        <p:nvSpPr>
          <p:cNvPr id="4" name="Shape 2"/>
          <p:cNvSpPr/>
          <p:nvPr/>
        </p:nvSpPr>
        <p:spPr>
          <a:xfrm>
            <a:off x="6035040" y="329184"/>
            <a:ext cx="3108960" cy="0"/>
          </a:xfrm>
          <a:prstGeom prst="line">
            <a:avLst/>
          </a:prstGeom>
          <a:noFill/>
          <a:ln w="6350">
            <a:solidFill>
              <a:srgbClr val="65D7DE">
                <a:alpha val="30000"/>
              </a:srgbClr>
            </a:solidFill>
            <a:prstDash val="solid"/>
          </a:ln>
        </p:spPr>
        <p:txBody>
          <a:bodyPr/>
          <a:lstStyle/>
          <a:p>
            <a:endParaRPr lang="en-TR"/>
          </a:p>
        </p:txBody>
      </p:sp>
      <p:sp>
        <p:nvSpPr>
          <p:cNvPr id="5" name="Shape 3"/>
          <p:cNvSpPr/>
          <p:nvPr/>
        </p:nvSpPr>
        <p:spPr>
          <a:xfrm>
            <a:off x="6080760" y="402336"/>
            <a:ext cx="3063240" cy="0"/>
          </a:xfrm>
          <a:prstGeom prst="line">
            <a:avLst/>
          </a:prstGeom>
          <a:noFill/>
          <a:ln w="6350">
            <a:solidFill>
              <a:srgbClr val="65D7DE">
                <a:alpha val="30000"/>
              </a:srgbClr>
            </a:solidFill>
            <a:prstDash val="solid"/>
          </a:ln>
        </p:spPr>
        <p:txBody>
          <a:bodyPr/>
          <a:lstStyle/>
          <a:p>
            <a:endParaRPr lang="en-TR"/>
          </a:p>
        </p:txBody>
      </p:sp>
      <p:sp>
        <p:nvSpPr>
          <p:cNvPr id="6" name="Shape 4"/>
          <p:cNvSpPr/>
          <p:nvPr/>
        </p:nvSpPr>
        <p:spPr>
          <a:xfrm>
            <a:off x="6126480" y="475488"/>
            <a:ext cx="3017520" cy="0"/>
          </a:xfrm>
          <a:prstGeom prst="line">
            <a:avLst/>
          </a:prstGeom>
          <a:noFill/>
          <a:ln w="6350">
            <a:solidFill>
              <a:srgbClr val="65D7DE">
                <a:alpha val="30000"/>
              </a:srgbClr>
            </a:solidFill>
            <a:prstDash val="solid"/>
          </a:ln>
        </p:spPr>
        <p:txBody>
          <a:bodyPr/>
          <a:lstStyle/>
          <a:p>
            <a:endParaRPr lang="en-TR"/>
          </a:p>
        </p:txBody>
      </p:sp>
      <p:sp>
        <p:nvSpPr>
          <p:cNvPr id="7" name="Shape 5"/>
          <p:cNvSpPr/>
          <p:nvPr/>
        </p:nvSpPr>
        <p:spPr>
          <a:xfrm>
            <a:off x="6172200" y="548640"/>
            <a:ext cx="2971800" cy="0"/>
          </a:xfrm>
          <a:prstGeom prst="line">
            <a:avLst/>
          </a:prstGeom>
          <a:noFill/>
          <a:ln w="6350">
            <a:solidFill>
              <a:srgbClr val="65D7DE">
                <a:alpha val="30000"/>
              </a:srgbClr>
            </a:solidFill>
            <a:prstDash val="solid"/>
          </a:ln>
        </p:spPr>
        <p:txBody>
          <a:bodyPr/>
          <a:lstStyle/>
          <a:p>
            <a:endParaRPr lang="en-TR"/>
          </a:p>
        </p:txBody>
      </p:sp>
      <p:sp>
        <p:nvSpPr>
          <p:cNvPr id="8" name="Shape 6"/>
          <p:cNvSpPr/>
          <p:nvPr/>
        </p:nvSpPr>
        <p:spPr>
          <a:xfrm>
            <a:off x="6217920" y="621792"/>
            <a:ext cx="2926080" cy="0"/>
          </a:xfrm>
          <a:prstGeom prst="line">
            <a:avLst/>
          </a:prstGeom>
          <a:noFill/>
          <a:ln w="6350">
            <a:solidFill>
              <a:srgbClr val="65D7DE">
                <a:alpha val="30000"/>
              </a:srgbClr>
            </a:solidFill>
            <a:prstDash val="solid"/>
          </a:ln>
        </p:spPr>
        <p:txBody>
          <a:bodyPr/>
          <a:lstStyle/>
          <a:p>
            <a:endParaRPr lang="en-TR"/>
          </a:p>
        </p:txBody>
      </p:sp>
      <p:sp>
        <p:nvSpPr>
          <p:cNvPr id="9" name="Shape 7"/>
          <p:cNvSpPr/>
          <p:nvPr/>
        </p:nvSpPr>
        <p:spPr>
          <a:xfrm>
            <a:off x="6263640" y="694944"/>
            <a:ext cx="2880360" cy="0"/>
          </a:xfrm>
          <a:prstGeom prst="line">
            <a:avLst/>
          </a:prstGeom>
          <a:noFill/>
          <a:ln w="6350">
            <a:solidFill>
              <a:srgbClr val="65D7DE">
                <a:alpha val="30000"/>
              </a:srgbClr>
            </a:solidFill>
            <a:prstDash val="solid"/>
          </a:ln>
        </p:spPr>
        <p:txBody>
          <a:bodyPr/>
          <a:lstStyle/>
          <a:p>
            <a:endParaRPr lang="en-TR"/>
          </a:p>
        </p:txBody>
      </p:sp>
      <p:sp>
        <p:nvSpPr>
          <p:cNvPr id="10" name="Shape 8"/>
          <p:cNvSpPr/>
          <p:nvPr/>
        </p:nvSpPr>
        <p:spPr>
          <a:xfrm>
            <a:off x="6309360" y="768096"/>
            <a:ext cx="2834640" cy="0"/>
          </a:xfrm>
          <a:prstGeom prst="line">
            <a:avLst/>
          </a:prstGeom>
          <a:noFill/>
          <a:ln w="6350">
            <a:solidFill>
              <a:srgbClr val="65D7DE">
                <a:alpha val="30000"/>
              </a:srgbClr>
            </a:solidFill>
            <a:prstDash val="solid"/>
          </a:ln>
        </p:spPr>
        <p:txBody>
          <a:bodyPr/>
          <a:lstStyle/>
          <a:p>
            <a:endParaRPr lang="en-TR"/>
          </a:p>
        </p:txBody>
      </p:sp>
      <p:sp>
        <p:nvSpPr>
          <p:cNvPr id="11" name="Shape 9"/>
          <p:cNvSpPr/>
          <p:nvPr/>
        </p:nvSpPr>
        <p:spPr>
          <a:xfrm>
            <a:off x="6355080" y="841248"/>
            <a:ext cx="2788920" cy="0"/>
          </a:xfrm>
          <a:prstGeom prst="line">
            <a:avLst/>
          </a:prstGeom>
          <a:noFill/>
          <a:ln w="6350">
            <a:solidFill>
              <a:srgbClr val="65D7DE">
                <a:alpha val="30000"/>
              </a:srgbClr>
            </a:solidFill>
            <a:prstDash val="solid"/>
          </a:ln>
        </p:spPr>
        <p:txBody>
          <a:bodyPr/>
          <a:lstStyle/>
          <a:p>
            <a:endParaRPr lang="en-TR"/>
          </a:p>
        </p:txBody>
      </p:sp>
      <p:sp>
        <p:nvSpPr>
          <p:cNvPr id="12" name="Shape 10"/>
          <p:cNvSpPr/>
          <p:nvPr/>
        </p:nvSpPr>
        <p:spPr>
          <a:xfrm>
            <a:off x="6400800" y="914400"/>
            <a:ext cx="2743200" cy="0"/>
          </a:xfrm>
          <a:prstGeom prst="line">
            <a:avLst/>
          </a:prstGeom>
          <a:noFill/>
          <a:ln w="6350">
            <a:solidFill>
              <a:srgbClr val="65D7DE">
                <a:alpha val="30000"/>
              </a:srgbClr>
            </a:solidFill>
            <a:prstDash val="solid"/>
          </a:ln>
        </p:spPr>
        <p:txBody>
          <a:bodyPr/>
          <a:lstStyle/>
          <a:p>
            <a:endParaRPr lang="en-TR"/>
          </a:p>
        </p:txBody>
      </p:sp>
      <p:sp>
        <p:nvSpPr>
          <p:cNvPr id="13" name="Shape 11"/>
          <p:cNvSpPr/>
          <p:nvPr/>
        </p:nvSpPr>
        <p:spPr>
          <a:xfrm>
            <a:off x="6446520" y="987552"/>
            <a:ext cx="2697480" cy="0"/>
          </a:xfrm>
          <a:prstGeom prst="line">
            <a:avLst/>
          </a:prstGeom>
          <a:noFill/>
          <a:ln w="6350">
            <a:solidFill>
              <a:srgbClr val="65D7DE">
                <a:alpha val="30000"/>
              </a:srgbClr>
            </a:solidFill>
            <a:prstDash val="solid"/>
          </a:ln>
        </p:spPr>
        <p:txBody>
          <a:bodyPr/>
          <a:lstStyle/>
          <a:p>
            <a:endParaRPr lang="en-TR"/>
          </a:p>
        </p:txBody>
      </p:sp>
      <p:sp>
        <p:nvSpPr>
          <p:cNvPr id="14" name="Text 12"/>
          <p:cNvSpPr/>
          <p:nvPr/>
        </p:nvSpPr>
        <p:spPr>
          <a:xfrm>
            <a:off x="457200" y="365760"/>
            <a:ext cx="731520" cy="731520"/>
          </a:xfrm>
          <a:prstGeom prst="rect">
            <a:avLst/>
          </a:prstGeom>
          <a:noFill/>
          <a:ln/>
        </p:spPr>
        <p:txBody>
          <a:bodyPr wrap="square" rtlCol="0" anchor="ctr"/>
          <a:lstStyle/>
          <a:p>
            <a:pPr marL="0" indent="0">
              <a:buNone/>
            </a:pPr>
            <a:r>
              <a:rPr lang="en-US" sz="5600" b="1" dirty="0">
                <a:solidFill>
                  <a:srgbClr val="65D7DE"/>
                </a:solidFill>
                <a:latin typeface="Calibri" pitchFamily="34" charset="0"/>
                <a:ea typeface="Calibri" pitchFamily="34" charset="-122"/>
                <a:cs typeface="Calibri" pitchFamily="34" charset="-120"/>
              </a:rPr>
              <a:t>&lt;</a:t>
            </a:r>
            <a:endParaRPr lang="en-US" sz="5600" dirty="0"/>
          </a:p>
        </p:txBody>
      </p:sp>
      <p:sp>
        <p:nvSpPr>
          <p:cNvPr id="15" name="Text 13"/>
          <p:cNvSpPr/>
          <p:nvPr/>
        </p:nvSpPr>
        <p:spPr>
          <a:xfrm>
            <a:off x="548640" y="1280160"/>
            <a:ext cx="8229600" cy="822960"/>
          </a:xfrm>
          <a:prstGeom prst="rect">
            <a:avLst/>
          </a:prstGeom>
          <a:noFill/>
          <a:ln/>
        </p:spPr>
        <p:txBody>
          <a:bodyPr wrap="square"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Görünen Agent,</a:t>
            </a:r>
            <a:endParaRPr lang="en-US" sz="5400" dirty="0"/>
          </a:p>
        </p:txBody>
      </p:sp>
      <p:sp>
        <p:nvSpPr>
          <p:cNvPr id="16" name="Text 14"/>
          <p:cNvSpPr/>
          <p:nvPr/>
        </p:nvSpPr>
        <p:spPr>
          <a:xfrm>
            <a:off x="548640" y="2011680"/>
            <a:ext cx="8229600" cy="822960"/>
          </a:xfrm>
          <a:prstGeom prst="rect">
            <a:avLst/>
          </a:prstGeom>
          <a:noFill/>
          <a:ln/>
        </p:spPr>
        <p:txBody>
          <a:bodyPr wrap="square" rtlCol="0" anchor="ctr"/>
          <a:lstStyle/>
          <a:p>
            <a:pPr marL="0" indent="0">
              <a:buNone/>
            </a:pPr>
            <a:r>
              <a:rPr lang="en-US" sz="5400" b="1" dirty="0">
                <a:solidFill>
                  <a:srgbClr val="65D7DE"/>
                </a:solidFill>
                <a:latin typeface="Calibri" pitchFamily="34" charset="0"/>
                <a:ea typeface="Calibri" pitchFamily="34" charset="-122"/>
                <a:cs typeface="Calibri" pitchFamily="34" charset="-120"/>
              </a:rPr>
              <a:t>Görünmeyen Harness</a:t>
            </a:r>
            <a:endParaRPr lang="en-US" sz="5400" dirty="0"/>
          </a:p>
        </p:txBody>
      </p:sp>
      <p:sp>
        <p:nvSpPr>
          <p:cNvPr id="17" name="Text 15"/>
          <p:cNvSpPr/>
          <p:nvPr/>
        </p:nvSpPr>
        <p:spPr>
          <a:xfrm>
            <a:off x="548640" y="3017520"/>
            <a:ext cx="8229600" cy="548640"/>
          </a:xfrm>
          <a:prstGeom prst="rect">
            <a:avLst/>
          </a:prstGeom>
          <a:noFill/>
          <a:ln/>
        </p:spPr>
        <p:txBody>
          <a:bodyPr wrap="square" rtlCol="0" anchor="ctr"/>
          <a:lstStyle/>
          <a:p>
            <a:pPr marL="0" indent="0">
              <a:buNone/>
            </a:pPr>
            <a:r>
              <a:rPr lang="en-US" sz="1800" i="1" dirty="0">
                <a:solidFill>
                  <a:srgbClr val="CCCCCC"/>
                </a:solidFill>
                <a:latin typeface="Calibri" pitchFamily="34" charset="0"/>
                <a:ea typeface="Calibri" pitchFamily="34" charset="-122"/>
                <a:cs typeface="Calibri" pitchFamily="34" charset="-120"/>
              </a:rPr>
              <a:t>Agent çağında asıl mühendislik yükü nerede birikiyor?</a:t>
            </a:r>
            <a:endParaRPr lang="en-US" sz="1800" dirty="0"/>
          </a:p>
        </p:txBody>
      </p:sp>
      <p:sp>
        <p:nvSpPr>
          <p:cNvPr id="18" name="Shape 16"/>
          <p:cNvSpPr/>
          <p:nvPr/>
        </p:nvSpPr>
        <p:spPr>
          <a:xfrm>
            <a:off x="548640" y="3931920"/>
            <a:ext cx="1371600" cy="0"/>
          </a:xfrm>
          <a:prstGeom prst="line">
            <a:avLst/>
          </a:prstGeom>
          <a:noFill/>
          <a:ln w="25400">
            <a:solidFill>
              <a:srgbClr val="65D7DE"/>
            </a:solidFill>
            <a:prstDash val="solid"/>
          </a:ln>
        </p:spPr>
        <p:txBody>
          <a:bodyPr/>
          <a:lstStyle/>
          <a:p>
            <a:endParaRPr lang="en-TR"/>
          </a:p>
        </p:txBody>
      </p:sp>
      <p:sp>
        <p:nvSpPr>
          <p:cNvPr id="19" name="Text 17"/>
          <p:cNvSpPr/>
          <p:nvPr/>
        </p:nvSpPr>
        <p:spPr>
          <a:xfrm>
            <a:off x="548640" y="4023360"/>
            <a:ext cx="4572000" cy="36576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Şeyma Sarıgıl</a:t>
            </a:r>
            <a:endParaRPr lang="en-US" sz="1800" dirty="0"/>
          </a:p>
        </p:txBody>
      </p:sp>
      <p:sp>
        <p:nvSpPr>
          <p:cNvPr id="20" name="Text 18"/>
          <p:cNvSpPr/>
          <p:nvPr/>
        </p:nvSpPr>
        <p:spPr>
          <a:xfrm>
            <a:off x="548640" y="4434840"/>
            <a:ext cx="4572000" cy="274320"/>
          </a:xfrm>
          <a:prstGeom prst="rect">
            <a:avLst/>
          </a:prstGeom>
          <a:noFill/>
          <a:ln/>
        </p:spPr>
        <p:txBody>
          <a:bodyPr wrap="square" rtlCol="0" anchor="ctr"/>
          <a:lstStyle/>
          <a:p>
            <a:pPr marL="0" indent="0">
              <a:buNone/>
            </a:pPr>
            <a:r>
              <a:rPr lang="en-US" sz="1400" dirty="0">
                <a:solidFill>
                  <a:srgbClr val="65D7DE"/>
                </a:solidFill>
                <a:latin typeface="Calibri" pitchFamily="34" charset="0"/>
                <a:ea typeface="Calibri" pitchFamily="34" charset="-122"/>
                <a:cs typeface="Calibri" pitchFamily="34" charset="-120"/>
              </a:rPr>
              <a:t>Generative AI Architect  •  Softtech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93939"/>
        </a:solidFill>
        <a:effectLst/>
      </p:bgPr>
    </p:bg>
    <p:spTree>
      <p:nvGrpSpPr>
        <p:cNvPr id="1" name="">
          <a:extLst>
            <a:ext uri="{FF2B5EF4-FFF2-40B4-BE49-F238E27FC236}">
              <a16:creationId xmlns:a16="http://schemas.microsoft.com/office/drawing/2014/main" id="{3F50819C-3940-E293-8FED-46D36A2DDED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4793E30-0E70-4552-F057-FDE3F0FC325D}"/>
              </a:ext>
            </a:extLst>
          </p:cNvPr>
          <p:cNvSpPr/>
          <p:nvPr/>
        </p:nvSpPr>
        <p:spPr>
          <a:xfrm>
            <a:off x="5943600" y="182880"/>
            <a:ext cx="3200400" cy="0"/>
          </a:xfrm>
          <a:prstGeom prst="line">
            <a:avLst/>
          </a:prstGeom>
          <a:noFill/>
          <a:ln w="6350">
            <a:solidFill>
              <a:srgbClr val="65D7DE">
                <a:alpha val="30000"/>
              </a:srgbClr>
            </a:solidFill>
            <a:prstDash val="solid"/>
          </a:ln>
        </p:spPr>
        <p:txBody>
          <a:bodyPr/>
          <a:lstStyle/>
          <a:p>
            <a:endParaRPr lang="en-TR"/>
          </a:p>
        </p:txBody>
      </p:sp>
      <p:sp>
        <p:nvSpPr>
          <p:cNvPr id="3" name="Shape 1">
            <a:extLst>
              <a:ext uri="{FF2B5EF4-FFF2-40B4-BE49-F238E27FC236}">
                <a16:creationId xmlns:a16="http://schemas.microsoft.com/office/drawing/2014/main" id="{57626A00-84ED-5EBA-BA45-8AFD85E26003}"/>
              </a:ext>
            </a:extLst>
          </p:cNvPr>
          <p:cNvSpPr/>
          <p:nvPr/>
        </p:nvSpPr>
        <p:spPr>
          <a:xfrm>
            <a:off x="5989320" y="256032"/>
            <a:ext cx="3154680" cy="0"/>
          </a:xfrm>
          <a:prstGeom prst="line">
            <a:avLst/>
          </a:prstGeom>
          <a:noFill/>
          <a:ln w="6350">
            <a:solidFill>
              <a:srgbClr val="65D7DE">
                <a:alpha val="30000"/>
              </a:srgbClr>
            </a:solidFill>
            <a:prstDash val="solid"/>
          </a:ln>
        </p:spPr>
        <p:txBody>
          <a:bodyPr/>
          <a:lstStyle/>
          <a:p>
            <a:endParaRPr lang="en-TR"/>
          </a:p>
        </p:txBody>
      </p:sp>
      <p:sp>
        <p:nvSpPr>
          <p:cNvPr id="4" name="Shape 2">
            <a:extLst>
              <a:ext uri="{FF2B5EF4-FFF2-40B4-BE49-F238E27FC236}">
                <a16:creationId xmlns:a16="http://schemas.microsoft.com/office/drawing/2014/main" id="{0893A482-5F46-CD65-A172-40C38CB126AF}"/>
              </a:ext>
            </a:extLst>
          </p:cNvPr>
          <p:cNvSpPr/>
          <p:nvPr/>
        </p:nvSpPr>
        <p:spPr>
          <a:xfrm>
            <a:off x="6035040" y="329184"/>
            <a:ext cx="3108960" cy="0"/>
          </a:xfrm>
          <a:prstGeom prst="line">
            <a:avLst/>
          </a:prstGeom>
          <a:noFill/>
          <a:ln w="6350">
            <a:solidFill>
              <a:srgbClr val="65D7DE">
                <a:alpha val="30000"/>
              </a:srgbClr>
            </a:solidFill>
            <a:prstDash val="solid"/>
          </a:ln>
        </p:spPr>
        <p:txBody>
          <a:bodyPr/>
          <a:lstStyle/>
          <a:p>
            <a:endParaRPr lang="en-TR"/>
          </a:p>
        </p:txBody>
      </p:sp>
      <p:sp>
        <p:nvSpPr>
          <p:cNvPr id="5" name="Shape 3">
            <a:extLst>
              <a:ext uri="{FF2B5EF4-FFF2-40B4-BE49-F238E27FC236}">
                <a16:creationId xmlns:a16="http://schemas.microsoft.com/office/drawing/2014/main" id="{1E096695-216A-AED9-C84F-DFAEFD020602}"/>
              </a:ext>
            </a:extLst>
          </p:cNvPr>
          <p:cNvSpPr/>
          <p:nvPr/>
        </p:nvSpPr>
        <p:spPr>
          <a:xfrm>
            <a:off x="6080760" y="402336"/>
            <a:ext cx="3063240" cy="0"/>
          </a:xfrm>
          <a:prstGeom prst="line">
            <a:avLst/>
          </a:prstGeom>
          <a:noFill/>
          <a:ln w="6350">
            <a:solidFill>
              <a:srgbClr val="65D7DE">
                <a:alpha val="30000"/>
              </a:srgbClr>
            </a:solidFill>
            <a:prstDash val="solid"/>
          </a:ln>
        </p:spPr>
        <p:txBody>
          <a:bodyPr/>
          <a:lstStyle/>
          <a:p>
            <a:endParaRPr lang="en-TR"/>
          </a:p>
        </p:txBody>
      </p:sp>
      <p:sp>
        <p:nvSpPr>
          <p:cNvPr id="6" name="Shape 4">
            <a:extLst>
              <a:ext uri="{FF2B5EF4-FFF2-40B4-BE49-F238E27FC236}">
                <a16:creationId xmlns:a16="http://schemas.microsoft.com/office/drawing/2014/main" id="{86CE82C2-39D1-8F2B-FBDF-BF00516C8694}"/>
              </a:ext>
            </a:extLst>
          </p:cNvPr>
          <p:cNvSpPr/>
          <p:nvPr/>
        </p:nvSpPr>
        <p:spPr>
          <a:xfrm>
            <a:off x="6126480" y="475488"/>
            <a:ext cx="3017520" cy="0"/>
          </a:xfrm>
          <a:prstGeom prst="line">
            <a:avLst/>
          </a:prstGeom>
          <a:noFill/>
          <a:ln w="6350">
            <a:solidFill>
              <a:srgbClr val="65D7DE">
                <a:alpha val="30000"/>
              </a:srgbClr>
            </a:solidFill>
            <a:prstDash val="solid"/>
          </a:ln>
        </p:spPr>
        <p:txBody>
          <a:bodyPr/>
          <a:lstStyle/>
          <a:p>
            <a:endParaRPr lang="en-TR"/>
          </a:p>
        </p:txBody>
      </p:sp>
      <p:sp>
        <p:nvSpPr>
          <p:cNvPr id="7" name="Shape 5">
            <a:extLst>
              <a:ext uri="{FF2B5EF4-FFF2-40B4-BE49-F238E27FC236}">
                <a16:creationId xmlns:a16="http://schemas.microsoft.com/office/drawing/2014/main" id="{1F445C8F-BD89-E008-D56D-BEDEF4001000}"/>
              </a:ext>
            </a:extLst>
          </p:cNvPr>
          <p:cNvSpPr/>
          <p:nvPr/>
        </p:nvSpPr>
        <p:spPr>
          <a:xfrm>
            <a:off x="6172200" y="548640"/>
            <a:ext cx="2971800" cy="0"/>
          </a:xfrm>
          <a:prstGeom prst="line">
            <a:avLst/>
          </a:prstGeom>
          <a:noFill/>
          <a:ln w="6350">
            <a:solidFill>
              <a:srgbClr val="65D7DE">
                <a:alpha val="30000"/>
              </a:srgbClr>
            </a:solidFill>
            <a:prstDash val="solid"/>
          </a:ln>
        </p:spPr>
        <p:txBody>
          <a:bodyPr/>
          <a:lstStyle/>
          <a:p>
            <a:endParaRPr lang="en-TR"/>
          </a:p>
        </p:txBody>
      </p:sp>
      <p:sp>
        <p:nvSpPr>
          <p:cNvPr id="8" name="Shape 6">
            <a:extLst>
              <a:ext uri="{FF2B5EF4-FFF2-40B4-BE49-F238E27FC236}">
                <a16:creationId xmlns:a16="http://schemas.microsoft.com/office/drawing/2014/main" id="{82E364B4-B789-C43F-CC3C-91444C2A24ED}"/>
              </a:ext>
            </a:extLst>
          </p:cNvPr>
          <p:cNvSpPr/>
          <p:nvPr/>
        </p:nvSpPr>
        <p:spPr>
          <a:xfrm>
            <a:off x="6217920" y="621792"/>
            <a:ext cx="2926080" cy="0"/>
          </a:xfrm>
          <a:prstGeom prst="line">
            <a:avLst/>
          </a:prstGeom>
          <a:noFill/>
          <a:ln w="6350">
            <a:solidFill>
              <a:srgbClr val="65D7DE">
                <a:alpha val="30000"/>
              </a:srgbClr>
            </a:solidFill>
            <a:prstDash val="solid"/>
          </a:ln>
        </p:spPr>
        <p:txBody>
          <a:bodyPr/>
          <a:lstStyle/>
          <a:p>
            <a:endParaRPr lang="en-TR"/>
          </a:p>
        </p:txBody>
      </p:sp>
      <p:sp>
        <p:nvSpPr>
          <p:cNvPr id="9" name="Shape 7">
            <a:extLst>
              <a:ext uri="{FF2B5EF4-FFF2-40B4-BE49-F238E27FC236}">
                <a16:creationId xmlns:a16="http://schemas.microsoft.com/office/drawing/2014/main" id="{4F1EB15D-E495-4A2A-6CA1-5B7C25538517}"/>
              </a:ext>
            </a:extLst>
          </p:cNvPr>
          <p:cNvSpPr/>
          <p:nvPr/>
        </p:nvSpPr>
        <p:spPr>
          <a:xfrm>
            <a:off x="6263640" y="694944"/>
            <a:ext cx="2880360" cy="0"/>
          </a:xfrm>
          <a:prstGeom prst="line">
            <a:avLst/>
          </a:prstGeom>
          <a:noFill/>
          <a:ln w="6350">
            <a:solidFill>
              <a:srgbClr val="65D7DE">
                <a:alpha val="30000"/>
              </a:srgbClr>
            </a:solidFill>
            <a:prstDash val="solid"/>
          </a:ln>
        </p:spPr>
        <p:txBody>
          <a:bodyPr/>
          <a:lstStyle/>
          <a:p>
            <a:endParaRPr lang="en-TR"/>
          </a:p>
        </p:txBody>
      </p:sp>
      <p:sp>
        <p:nvSpPr>
          <p:cNvPr id="10" name="Shape 8">
            <a:extLst>
              <a:ext uri="{FF2B5EF4-FFF2-40B4-BE49-F238E27FC236}">
                <a16:creationId xmlns:a16="http://schemas.microsoft.com/office/drawing/2014/main" id="{8C40B32E-00E2-01B8-7BA1-D4C7A62FDD83}"/>
              </a:ext>
            </a:extLst>
          </p:cNvPr>
          <p:cNvSpPr/>
          <p:nvPr/>
        </p:nvSpPr>
        <p:spPr>
          <a:xfrm>
            <a:off x="6309360" y="768096"/>
            <a:ext cx="2834640" cy="0"/>
          </a:xfrm>
          <a:prstGeom prst="line">
            <a:avLst/>
          </a:prstGeom>
          <a:noFill/>
          <a:ln w="6350">
            <a:solidFill>
              <a:srgbClr val="65D7DE">
                <a:alpha val="30000"/>
              </a:srgbClr>
            </a:solidFill>
            <a:prstDash val="solid"/>
          </a:ln>
        </p:spPr>
        <p:txBody>
          <a:bodyPr/>
          <a:lstStyle/>
          <a:p>
            <a:endParaRPr lang="en-TR"/>
          </a:p>
        </p:txBody>
      </p:sp>
      <p:sp>
        <p:nvSpPr>
          <p:cNvPr id="11" name="Shape 9">
            <a:extLst>
              <a:ext uri="{FF2B5EF4-FFF2-40B4-BE49-F238E27FC236}">
                <a16:creationId xmlns:a16="http://schemas.microsoft.com/office/drawing/2014/main" id="{866F3FD0-846E-011F-19BC-1E7C5EEE2E29}"/>
              </a:ext>
            </a:extLst>
          </p:cNvPr>
          <p:cNvSpPr/>
          <p:nvPr/>
        </p:nvSpPr>
        <p:spPr>
          <a:xfrm>
            <a:off x="6355080" y="841248"/>
            <a:ext cx="2788920" cy="0"/>
          </a:xfrm>
          <a:prstGeom prst="line">
            <a:avLst/>
          </a:prstGeom>
          <a:noFill/>
          <a:ln w="6350">
            <a:solidFill>
              <a:srgbClr val="65D7DE">
                <a:alpha val="30000"/>
              </a:srgbClr>
            </a:solidFill>
            <a:prstDash val="solid"/>
          </a:ln>
        </p:spPr>
        <p:txBody>
          <a:bodyPr/>
          <a:lstStyle/>
          <a:p>
            <a:endParaRPr lang="en-TR"/>
          </a:p>
        </p:txBody>
      </p:sp>
      <p:sp>
        <p:nvSpPr>
          <p:cNvPr id="12" name="Shape 10">
            <a:extLst>
              <a:ext uri="{FF2B5EF4-FFF2-40B4-BE49-F238E27FC236}">
                <a16:creationId xmlns:a16="http://schemas.microsoft.com/office/drawing/2014/main" id="{2D5662B6-8517-F242-083A-EC1D6B661D85}"/>
              </a:ext>
            </a:extLst>
          </p:cNvPr>
          <p:cNvSpPr/>
          <p:nvPr/>
        </p:nvSpPr>
        <p:spPr>
          <a:xfrm>
            <a:off x="6400800" y="914400"/>
            <a:ext cx="2743200" cy="0"/>
          </a:xfrm>
          <a:prstGeom prst="line">
            <a:avLst/>
          </a:prstGeom>
          <a:noFill/>
          <a:ln w="6350">
            <a:solidFill>
              <a:srgbClr val="65D7DE">
                <a:alpha val="30000"/>
              </a:srgbClr>
            </a:solidFill>
            <a:prstDash val="solid"/>
          </a:ln>
        </p:spPr>
        <p:txBody>
          <a:bodyPr/>
          <a:lstStyle/>
          <a:p>
            <a:endParaRPr lang="en-TR"/>
          </a:p>
        </p:txBody>
      </p:sp>
      <p:sp>
        <p:nvSpPr>
          <p:cNvPr id="13" name="Shape 11">
            <a:extLst>
              <a:ext uri="{FF2B5EF4-FFF2-40B4-BE49-F238E27FC236}">
                <a16:creationId xmlns:a16="http://schemas.microsoft.com/office/drawing/2014/main" id="{65CE8E2A-3A5E-9361-214C-8E0C236FF7C7}"/>
              </a:ext>
            </a:extLst>
          </p:cNvPr>
          <p:cNvSpPr/>
          <p:nvPr/>
        </p:nvSpPr>
        <p:spPr>
          <a:xfrm>
            <a:off x="6446520" y="987552"/>
            <a:ext cx="2697480" cy="0"/>
          </a:xfrm>
          <a:prstGeom prst="line">
            <a:avLst/>
          </a:prstGeom>
          <a:noFill/>
          <a:ln w="6350">
            <a:solidFill>
              <a:srgbClr val="65D7DE">
                <a:alpha val="30000"/>
              </a:srgbClr>
            </a:solidFill>
            <a:prstDash val="solid"/>
          </a:ln>
        </p:spPr>
        <p:txBody>
          <a:bodyPr/>
          <a:lstStyle/>
          <a:p>
            <a:endParaRPr lang="en-TR"/>
          </a:p>
        </p:txBody>
      </p:sp>
      <p:sp>
        <p:nvSpPr>
          <p:cNvPr id="14" name="Text 12">
            <a:extLst>
              <a:ext uri="{FF2B5EF4-FFF2-40B4-BE49-F238E27FC236}">
                <a16:creationId xmlns:a16="http://schemas.microsoft.com/office/drawing/2014/main" id="{70DCDC2E-5247-2AC8-9239-3F1BA1942DCE}"/>
              </a:ext>
            </a:extLst>
          </p:cNvPr>
          <p:cNvSpPr/>
          <p:nvPr/>
        </p:nvSpPr>
        <p:spPr>
          <a:xfrm>
            <a:off x="457200" y="365760"/>
            <a:ext cx="731520" cy="731520"/>
          </a:xfrm>
          <a:prstGeom prst="rect">
            <a:avLst/>
          </a:prstGeom>
          <a:noFill/>
          <a:ln/>
        </p:spPr>
        <p:txBody>
          <a:bodyPr wrap="square" rtlCol="0" anchor="ctr"/>
          <a:lstStyle/>
          <a:p>
            <a:pPr marL="0" indent="0">
              <a:buNone/>
            </a:pPr>
            <a:r>
              <a:rPr lang="en-US" sz="5600" b="1" dirty="0">
                <a:solidFill>
                  <a:srgbClr val="65D7DE"/>
                </a:solidFill>
                <a:latin typeface="Calibri" pitchFamily="34" charset="0"/>
                <a:ea typeface="Calibri" pitchFamily="34" charset="-122"/>
                <a:cs typeface="Calibri" pitchFamily="34" charset="-120"/>
              </a:rPr>
              <a:t>&lt;</a:t>
            </a:r>
            <a:endParaRPr lang="en-US" sz="5600" dirty="0"/>
          </a:p>
        </p:txBody>
      </p:sp>
      <p:sp>
        <p:nvSpPr>
          <p:cNvPr id="15" name="Text 13">
            <a:extLst>
              <a:ext uri="{FF2B5EF4-FFF2-40B4-BE49-F238E27FC236}">
                <a16:creationId xmlns:a16="http://schemas.microsoft.com/office/drawing/2014/main" id="{B6ECED3F-4CA4-5BE4-0056-7C32F45193C9}"/>
              </a:ext>
            </a:extLst>
          </p:cNvPr>
          <p:cNvSpPr/>
          <p:nvPr/>
        </p:nvSpPr>
        <p:spPr>
          <a:xfrm>
            <a:off x="548640" y="1280160"/>
            <a:ext cx="8229600" cy="822960"/>
          </a:xfrm>
          <a:prstGeom prst="rect">
            <a:avLst/>
          </a:prstGeom>
          <a:noFill/>
          <a:ln/>
        </p:spPr>
        <p:txBody>
          <a:bodyPr wrap="square"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Görünen Agent,</a:t>
            </a:r>
            <a:endParaRPr lang="en-US" sz="5400" dirty="0"/>
          </a:p>
        </p:txBody>
      </p:sp>
      <p:sp>
        <p:nvSpPr>
          <p:cNvPr id="16" name="Text 14">
            <a:extLst>
              <a:ext uri="{FF2B5EF4-FFF2-40B4-BE49-F238E27FC236}">
                <a16:creationId xmlns:a16="http://schemas.microsoft.com/office/drawing/2014/main" id="{3559D647-9E41-3FDC-499A-FE5DFB793C96}"/>
              </a:ext>
            </a:extLst>
          </p:cNvPr>
          <p:cNvSpPr/>
          <p:nvPr/>
        </p:nvSpPr>
        <p:spPr>
          <a:xfrm>
            <a:off x="548640" y="2011680"/>
            <a:ext cx="8229600" cy="822960"/>
          </a:xfrm>
          <a:prstGeom prst="rect">
            <a:avLst/>
          </a:prstGeom>
          <a:noFill/>
          <a:ln/>
        </p:spPr>
        <p:txBody>
          <a:bodyPr wrap="square" rtlCol="0" anchor="ctr"/>
          <a:lstStyle/>
          <a:p>
            <a:pPr marL="0" indent="0">
              <a:buNone/>
            </a:pPr>
            <a:r>
              <a:rPr lang="en-US" sz="5400" b="1" dirty="0">
                <a:solidFill>
                  <a:srgbClr val="65D7DE"/>
                </a:solidFill>
                <a:latin typeface="Calibri" pitchFamily="34" charset="0"/>
                <a:ea typeface="Calibri" pitchFamily="34" charset="-122"/>
                <a:cs typeface="Calibri" pitchFamily="34" charset="-120"/>
              </a:rPr>
              <a:t>Görünmeyen Harness</a:t>
            </a:r>
            <a:endParaRPr lang="en-US" sz="5400" dirty="0"/>
          </a:p>
        </p:txBody>
      </p:sp>
      <p:sp>
        <p:nvSpPr>
          <p:cNvPr id="17" name="Text 15">
            <a:extLst>
              <a:ext uri="{FF2B5EF4-FFF2-40B4-BE49-F238E27FC236}">
                <a16:creationId xmlns:a16="http://schemas.microsoft.com/office/drawing/2014/main" id="{7CCCC9BC-4491-28AE-884F-01C4C633B008}"/>
              </a:ext>
            </a:extLst>
          </p:cNvPr>
          <p:cNvSpPr/>
          <p:nvPr/>
        </p:nvSpPr>
        <p:spPr>
          <a:xfrm>
            <a:off x="548640" y="3017520"/>
            <a:ext cx="8229600" cy="548640"/>
          </a:xfrm>
          <a:prstGeom prst="rect">
            <a:avLst/>
          </a:prstGeom>
          <a:noFill/>
          <a:ln/>
        </p:spPr>
        <p:txBody>
          <a:bodyPr wrap="square" rtlCol="0" anchor="ctr"/>
          <a:lstStyle/>
          <a:p>
            <a:pPr marL="0" indent="0">
              <a:buNone/>
            </a:pPr>
            <a:r>
              <a:rPr lang="en-US" sz="1800" i="1" dirty="0">
                <a:solidFill>
                  <a:srgbClr val="CCCCCC"/>
                </a:solidFill>
                <a:latin typeface="Calibri" pitchFamily="34" charset="0"/>
                <a:ea typeface="Calibri" pitchFamily="34" charset="-122"/>
                <a:cs typeface="Calibri" pitchFamily="34" charset="-120"/>
              </a:rPr>
              <a:t>Agent çağında asıl mühendislik yükü nerede birikiyor?</a:t>
            </a:r>
            <a:endParaRPr lang="en-US" sz="1800" dirty="0"/>
          </a:p>
        </p:txBody>
      </p:sp>
      <p:sp>
        <p:nvSpPr>
          <p:cNvPr id="18" name="Shape 16">
            <a:extLst>
              <a:ext uri="{FF2B5EF4-FFF2-40B4-BE49-F238E27FC236}">
                <a16:creationId xmlns:a16="http://schemas.microsoft.com/office/drawing/2014/main" id="{59CA71D0-4DCD-7F71-9D26-D1C0D0FA895A}"/>
              </a:ext>
            </a:extLst>
          </p:cNvPr>
          <p:cNvSpPr/>
          <p:nvPr/>
        </p:nvSpPr>
        <p:spPr>
          <a:xfrm>
            <a:off x="548640" y="3931920"/>
            <a:ext cx="1371600" cy="0"/>
          </a:xfrm>
          <a:prstGeom prst="line">
            <a:avLst/>
          </a:prstGeom>
          <a:noFill/>
          <a:ln w="25400">
            <a:solidFill>
              <a:srgbClr val="65D7DE"/>
            </a:solidFill>
            <a:prstDash val="solid"/>
          </a:ln>
        </p:spPr>
        <p:txBody>
          <a:bodyPr/>
          <a:lstStyle/>
          <a:p>
            <a:endParaRPr lang="en-TR"/>
          </a:p>
        </p:txBody>
      </p:sp>
      <p:sp>
        <p:nvSpPr>
          <p:cNvPr id="19" name="Text 17">
            <a:extLst>
              <a:ext uri="{FF2B5EF4-FFF2-40B4-BE49-F238E27FC236}">
                <a16:creationId xmlns:a16="http://schemas.microsoft.com/office/drawing/2014/main" id="{28866E1A-CA85-59BD-93B6-52586ACBC641}"/>
              </a:ext>
            </a:extLst>
          </p:cNvPr>
          <p:cNvSpPr/>
          <p:nvPr/>
        </p:nvSpPr>
        <p:spPr>
          <a:xfrm>
            <a:off x="548640" y="4023360"/>
            <a:ext cx="4572000" cy="36576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Şeyma Sarıgıl</a:t>
            </a:r>
            <a:endParaRPr lang="en-US" sz="1800" dirty="0"/>
          </a:p>
        </p:txBody>
      </p:sp>
      <p:sp>
        <p:nvSpPr>
          <p:cNvPr id="20" name="Text 18">
            <a:extLst>
              <a:ext uri="{FF2B5EF4-FFF2-40B4-BE49-F238E27FC236}">
                <a16:creationId xmlns:a16="http://schemas.microsoft.com/office/drawing/2014/main" id="{59FCE7A2-0EE1-8BE7-1D56-4B0AF4A180ED}"/>
              </a:ext>
            </a:extLst>
          </p:cNvPr>
          <p:cNvSpPr/>
          <p:nvPr/>
        </p:nvSpPr>
        <p:spPr>
          <a:xfrm>
            <a:off x="548640" y="4434840"/>
            <a:ext cx="4572000" cy="274320"/>
          </a:xfrm>
          <a:prstGeom prst="rect">
            <a:avLst/>
          </a:prstGeom>
          <a:noFill/>
          <a:ln/>
        </p:spPr>
        <p:txBody>
          <a:bodyPr wrap="square" rtlCol="0" anchor="ctr"/>
          <a:lstStyle/>
          <a:p>
            <a:pPr marL="0" indent="0">
              <a:buNone/>
            </a:pPr>
            <a:r>
              <a:rPr lang="en-US" sz="1400" dirty="0">
                <a:solidFill>
                  <a:srgbClr val="65D7DE"/>
                </a:solidFill>
                <a:latin typeface="Calibri" pitchFamily="34" charset="0"/>
                <a:ea typeface="Calibri" pitchFamily="34" charset="-122"/>
                <a:cs typeface="Calibri" pitchFamily="34" charset="-120"/>
              </a:rPr>
              <a:t>Generative AI Architect  •  Softtech</a:t>
            </a:r>
            <a:endParaRPr lang="en-US" sz="1400" dirty="0"/>
          </a:p>
        </p:txBody>
      </p:sp>
    </p:spTree>
    <p:extLst>
      <p:ext uri="{BB962C8B-B14F-4D97-AF65-F5344CB8AC3E}">
        <p14:creationId xmlns:p14="http://schemas.microsoft.com/office/powerpoint/2010/main" val="2000683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393939"/>
        </a:solidFill>
        <a:effectLst/>
      </p:bgPr>
    </p:bg>
    <p:spTree>
      <p:nvGrpSpPr>
        <p:cNvPr id="1" name=""/>
        <p:cNvGrpSpPr/>
        <p:nvPr/>
      </p:nvGrpSpPr>
      <p:grpSpPr>
        <a:xfrm>
          <a:off x="0" y="0"/>
          <a:ext cx="0" cy="0"/>
          <a:chOff x="0" y="0"/>
          <a:chExt cx="0" cy="0"/>
        </a:xfrm>
      </p:grpSpPr>
      <p:sp>
        <p:nvSpPr>
          <p:cNvPr id="2" name="Text 0"/>
          <p:cNvSpPr/>
          <p:nvPr/>
        </p:nvSpPr>
        <p:spPr>
          <a:xfrm>
            <a:off x="274320" y="182880"/>
            <a:ext cx="457200" cy="457200"/>
          </a:xfrm>
          <a:prstGeom prst="rect">
            <a:avLst/>
          </a:prstGeom>
          <a:noFill/>
          <a:ln/>
        </p:spPr>
        <p:txBody>
          <a:bodyPr wrap="square" rtlCol="0" anchor="ctr"/>
          <a:lstStyle/>
          <a:p>
            <a:pPr marL="0" indent="0">
              <a:buNone/>
            </a:pPr>
            <a:r>
              <a:rPr lang="en-US" sz="2800" b="1" dirty="0">
                <a:solidFill>
                  <a:srgbClr val="65D7DE"/>
                </a:solidFill>
                <a:latin typeface="Calibri" pitchFamily="34" charset="0"/>
                <a:ea typeface="Calibri" pitchFamily="34" charset="-122"/>
                <a:cs typeface="Calibri" pitchFamily="34" charset="-120"/>
              </a:rPr>
              <a:t>&lt;</a:t>
            </a:r>
            <a:endParaRPr lang="en-US" sz="2800" dirty="0"/>
          </a:p>
        </p:txBody>
      </p:sp>
      <p:sp>
        <p:nvSpPr>
          <p:cNvPr id="3" name="Text 1"/>
          <p:cNvSpPr/>
          <p:nvPr/>
        </p:nvSpPr>
        <p:spPr>
          <a:xfrm>
            <a:off x="548640" y="548640"/>
            <a:ext cx="8229600" cy="365760"/>
          </a:xfrm>
          <a:prstGeom prst="rect">
            <a:avLst/>
          </a:prstGeom>
          <a:noFill/>
          <a:ln/>
        </p:spPr>
        <p:txBody>
          <a:bodyPr wrap="square" rtlCol="0" anchor="ctr"/>
          <a:lstStyle/>
          <a:p>
            <a:pPr marL="0" indent="0">
              <a:buNone/>
            </a:pPr>
            <a:r>
              <a:rPr lang="en-US" sz="1400" b="1" kern="0" spc="400" dirty="0">
                <a:solidFill>
                  <a:srgbClr val="65D7DE"/>
                </a:solidFill>
                <a:latin typeface="Calibri" pitchFamily="34" charset="0"/>
                <a:ea typeface="Calibri" pitchFamily="34" charset="-122"/>
                <a:cs typeface="Calibri" pitchFamily="34" charset="-120"/>
              </a:rPr>
              <a:t>KURUMSAL AI AGENT PİLOTLARI</a:t>
            </a:r>
            <a:endParaRPr lang="en-US" sz="1400" dirty="0"/>
          </a:p>
        </p:txBody>
      </p:sp>
      <p:sp>
        <p:nvSpPr>
          <p:cNvPr id="4" name="Text 2"/>
          <p:cNvSpPr/>
          <p:nvPr/>
        </p:nvSpPr>
        <p:spPr>
          <a:xfrm>
            <a:off x="548640" y="1097280"/>
            <a:ext cx="8229600" cy="2377440"/>
          </a:xfrm>
          <a:prstGeom prst="rect">
            <a:avLst/>
          </a:prstGeom>
          <a:noFill/>
          <a:ln/>
        </p:spPr>
        <p:txBody>
          <a:bodyPr wrap="square" rtlCol="0" anchor="ctr"/>
          <a:lstStyle/>
          <a:p>
            <a:pPr marL="0" indent="0" algn="ctr">
              <a:buNone/>
            </a:pPr>
            <a:r>
              <a:rPr lang="en-US" sz="24000" b="1" dirty="0">
                <a:solidFill>
                  <a:srgbClr val="65D7DE"/>
                </a:solidFill>
                <a:latin typeface="Calibri" pitchFamily="34" charset="0"/>
                <a:ea typeface="Calibri" pitchFamily="34" charset="-122"/>
                <a:cs typeface="Calibri" pitchFamily="34" charset="-120"/>
              </a:rPr>
              <a:t>%86</a:t>
            </a:r>
            <a:endParaRPr lang="en-US" sz="24000" dirty="0"/>
          </a:p>
        </p:txBody>
      </p:sp>
      <p:sp>
        <p:nvSpPr>
          <p:cNvPr id="5" name="Text 3"/>
          <p:cNvSpPr/>
          <p:nvPr/>
        </p:nvSpPr>
        <p:spPr>
          <a:xfrm>
            <a:off x="548640" y="3566160"/>
            <a:ext cx="8229600" cy="457200"/>
          </a:xfrm>
          <a:prstGeom prst="rect">
            <a:avLst/>
          </a:prstGeom>
          <a:noFill/>
          <a:ln/>
        </p:spPr>
        <p:txBody>
          <a:bodyPr wrap="square" rtlCol="0" anchor="ctr"/>
          <a:lstStyle/>
          <a:p>
            <a:pPr marL="0" indent="0" algn="ctr">
              <a:buNone/>
            </a:pPr>
            <a:r>
              <a:rPr lang="en-US" sz="2800" dirty="0">
                <a:solidFill>
                  <a:srgbClr val="FFFFFF"/>
                </a:solidFill>
                <a:latin typeface="Calibri" pitchFamily="34" charset="0"/>
                <a:ea typeface="Calibri" pitchFamily="34" charset="-122"/>
                <a:cs typeface="Calibri" pitchFamily="34" charset="-120"/>
              </a:rPr>
              <a:t>üretime ulaşamadı.</a:t>
            </a:r>
            <a:endParaRPr lang="en-US" sz="2800" dirty="0"/>
          </a:p>
        </p:txBody>
      </p:sp>
      <p:sp>
        <p:nvSpPr>
          <p:cNvPr id="6" name="Text 4"/>
          <p:cNvSpPr/>
          <p:nvPr/>
        </p:nvSpPr>
        <p:spPr>
          <a:xfrm>
            <a:off x="548640" y="4114800"/>
            <a:ext cx="8229600" cy="365760"/>
          </a:xfrm>
          <a:prstGeom prst="rect">
            <a:avLst/>
          </a:prstGeom>
          <a:noFill/>
          <a:ln/>
        </p:spPr>
        <p:txBody>
          <a:bodyPr wrap="square" rtlCol="0" anchor="ctr"/>
          <a:lstStyle/>
          <a:p>
            <a:pPr marL="0" indent="0" algn="ctr">
              <a:buNone/>
            </a:pPr>
            <a:r>
              <a:rPr lang="en-US" sz="1400" i="1" dirty="0">
                <a:solidFill>
                  <a:srgbClr val="FFCC4F"/>
                </a:solidFill>
                <a:latin typeface="Calibri" pitchFamily="34" charset="0"/>
                <a:ea typeface="Calibri" pitchFamily="34" charset="-122"/>
                <a:cs typeface="Calibri" pitchFamily="34" charset="-120"/>
              </a:rPr>
              <a:t>Ne model kötü, ne fikir kötü.  Eksik olan başka bir şey.</a:t>
            </a:r>
            <a:endParaRPr lang="en-US" sz="1400" dirty="0"/>
          </a:p>
        </p:txBody>
      </p:sp>
      <p:sp>
        <p:nvSpPr>
          <p:cNvPr id="7" name="Text 5"/>
          <p:cNvSpPr/>
          <p:nvPr/>
        </p:nvSpPr>
        <p:spPr>
          <a:xfrm>
            <a:off x="548640" y="4572000"/>
            <a:ext cx="8229600" cy="228600"/>
          </a:xfrm>
          <a:prstGeom prst="rect">
            <a:avLst/>
          </a:prstGeom>
          <a:noFill/>
          <a:ln/>
        </p:spPr>
        <p:txBody>
          <a:bodyPr wrap="square" rtlCol="0" anchor="ctr"/>
          <a:lstStyle/>
          <a:p>
            <a:pPr marL="0" indent="0" algn="ctr">
              <a:buNone/>
            </a:pPr>
            <a:r>
              <a:rPr lang="en-US" sz="900" i="1" dirty="0">
                <a:solidFill>
                  <a:srgbClr val="545454"/>
                </a:solidFill>
                <a:latin typeface="Calibri" pitchFamily="34" charset="0"/>
                <a:ea typeface="Calibri" pitchFamily="34" charset="-122"/>
                <a:cs typeface="Calibri" pitchFamily="34" charset="-120"/>
              </a:rPr>
              <a:t>Kaynak: Atlan AI Agent Harness Tools 2026  •  Strata Agentic Identity 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548640"/>
          </a:xfrm>
          <a:prstGeom prst="rect">
            <a:avLst/>
          </a:prstGeom>
          <a:noFill/>
          <a:ln/>
        </p:spPr>
        <p:txBody>
          <a:bodyPr wrap="square" rtlCol="0" anchor="ctr"/>
          <a:lstStyle/>
          <a:p>
            <a:pPr marL="0" indent="0">
              <a:buNone/>
            </a:pPr>
            <a:r>
              <a:rPr lang="en-US" sz="3200" b="1" dirty="0">
                <a:solidFill>
                  <a:srgbClr val="393939"/>
                </a:solidFill>
                <a:latin typeface="Calibri" pitchFamily="34" charset="0"/>
                <a:ea typeface="Calibri" pitchFamily="34" charset="-122"/>
                <a:cs typeface="Calibri" pitchFamily="34" charset="-120"/>
              </a:rPr>
              <a:t>Soruyu değiştirelim</a:t>
            </a:r>
            <a:endParaRPr lang="en-US" sz="3200" dirty="0"/>
          </a:p>
        </p:txBody>
      </p:sp>
      <p:sp>
        <p:nvSpPr>
          <p:cNvPr id="3" name="Shape 1"/>
          <p:cNvSpPr/>
          <p:nvPr/>
        </p:nvSpPr>
        <p:spPr>
          <a:xfrm>
            <a:off x="548640" y="1051560"/>
            <a:ext cx="914400" cy="0"/>
          </a:xfrm>
          <a:prstGeom prst="line">
            <a:avLst/>
          </a:prstGeom>
          <a:noFill/>
          <a:ln w="38100">
            <a:solidFill>
              <a:srgbClr val="65D7DE"/>
            </a:solidFill>
            <a:prstDash val="solid"/>
          </a:ln>
        </p:spPr>
        <p:txBody>
          <a:bodyPr/>
          <a:lstStyle/>
          <a:p>
            <a:endParaRPr lang="en-TR"/>
          </a:p>
        </p:txBody>
      </p:sp>
      <p:sp>
        <p:nvSpPr>
          <p:cNvPr id="4" name="Shape 2"/>
          <p:cNvSpPr/>
          <p:nvPr/>
        </p:nvSpPr>
        <p:spPr>
          <a:xfrm>
            <a:off x="548640" y="1554480"/>
            <a:ext cx="3749040" cy="2377440"/>
          </a:xfrm>
          <a:prstGeom prst="roundRect">
            <a:avLst>
              <a:gd name="adj" fmla="val 3846"/>
            </a:avLst>
          </a:prstGeom>
          <a:solidFill>
            <a:srgbClr val="F2F2F5"/>
          </a:solidFill>
          <a:ln w="12700">
            <a:solidFill>
              <a:srgbClr val="CCCCCC"/>
            </a:solidFill>
            <a:prstDash val="solid"/>
          </a:ln>
        </p:spPr>
        <p:txBody>
          <a:bodyPr/>
          <a:lstStyle/>
          <a:p>
            <a:endParaRPr lang="en-TR"/>
          </a:p>
        </p:txBody>
      </p:sp>
      <p:sp>
        <p:nvSpPr>
          <p:cNvPr id="5" name="Text 3"/>
          <p:cNvSpPr/>
          <p:nvPr/>
        </p:nvSpPr>
        <p:spPr>
          <a:xfrm>
            <a:off x="731520" y="1691640"/>
            <a:ext cx="3383280" cy="365760"/>
          </a:xfrm>
          <a:prstGeom prst="rect">
            <a:avLst/>
          </a:prstGeom>
          <a:noFill/>
          <a:ln/>
        </p:spPr>
        <p:txBody>
          <a:bodyPr wrap="square" rtlCol="0" anchor="ctr"/>
          <a:lstStyle/>
          <a:p>
            <a:pPr marL="0" indent="0">
              <a:buNone/>
            </a:pPr>
            <a:r>
              <a:rPr lang="en-US" sz="1100" b="1" kern="0" spc="400" dirty="0">
                <a:solidFill>
                  <a:srgbClr val="545454"/>
                </a:solidFill>
                <a:latin typeface="Calibri" pitchFamily="34" charset="0"/>
                <a:ea typeface="Calibri" pitchFamily="34" charset="-122"/>
                <a:cs typeface="Calibri" pitchFamily="34" charset="-120"/>
              </a:rPr>
              <a:t>YANLIŞ SORU</a:t>
            </a:r>
            <a:endParaRPr lang="en-US" sz="1100" dirty="0"/>
          </a:p>
        </p:txBody>
      </p:sp>
      <p:sp>
        <p:nvSpPr>
          <p:cNvPr id="6" name="Text 4"/>
          <p:cNvSpPr/>
          <p:nvPr/>
        </p:nvSpPr>
        <p:spPr>
          <a:xfrm>
            <a:off x="731520" y="2194560"/>
            <a:ext cx="3383280" cy="457200"/>
          </a:xfrm>
          <a:prstGeom prst="rect">
            <a:avLst/>
          </a:prstGeom>
          <a:noFill/>
          <a:ln/>
        </p:spPr>
        <p:txBody>
          <a:bodyPr wrap="square" rtlCol="0" anchor="ctr"/>
          <a:lstStyle/>
          <a:p>
            <a:pPr marL="0" indent="0">
              <a:buNone/>
            </a:pPr>
            <a:r>
              <a:rPr lang="en-US" sz="2400" b="1" dirty="0">
                <a:solidFill>
                  <a:srgbClr val="545454"/>
                </a:solidFill>
                <a:latin typeface="Calibri" pitchFamily="34" charset="0"/>
                <a:ea typeface="Calibri" pitchFamily="34" charset="-122"/>
                <a:cs typeface="Calibri" pitchFamily="34" charset="-120"/>
              </a:rPr>
              <a:t>Hangi modeli</a:t>
            </a:r>
            <a:endParaRPr lang="en-US" sz="2400" dirty="0"/>
          </a:p>
        </p:txBody>
      </p:sp>
      <p:sp>
        <p:nvSpPr>
          <p:cNvPr id="7" name="Text 5"/>
          <p:cNvSpPr/>
          <p:nvPr/>
        </p:nvSpPr>
        <p:spPr>
          <a:xfrm>
            <a:off x="731520" y="2697480"/>
            <a:ext cx="3383280" cy="457200"/>
          </a:xfrm>
          <a:prstGeom prst="rect">
            <a:avLst/>
          </a:prstGeom>
          <a:noFill/>
          <a:ln/>
        </p:spPr>
        <p:txBody>
          <a:bodyPr wrap="square" rtlCol="0" anchor="ctr"/>
          <a:lstStyle/>
          <a:p>
            <a:pPr marL="0" indent="0">
              <a:buNone/>
            </a:pPr>
            <a:r>
              <a:rPr lang="en-US" sz="2400" b="1" dirty="0">
                <a:solidFill>
                  <a:srgbClr val="545454"/>
                </a:solidFill>
                <a:latin typeface="Calibri" pitchFamily="34" charset="0"/>
                <a:ea typeface="Calibri" pitchFamily="34" charset="-122"/>
                <a:cs typeface="Calibri" pitchFamily="34" charset="-120"/>
              </a:rPr>
              <a:t>kullanıyoruz?</a:t>
            </a:r>
            <a:endParaRPr lang="en-US" sz="2400" dirty="0"/>
          </a:p>
        </p:txBody>
      </p:sp>
      <p:sp>
        <p:nvSpPr>
          <p:cNvPr id="8" name="Text 6"/>
          <p:cNvSpPr/>
          <p:nvPr/>
        </p:nvSpPr>
        <p:spPr>
          <a:xfrm>
            <a:off x="731520" y="3383280"/>
            <a:ext cx="3383280" cy="365760"/>
          </a:xfrm>
          <a:prstGeom prst="rect">
            <a:avLst/>
          </a:prstGeom>
          <a:noFill/>
          <a:ln/>
        </p:spPr>
        <p:txBody>
          <a:bodyPr wrap="square" rtlCol="0" anchor="ctr"/>
          <a:lstStyle/>
          <a:p>
            <a:pPr marL="0" indent="0">
              <a:buNone/>
            </a:pPr>
            <a:r>
              <a:rPr lang="en-US" sz="1200" i="1" dirty="0">
                <a:solidFill>
                  <a:srgbClr val="545454"/>
                </a:solidFill>
                <a:latin typeface="Calibri" pitchFamily="34" charset="0"/>
                <a:ea typeface="Calibri" pitchFamily="34" charset="-122"/>
                <a:cs typeface="Calibri" pitchFamily="34" charset="-120"/>
              </a:rPr>
              <a:t>Tek başına yetersiz</a:t>
            </a:r>
            <a:endParaRPr lang="en-US" sz="1200" dirty="0"/>
          </a:p>
        </p:txBody>
      </p:sp>
      <p:sp>
        <p:nvSpPr>
          <p:cNvPr id="9" name="Text 7"/>
          <p:cNvSpPr/>
          <p:nvPr/>
        </p:nvSpPr>
        <p:spPr>
          <a:xfrm>
            <a:off x="4297680" y="2560320"/>
            <a:ext cx="548640" cy="457200"/>
          </a:xfrm>
          <a:prstGeom prst="rect">
            <a:avLst/>
          </a:prstGeom>
          <a:noFill/>
          <a:ln/>
        </p:spPr>
        <p:txBody>
          <a:bodyPr wrap="square" rtlCol="0" anchor="ctr"/>
          <a:lstStyle/>
          <a:p>
            <a:pPr marL="0" indent="0" algn="ctr">
              <a:buNone/>
            </a:pPr>
            <a:r>
              <a:rPr lang="en-US" sz="3600" b="1" dirty="0">
                <a:solidFill>
                  <a:srgbClr val="65D7DE"/>
                </a:solidFill>
                <a:latin typeface="Calibri" pitchFamily="34" charset="0"/>
                <a:ea typeface="Calibri" pitchFamily="34" charset="-122"/>
                <a:cs typeface="Calibri" pitchFamily="34" charset="-120"/>
              </a:rPr>
              <a:t>→</a:t>
            </a:r>
            <a:endParaRPr lang="en-US" sz="3600" dirty="0"/>
          </a:p>
        </p:txBody>
      </p:sp>
      <p:sp>
        <p:nvSpPr>
          <p:cNvPr id="10" name="Shape 8"/>
          <p:cNvSpPr/>
          <p:nvPr/>
        </p:nvSpPr>
        <p:spPr>
          <a:xfrm>
            <a:off x="4846320" y="1554480"/>
            <a:ext cx="3749040" cy="2377440"/>
          </a:xfrm>
          <a:prstGeom prst="roundRect">
            <a:avLst>
              <a:gd name="adj" fmla="val 3846"/>
            </a:avLst>
          </a:prstGeom>
          <a:solidFill>
            <a:srgbClr val="FFFFFF"/>
          </a:solidFill>
          <a:ln w="25400">
            <a:solidFill>
              <a:srgbClr val="65D7DE"/>
            </a:solidFill>
            <a:prstDash val="solid"/>
          </a:ln>
        </p:spPr>
        <p:txBody>
          <a:bodyPr/>
          <a:lstStyle/>
          <a:p>
            <a:endParaRPr lang="en-TR"/>
          </a:p>
        </p:txBody>
      </p:sp>
      <p:sp>
        <p:nvSpPr>
          <p:cNvPr id="11" name="Text 9"/>
          <p:cNvSpPr/>
          <p:nvPr/>
        </p:nvSpPr>
        <p:spPr>
          <a:xfrm>
            <a:off x="5029200" y="1691640"/>
            <a:ext cx="3383280" cy="365760"/>
          </a:xfrm>
          <a:prstGeom prst="rect">
            <a:avLst/>
          </a:prstGeom>
          <a:noFill/>
          <a:ln/>
        </p:spPr>
        <p:txBody>
          <a:bodyPr wrap="square" rtlCol="0" anchor="ctr"/>
          <a:lstStyle/>
          <a:p>
            <a:pPr marL="0" indent="0">
              <a:buNone/>
            </a:pPr>
            <a:r>
              <a:rPr lang="en-US" sz="1100" b="1" kern="0" spc="400" dirty="0">
                <a:solidFill>
                  <a:srgbClr val="65D7DE"/>
                </a:solidFill>
                <a:latin typeface="Calibri" pitchFamily="34" charset="0"/>
                <a:ea typeface="Calibri" pitchFamily="34" charset="-122"/>
                <a:cs typeface="Calibri" pitchFamily="34" charset="-120"/>
              </a:rPr>
              <a:t>DOĞRU SORU</a:t>
            </a:r>
            <a:endParaRPr lang="en-US" sz="1100" dirty="0"/>
          </a:p>
        </p:txBody>
      </p:sp>
      <p:sp>
        <p:nvSpPr>
          <p:cNvPr id="12" name="Text 10"/>
          <p:cNvSpPr/>
          <p:nvPr/>
        </p:nvSpPr>
        <p:spPr>
          <a:xfrm>
            <a:off x="5029200" y="2194560"/>
            <a:ext cx="3383280" cy="457200"/>
          </a:xfrm>
          <a:prstGeom prst="rect">
            <a:avLst/>
          </a:prstGeom>
          <a:noFill/>
          <a:ln/>
        </p:spPr>
        <p:txBody>
          <a:bodyPr wrap="square" rtlCol="0" anchor="ctr"/>
          <a:lstStyle/>
          <a:p>
            <a:pPr marL="0" indent="0">
              <a:buNone/>
            </a:pPr>
            <a:r>
              <a:rPr lang="en-US" sz="2400" b="1" dirty="0">
                <a:solidFill>
                  <a:srgbClr val="393939"/>
                </a:solidFill>
                <a:latin typeface="Calibri" pitchFamily="34" charset="0"/>
                <a:ea typeface="Calibri" pitchFamily="34" charset="-122"/>
                <a:cs typeface="Calibri" pitchFamily="34" charset="-120"/>
              </a:rPr>
              <a:t>Bu modeli hangi</a:t>
            </a:r>
            <a:endParaRPr lang="en-US" sz="2400" dirty="0"/>
          </a:p>
        </p:txBody>
      </p:sp>
      <p:sp>
        <p:nvSpPr>
          <p:cNvPr id="13" name="Text 11"/>
          <p:cNvSpPr/>
          <p:nvPr/>
        </p:nvSpPr>
        <p:spPr>
          <a:xfrm>
            <a:off x="5029200" y="2697480"/>
            <a:ext cx="3383280" cy="457200"/>
          </a:xfrm>
          <a:prstGeom prst="rect">
            <a:avLst/>
          </a:prstGeom>
          <a:noFill/>
          <a:ln/>
        </p:spPr>
        <p:txBody>
          <a:bodyPr wrap="square" rtlCol="0" anchor="ctr"/>
          <a:lstStyle/>
          <a:p>
            <a:pPr marL="0" indent="0">
              <a:buNone/>
            </a:pPr>
            <a:r>
              <a:rPr lang="en-US" sz="2400" b="1" dirty="0">
                <a:solidFill>
                  <a:srgbClr val="393939"/>
                </a:solidFill>
                <a:latin typeface="Calibri" pitchFamily="34" charset="0"/>
                <a:ea typeface="Calibri" pitchFamily="34" charset="-122"/>
                <a:cs typeface="Calibri" pitchFamily="34" charset="-120"/>
              </a:rPr>
              <a:t>mimari disiplinle</a:t>
            </a:r>
            <a:endParaRPr lang="en-US" sz="2400" dirty="0"/>
          </a:p>
        </p:txBody>
      </p:sp>
      <p:sp>
        <p:nvSpPr>
          <p:cNvPr id="14" name="Text 12"/>
          <p:cNvSpPr/>
          <p:nvPr/>
        </p:nvSpPr>
        <p:spPr>
          <a:xfrm>
            <a:off x="5029200" y="3200400"/>
            <a:ext cx="3383280" cy="457200"/>
          </a:xfrm>
          <a:prstGeom prst="rect">
            <a:avLst/>
          </a:prstGeom>
          <a:noFill/>
          <a:ln/>
        </p:spPr>
        <p:txBody>
          <a:bodyPr wrap="square" rtlCol="0" anchor="ctr"/>
          <a:lstStyle/>
          <a:p>
            <a:pPr marL="0" indent="0">
              <a:buNone/>
            </a:pPr>
            <a:r>
              <a:rPr lang="en-US" sz="2400" b="1" dirty="0">
                <a:solidFill>
                  <a:srgbClr val="2D9BA3"/>
                </a:solidFill>
                <a:latin typeface="Calibri" pitchFamily="34" charset="0"/>
                <a:ea typeface="Calibri" pitchFamily="34" charset="-122"/>
                <a:cs typeface="Calibri" pitchFamily="34" charset="-120"/>
              </a:rPr>
              <a:t>çalıştırıyoruz?</a:t>
            </a:r>
            <a:endParaRPr lang="en-US" sz="2400" dirty="0"/>
          </a:p>
        </p:txBody>
      </p:sp>
      <p:sp>
        <p:nvSpPr>
          <p:cNvPr id="15" name="Text 13"/>
          <p:cNvSpPr/>
          <p:nvPr/>
        </p:nvSpPr>
        <p:spPr>
          <a:xfrm>
            <a:off x="548640" y="4297680"/>
            <a:ext cx="8229600" cy="365760"/>
          </a:xfrm>
          <a:prstGeom prst="rect">
            <a:avLst/>
          </a:prstGeom>
          <a:noFill/>
          <a:ln/>
        </p:spPr>
        <p:txBody>
          <a:bodyPr wrap="square" rtlCol="0" anchor="ctr"/>
          <a:lstStyle/>
          <a:p>
            <a:pPr marL="0" indent="0" algn="ctr">
              <a:buNone/>
            </a:pPr>
            <a:r>
              <a:rPr lang="en-US" sz="1600" i="1" dirty="0">
                <a:solidFill>
                  <a:srgbClr val="393939"/>
                </a:solidFill>
                <a:latin typeface="Calibri" pitchFamily="34" charset="0"/>
                <a:ea typeface="Calibri" pitchFamily="34" charset="-122"/>
                <a:cs typeface="Calibri" pitchFamily="34" charset="-120"/>
              </a:rPr>
              <a:t>Production'da kazandıran ikincisi.</a:t>
            </a:r>
            <a:endParaRPr lang="en-US" sz="1600" dirty="0"/>
          </a:p>
        </p:txBody>
      </p:sp>
      <p:sp>
        <p:nvSpPr>
          <p:cNvPr id="16" name="Text 14"/>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545454"/>
                </a:solidFill>
                <a:latin typeface="Calibri" pitchFamily="34" charset="0"/>
                <a:ea typeface="Calibri" pitchFamily="34" charset="-122"/>
                <a:cs typeface="Calibri" pitchFamily="34" charset="-120"/>
              </a:rPr>
              <a:t>3 / 29  •  Açılış</a:t>
            </a:r>
            <a:endParaRPr lang="en-US" sz="900" dirty="0"/>
          </a:p>
        </p:txBody>
      </p:sp>
      <p:sp>
        <p:nvSpPr>
          <p:cNvPr id="17" name="Text 15"/>
          <p:cNvSpPr/>
          <p:nvPr/>
        </p:nvSpPr>
        <p:spPr>
          <a:xfrm>
            <a:off x="274320" y="4846320"/>
            <a:ext cx="1371600" cy="228600"/>
          </a:xfrm>
          <a:prstGeom prst="rect">
            <a:avLst/>
          </a:prstGeom>
          <a:noFill/>
          <a:ln/>
        </p:spPr>
        <p:txBody>
          <a:bodyPr wrap="square" rtlCol="0" anchor="ctr"/>
          <a:lstStyle/>
          <a:p>
            <a:pPr marL="0" indent="0">
              <a:buNone/>
            </a:pPr>
            <a:r>
              <a:rPr lang="en-US" sz="900" dirty="0">
                <a:solidFill>
                  <a:srgbClr val="545454"/>
                </a:solidFill>
                <a:latin typeface="Calibri" pitchFamily="34" charset="0"/>
                <a:ea typeface="Calibri" pitchFamily="34" charset="-122"/>
                <a:cs typeface="Calibri" pitchFamily="34" charset="-120"/>
              </a:rPr>
              <a:t>&lt; softtech</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393939"/>
        </a:solidFill>
        <a:effectLst/>
      </p:bgPr>
    </p:bg>
    <p:spTree>
      <p:nvGrpSpPr>
        <p:cNvPr id="1" name=""/>
        <p:cNvGrpSpPr/>
        <p:nvPr/>
      </p:nvGrpSpPr>
      <p:grpSpPr>
        <a:xfrm>
          <a:off x="0" y="0"/>
          <a:ext cx="0" cy="0"/>
          <a:chOff x="0" y="0"/>
          <a:chExt cx="0" cy="0"/>
        </a:xfrm>
      </p:grpSpPr>
      <p:sp>
        <p:nvSpPr>
          <p:cNvPr id="2" name="Shape 0"/>
          <p:cNvSpPr/>
          <p:nvPr/>
        </p:nvSpPr>
        <p:spPr>
          <a:xfrm>
            <a:off x="548640" y="1371600"/>
            <a:ext cx="73152" cy="2560320"/>
          </a:xfrm>
          <a:prstGeom prst="rect">
            <a:avLst/>
          </a:prstGeom>
          <a:solidFill>
            <a:srgbClr val="65D7DE"/>
          </a:solidFill>
          <a:ln w="12700">
            <a:solidFill>
              <a:srgbClr val="65D7DE"/>
            </a:solidFill>
            <a:prstDash val="solid"/>
          </a:ln>
        </p:spPr>
        <p:txBody>
          <a:bodyPr/>
          <a:lstStyle/>
          <a:p>
            <a:endParaRPr lang="en-TR"/>
          </a:p>
        </p:txBody>
      </p:sp>
      <p:sp>
        <p:nvSpPr>
          <p:cNvPr id="3" name="Text 1"/>
          <p:cNvSpPr/>
          <p:nvPr/>
        </p:nvSpPr>
        <p:spPr>
          <a:xfrm>
            <a:off x="548640" y="548640"/>
            <a:ext cx="8229600" cy="365760"/>
          </a:xfrm>
          <a:prstGeom prst="rect">
            <a:avLst/>
          </a:prstGeom>
          <a:noFill/>
          <a:ln/>
        </p:spPr>
        <p:txBody>
          <a:bodyPr wrap="square" rtlCol="0" anchor="ctr"/>
          <a:lstStyle/>
          <a:p>
            <a:pPr marL="0" indent="0">
              <a:buNone/>
            </a:pPr>
            <a:r>
              <a:rPr lang="en-US" sz="1200" b="1" kern="0" spc="400" dirty="0">
                <a:solidFill>
                  <a:srgbClr val="65D7DE"/>
                </a:solidFill>
                <a:latin typeface="Calibri" pitchFamily="34" charset="0"/>
                <a:ea typeface="Calibri" pitchFamily="34" charset="-122"/>
                <a:cs typeface="Calibri" pitchFamily="34" charset="-120"/>
              </a:rPr>
              <a:t>ANA TEZ</a:t>
            </a:r>
            <a:endParaRPr lang="en-US" sz="1200" dirty="0"/>
          </a:p>
        </p:txBody>
      </p:sp>
      <p:sp>
        <p:nvSpPr>
          <p:cNvPr id="4" name="Text 2"/>
          <p:cNvSpPr/>
          <p:nvPr/>
        </p:nvSpPr>
        <p:spPr>
          <a:xfrm>
            <a:off x="914400" y="1463040"/>
            <a:ext cx="7863840" cy="640080"/>
          </a:xfrm>
          <a:prstGeom prst="rect">
            <a:avLst/>
          </a:prstGeom>
          <a:noFill/>
          <a:ln/>
        </p:spPr>
        <p:txBody>
          <a:bodyPr wrap="square" rtlCol="0" anchor="ctr"/>
          <a:lstStyle/>
          <a:p>
            <a:pPr marL="0" indent="0">
              <a:buNone/>
            </a:pPr>
            <a:r>
              <a:rPr lang="en-US" sz="3000" i="1" dirty="0">
                <a:solidFill>
                  <a:srgbClr val="FFFFFF"/>
                </a:solidFill>
                <a:latin typeface="Calibri" pitchFamily="34" charset="0"/>
                <a:ea typeface="Calibri" pitchFamily="34" charset="-122"/>
                <a:cs typeface="Calibri" pitchFamily="34" charset="-120"/>
              </a:rPr>
              <a:t>LLM </a:t>
            </a:r>
            <a:r>
              <a:rPr lang="en-US" sz="3000" b="1" i="1" dirty="0">
                <a:solidFill>
                  <a:srgbClr val="65D7DE"/>
                </a:solidFill>
                <a:latin typeface="Calibri" pitchFamily="34" charset="0"/>
                <a:ea typeface="Calibri" pitchFamily="34" charset="-122"/>
                <a:cs typeface="Calibri" pitchFamily="34" charset="-120"/>
              </a:rPr>
              <a:t>zekayı</a:t>
            </a:r>
            <a:r>
              <a:rPr lang="en-US" sz="3000" i="1" dirty="0">
                <a:solidFill>
                  <a:srgbClr val="FFFFFF"/>
                </a:solidFill>
                <a:latin typeface="Calibri" pitchFamily="34" charset="0"/>
                <a:ea typeface="Calibri" pitchFamily="34" charset="-122"/>
                <a:cs typeface="Calibri" pitchFamily="34" charset="-120"/>
              </a:rPr>
              <a:t> temsil eder;</a:t>
            </a:r>
            <a:endParaRPr lang="en-US" sz="3000" dirty="0"/>
          </a:p>
        </p:txBody>
      </p:sp>
      <p:sp>
        <p:nvSpPr>
          <p:cNvPr id="5" name="Text 3"/>
          <p:cNvSpPr/>
          <p:nvPr/>
        </p:nvSpPr>
        <p:spPr>
          <a:xfrm>
            <a:off x="914400" y="2194560"/>
            <a:ext cx="7863840" cy="640080"/>
          </a:xfrm>
          <a:prstGeom prst="rect">
            <a:avLst/>
          </a:prstGeom>
          <a:noFill/>
          <a:ln/>
        </p:spPr>
        <p:txBody>
          <a:bodyPr wrap="square" rtlCol="0" anchor="ctr"/>
          <a:lstStyle/>
          <a:p>
            <a:pPr marL="0" indent="0">
              <a:buNone/>
            </a:pPr>
            <a:r>
              <a:rPr lang="en-US" sz="3000" b="1" i="1" dirty="0">
                <a:solidFill>
                  <a:srgbClr val="65D7DE"/>
                </a:solidFill>
                <a:latin typeface="Calibri" pitchFamily="34" charset="0"/>
                <a:ea typeface="Calibri" pitchFamily="34" charset="-122"/>
                <a:cs typeface="Calibri" pitchFamily="34" charset="-120"/>
              </a:rPr>
              <a:t>harness</a:t>
            </a:r>
            <a:r>
              <a:rPr lang="en-US" sz="3000" i="1" dirty="0">
                <a:solidFill>
                  <a:srgbClr val="FFFFFF"/>
                </a:solidFill>
                <a:latin typeface="Calibri" pitchFamily="34" charset="0"/>
                <a:ea typeface="Calibri" pitchFamily="34" charset="-122"/>
                <a:cs typeface="Calibri" pitchFamily="34" charset="-120"/>
              </a:rPr>
              <a:t> bu zekanın</a:t>
            </a:r>
            <a:endParaRPr lang="en-US" sz="3000" dirty="0"/>
          </a:p>
        </p:txBody>
      </p:sp>
      <p:sp>
        <p:nvSpPr>
          <p:cNvPr id="6" name="Text 4"/>
          <p:cNvSpPr/>
          <p:nvPr/>
        </p:nvSpPr>
        <p:spPr>
          <a:xfrm>
            <a:off x="914400" y="2926080"/>
            <a:ext cx="7863840" cy="640080"/>
          </a:xfrm>
          <a:prstGeom prst="rect">
            <a:avLst/>
          </a:prstGeom>
          <a:noFill/>
          <a:ln/>
        </p:spPr>
        <p:txBody>
          <a:bodyPr wrap="square" rtlCol="0" anchor="ctr"/>
          <a:lstStyle/>
          <a:p>
            <a:pPr marL="0" indent="0">
              <a:buNone/>
            </a:pPr>
            <a:r>
              <a:rPr lang="en-US" sz="3000" i="1" dirty="0">
                <a:solidFill>
                  <a:srgbClr val="FFFFFF"/>
                </a:solidFill>
                <a:latin typeface="Calibri" pitchFamily="34" charset="0"/>
                <a:ea typeface="Calibri" pitchFamily="34" charset="-122"/>
                <a:cs typeface="Calibri" pitchFamily="34" charset="-120"/>
              </a:rPr>
              <a:t>gerçek dünya ile </a:t>
            </a:r>
            <a:r>
              <a:rPr lang="en-US" sz="3000" b="1" i="1" dirty="0">
                <a:solidFill>
                  <a:srgbClr val="FFCC4F"/>
                </a:solidFill>
                <a:latin typeface="Calibri" pitchFamily="34" charset="0"/>
                <a:ea typeface="Calibri" pitchFamily="34" charset="-122"/>
                <a:cs typeface="Calibri" pitchFamily="34" charset="-120"/>
              </a:rPr>
              <a:t>güvenli temas yüzeyini</a:t>
            </a:r>
            <a:endParaRPr lang="en-US" sz="3000" dirty="0"/>
          </a:p>
        </p:txBody>
      </p:sp>
      <p:sp>
        <p:nvSpPr>
          <p:cNvPr id="7" name="Text 5"/>
          <p:cNvSpPr/>
          <p:nvPr/>
        </p:nvSpPr>
        <p:spPr>
          <a:xfrm>
            <a:off x="914400" y="3657600"/>
            <a:ext cx="7863840" cy="640080"/>
          </a:xfrm>
          <a:prstGeom prst="rect">
            <a:avLst/>
          </a:prstGeom>
          <a:noFill/>
          <a:ln/>
        </p:spPr>
        <p:txBody>
          <a:bodyPr wrap="square" rtlCol="0" anchor="ctr"/>
          <a:lstStyle/>
          <a:p>
            <a:pPr marL="0" indent="0">
              <a:buNone/>
            </a:pPr>
            <a:r>
              <a:rPr lang="en-US" sz="3000" i="1" dirty="0">
                <a:solidFill>
                  <a:srgbClr val="FFFFFF"/>
                </a:solidFill>
                <a:latin typeface="Calibri" pitchFamily="34" charset="0"/>
                <a:ea typeface="Calibri" pitchFamily="34" charset="-122"/>
                <a:cs typeface="Calibri" pitchFamily="34" charset="-120"/>
              </a:rPr>
              <a:t>oluşturur.</a:t>
            </a:r>
            <a:endParaRPr lang="en-US" sz="3000" dirty="0"/>
          </a:p>
        </p:txBody>
      </p:sp>
      <p:sp>
        <p:nvSpPr>
          <p:cNvPr id="8" name="Text 6"/>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CCCCCC"/>
                </a:solidFill>
                <a:latin typeface="Calibri" pitchFamily="34" charset="0"/>
                <a:ea typeface="Calibri" pitchFamily="34" charset="-122"/>
                <a:cs typeface="Calibri" pitchFamily="34" charset="-120"/>
              </a:rPr>
              <a:t>4 / 29  •  Açılış</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marL="0" indent="0">
              <a:buNone/>
            </a:pPr>
            <a:r>
              <a:rPr lang="en-US" sz="3600" b="1" dirty="0">
                <a:solidFill>
                  <a:srgbClr val="393939"/>
                </a:solidFill>
                <a:latin typeface="Consolas" pitchFamily="34" charset="0"/>
                <a:ea typeface="Consolas" pitchFamily="34" charset="-122"/>
                <a:cs typeface="Consolas" pitchFamily="34" charset="-120"/>
              </a:rPr>
              <a:t>&lt;/ Görünen Agent /&gt;</a:t>
            </a:r>
            <a:endParaRPr lang="en-US" sz="3600" dirty="0"/>
          </a:p>
        </p:txBody>
      </p:sp>
      <p:sp>
        <p:nvSpPr>
          <p:cNvPr id="3" name="Text 1"/>
          <p:cNvSpPr/>
          <p:nvPr/>
        </p:nvSpPr>
        <p:spPr>
          <a:xfrm>
            <a:off x="548640" y="1051560"/>
            <a:ext cx="8229600" cy="365760"/>
          </a:xfrm>
          <a:prstGeom prst="rect">
            <a:avLst/>
          </a:prstGeom>
          <a:noFill/>
          <a:ln/>
        </p:spPr>
        <p:txBody>
          <a:bodyPr wrap="square" rtlCol="0" anchor="ctr"/>
          <a:lstStyle/>
          <a:p>
            <a:pPr marL="0" indent="0">
              <a:buNone/>
            </a:pPr>
            <a:r>
              <a:rPr lang="en-US" sz="1600" i="1" dirty="0">
                <a:solidFill>
                  <a:srgbClr val="545454"/>
                </a:solidFill>
                <a:latin typeface="Calibri" pitchFamily="34" charset="0"/>
                <a:ea typeface="Calibri" pitchFamily="34" charset="-122"/>
                <a:cs typeface="Calibri" pitchFamily="34" charset="-120"/>
              </a:rPr>
              <a:t>Kullanıcının deneyimlediği akıllı yüzey</a:t>
            </a:r>
            <a:endParaRPr lang="en-US" sz="1600" dirty="0"/>
          </a:p>
        </p:txBody>
      </p:sp>
      <p:sp>
        <p:nvSpPr>
          <p:cNvPr id="4" name="Shape 2"/>
          <p:cNvSpPr/>
          <p:nvPr/>
        </p:nvSpPr>
        <p:spPr>
          <a:xfrm>
            <a:off x="731520" y="1828800"/>
            <a:ext cx="2377440" cy="2377440"/>
          </a:xfrm>
          <a:prstGeom prst="ellipse">
            <a:avLst/>
          </a:prstGeom>
          <a:solidFill>
            <a:srgbClr val="65D7DE"/>
          </a:solidFill>
          <a:ln w="12700">
            <a:solidFill>
              <a:srgbClr val="65D7DE"/>
            </a:solidFill>
            <a:prstDash val="solid"/>
          </a:ln>
        </p:spPr>
        <p:txBody>
          <a:bodyPr/>
          <a:lstStyle/>
          <a:p>
            <a:endParaRPr lang="en-TR"/>
          </a:p>
        </p:txBody>
      </p:sp>
      <p:sp>
        <p:nvSpPr>
          <p:cNvPr id="5" name="Shape 3"/>
          <p:cNvSpPr/>
          <p:nvPr/>
        </p:nvSpPr>
        <p:spPr>
          <a:xfrm>
            <a:off x="1691640" y="2194560"/>
            <a:ext cx="457200" cy="457200"/>
          </a:xfrm>
          <a:prstGeom prst="ellipse">
            <a:avLst/>
          </a:prstGeom>
          <a:solidFill>
            <a:srgbClr val="FFFFFF"/>
          </a:solidFill>
          <a:ln w="12700">
            <a:solidFill>
              <a:srgbClr val="FFFFFF"/>
            </a:solidFill>
            <a:prstDash val="solid"/>
          </a:ln>
        </p:spPr>
        <p:txBody>
          <a:bodyPr/>
          <a:lstStyle/>
          <a:p>
            <a:endParaRPr lang="en-TR"/>
          </a:p>
        </p:txBody>
      </p:sp>
      <p:sp>
        <p:nvSpPr>
          <p:cNvPr id="6" name="Shape 4"/>
          <p:cNvSpPr/>
          <p:nvPr/>
        </p:nvSpPr>
        <p:spPr>
          <a:xfrm>
            <a:off x="1417320" y="2743200"/>
            <a:ext cx="1005840" cy="1188720"/>
          </a:xfrm>
          <a:prstGeom prst="roundRect">
            <a:avLst>
              <a:gd name="adj" fmla="val 27273"/>
            </a:avLst>
          </a:prstGeom>
          <a:solidFill>
            <a:srgbClr val="FFFFFF"/>
          </a:solidFill>
          <a:ln w="12700">
            <a:solidFill>
              <a:srgbClr val="FFFFFF"/>
            </a:solidFill>
            <a:prstDash val="solid"/>
          </a:ln>
        </p:spPr>
        <p:txBody>
          <a:bodyPr/>
          <a:lstStyle/>
          <a:p>
            <a:endParaRPr lang="en-TR"/>
          </a:p>
        </p:txBody>
      </p:sp>
      <p:sp>
        <p:nvSpPr>
          <p:cNvPr id="7" name="Text 5"/>
          <p:cNvSpPr/>
          <p:nvPr/>
        </p:nvSpPr>
        <p:spPr>
          <a:xfrm>
            <a:off x="731520" y="4297680"/>
            <a:ext cx="2377440" cy="274320"/>
          </a:xfrm>
          <a:prstGeom prst="rect">
            <a:avLst/>
          </a:prstGeom>
          <a:noFill/>
          <a:ln/>
        </p:spPr>
        <p:txBody>
          <a:bodyPr wrap="square" rtlCol="0" anchor="ctr"/>
          <a:lstStyle/>
          <a:p>
            <a:pPr marL="0" indent="0" algn="ctr">
              <a:buNone/>
            </a:pPr>
            <a:r>
              <a:rPr lang="en-US" sz="1100" b="1" kern="0" spc="400" dirty="0">
                <a:solidFill>
                  <a:srgbClr val="393939"/>
                </a:solidFill>
                <a:latin typeface="Calibri" pitchFamily="34" charset="0"/>
                <a:ea typeface="Calibri" pitchFamily="34" charset="-122"/>
                <a:cs typeface="Calibri" pitchFamily="34" charset="-120"/>
              </a:rPr>
              <a:t>KULLANICI</a:t>
            </a:r>
            <a:endParaRPr lang="en-US" sz="1100" dirty="0"/>
          </a:p>
        </p:txBody>
      </p:sp>
      <p:sp>
        <p:nvSpPr>
          <p:cNvPr id="8" name="Text 6"/>
          <p:cNvSpPr/>
          <p:nvPr/>
        </p:nvSpPr>
        <p:spPr>
          <a:xfrm>
            <a:off x="3657600" y="1828800"/>
            <a:ext cx="365760" cy="457200"/>
          </a:xfrm>
          <a:prstGeom prst="rect">
            <a:avLst/>
          </a:prstGeom>
          <a:noFill/>
          <a:ln/>
        </p:spPr>
        <p:txBody>
          <a:bodyPr wrap="square" rtlCol="0" anchor="ctr"/>
          <a:lstStyle/>
          <a:p>
            <a:pPr marL="0" indent="0">
              <a:buNone/>
            </a:pPr>
            <a:r>
              <a:rPr lang="en-US" sz="2200" b="1" dirty="0">
                <a:solidFill>
                  <a:srgbClr val="65D7DE"/>
                </a:solidFill>
                <a:latin typeface="Calibri" pitchFamily="34" charset="0"/>
                <a:ea typeface="Calibri" pitchFamily="34" charset="-122"/>
                <a:cs typeface="Calibri" pitchFamily="34" charset="-120"/>
              </a:rPr>
              <a:t>✓</a:t>
            </a:r>
            <a:endParaRPr lang="en-US" sz="2200" dirty="0"/>
          </a:p>
        </p:txBody>
      </p:sp>
      <p:sp>
        <p:nvSpPr>
          <p:cNvPr id="9" name="Text 7"/>
          <p:cNvSpPr/>
          <p:nvPr/>
        </p:nvSpPr>
        <p:spPr>
          <a:xfrm>
            <a:off x="4114800" y="1828800"/>
            <a:ext cx="4572000" cy="457200"/>
          </a:xfrm>
          <a:prstGeom prst="rect">
            <a:avLst/>
          </a:prstGeom>
          <a:noFill/>
          <a:ln/>
        </p:spPr>
        <p:txBody>
          <a:bodyPr wrap="square" rtlCol="0" anchor="ctr"/>
          <a:lstStyle/>
          <a:p>
            <a:pPr marL="0" indent="0">
              <a:buNone/>
            </a:pPr>
            <a:r>
              <a:rPr lang="en-US" sz="1800" dirty="0">
                <a:solidFill>
                  <a:srgbClr val="393939"/>
                </a:solidFill>
                <a:latin typeface="Calibri" pitchFamily="34" charset="0"/>
                <a:ea typeface="Calibri" pitchFamily="34" charset="-122"/>
                <a:cs typeface="Calibri" pitchFamily="34" charset="-120"/>
              </a:rPr>
              <a:t>Soruya cevap verir</a:t>
            </a:r>
            <a:endParaRPr lang="en-US" sz="1800" dirty="0"/>
          </a:p>
        </p:txBody>
      </p:sp>
      <p:sp>
        <p:nvSpPr>
          <p:cNvPr id="10" name="Text 8"/>
          <p:cNvSpPr/>
          <p:nvPr/>
        </p:nvSpPr>
        <p:spPr>
          <a:xfrm>
            <a:off x="3657600" y="2331720"/>
            <a:ext cx="365760" cy="457200"/>
          </a:xfrm>
          <a:prstGeom prst="rect">
            <a:avLst/>
          </a:prstGeom>
          <a:noFill/>
          <a:ln/>
        </p:spPr>
        <p:txBody>
          <a:bodyPr wrap="square" rtlCol="0" anchor="ctr"/>
          <a:lstStyle/>
          <a:p>
            <a:pPr marL="0" indent="0">
              <a:buNone/>
            </a:pPr>
            <a:r>
              <a:rPr lang="en-US" sz="2200" b="1" dirty="0">
                <a:solidFill>
                  <a:srgbClr val="65D7DE"/>
                </a:solidFill>
                <a:latin typeface="Calibri" pitchFamily="34" charset="0"/>
                <a:ea typeface="Calibri" pitchFamily="34" charset="-122"/>
                <a:cs typeface="Calibri" pitchFamily="34" charset="-120"/>
              </a:rPr>
              <a:t>✓</a:t>
            </a:r>
            <a:endParaRPr lang="en-US" sz="2200" dirty="0"/>
          </a:p>
        </p:txBody>
      </p:sp>
      <p:sp>
        <p:nvSpPr>
          <p:cNvPr id="11" name="Text 9"/>
          <p:cNvSpPr/>
          <p:nvPr/>
        </p:nvSpPr>
        <p:spPr>
          <a:xfrm>
            <a:off x="4114800" y="2331720"/>
            <a:ext cx="4572000" cy="457200"/>
          </a:xfrm>
          <a:prstGeom prst="rect">
            <a:avLst/>
          </a:prstGeom>
          <a:noFill/>
          <a:ln/>
        </p:spPr>
        <p:txBody>
          <a:bodyPr wrap="square" rtlCol="0" anchor="ctr"/>
          <a:lstStyle/>
          <a:p>
            <a:pPr marL="0" indent="0">
              <a:buNone/>
            </a:pPr>
            <a:r>
              <a:rPr lang="en-US" sz="1800" dirty="0">
                <a:solidFill>
                  <a:srgbClr val="393939"/>
                </a:solidFill>
                <a:latin typeface="Calibri" pitchFamily="34" charset="0"/>
                <a:ea typeface="Calibri" pitchFamily="34" charset="-122"/>
                <a:cs typeface="Calibri" pitchFamily="34" charset="-120"/>
              </a:rPr>
              <a:t>Plan yapar, doküman okur</a:t>
            </a:r>
            <a:endParaRPr lang="en-US" sz="1800" dirty="0"/>
          </a:p>
        </p:txBody>
      </p:sp>
      <p:sp>
        <p:nvSpPr>
          <p:cNvPr id="12" name="Text 10"/>
          <p:cNvSpPr/>
          <p:nvPr/>
        </p:nvSpPr>
        <p:spPr>
          <a:xfrm>
            <a:off x="3657600" y="2834640"/>
            <a:ext cx="365760" cy="457200"/>
          </a:xfrm>
          <a:prstGeom prst="rect">
            <a:avLst/>
          </a:prstGeom>
          <a:noFill/>
          <a:ln/>
        </p:spPr>
        <p:txBody>
          <a:bodyPr wrap="square" rtlCol="0" anchor="ctr"/>
          <a:lstStyle/>
          <a:p>
            <a:pPr marL="0" indent="0">
              <a:buNone/>
            </a:pPr>
            <a:r>
              <a:rPr lang="en-US" sz="2200" b="1" dirty="0">
                <a:solidFill>
                  <a:srgbClr val="65D7DE"/>
                </a:solidFill>
                <a:latin typeface="Calibri" pitchFamily="34" charset="0"/>
                <a:ea typeface="Calibri" pitchFamily="34" charset="-122"/>
                <a:cs typeface="Calibri" pitchFamily="34" charset="-120"/>
              </a:rPr>
              <a:t>✓</a:t>
            </a:r>
            <a:endParaRPr lang="en-US" sz="2200" dirty="0"/>
          </a:p>
        </p:txBody>
      </p:sp>
      <p:sp>
        <p:nvSpPr>
          <p:cNvPr id="13" name="Text 11"/>
          <p:cNvSpPr/>
          <p:nvPr/>
        </p:nvSpPr>
        <p:spPr>
          <a:xfrm>
            <a:off x="4114800" y="2834640"/>
            <a:ext cx="4572000" cy="457200"/>
          </a:xfrm>
          <a:prstGeom prst="rect">
            <a:avLst/>
          </a:prstGeom>
          <a:noFill/>
          <a:ln/>
        </p:spPr>
        <p:txBody>
          <a:bodyPr wrap="square" rtlCol="0" anchor="ctr"/>
          <a:lstStyle/>
          <a:p>
            <a:pPr marL="0" indent="0">
              <a:buNone/>
            </a:pPr>
            <a:r>
              <a:rPr lang="en-US" sz="1800" dirty="0">
                <a:solidFill>
                  <a:srgbClr val="393939"/>
                </a:solidFill>
                <a:latin typeface="Calibri" pitchFamily="34" charset="0"/>
                <a:ea typeface="Calibri" pitchFamily="34" charset="-122"/>
                <a:cs typeface="Calibri" pitchFamily="34" charset="-120"/>
              </a:rPr>
              <a:t>Tool çağırır, rapor üretir</a:t>
            </a:r>
            <a:endParaRPr lang="en-US" sz="1800" dirty="0"/>
          </a:p>
        </p:txBody>
      </p:sp>
      <p:sp>
        <p:nvSpPr>
          <p:cNvPr id="14" name="Text 12"/>
          <p:cNvSpPr/>
          <p:nvPr/>
        </p:nvSpPr>
        <p:spPr>
          <a:xfrm>
            <a:off x="3657600" y="3337560"/>
            <a:ext cx="365760" cy="457200"/>
          </a:xfrm>
          <a:prstGeom prst="rect">
            <a:avLst/>
          </a:prstGeom>
          <a:noFill/>
          <a:ln/>
        </p:spPr>
        <p:txBody>
          <a:bodyPr wrap="square" rtlCol="0" anchor="ctr"/>
          <a:lstStyle/>
          <a:p>
            <a:pPr marL="0" indent="0">
              <a:buNone/>
            </a:pPr>
            <a:r>
              <a:rPr lang="en-US" sz="2200" b="1" dirty="0">
                <a:solidFill>
                  <a:srgbClr val="65D7DE"/>
                </a:solidFill>
                <a:latin typeface="Calibri" pitchFamily="34" charset="0"/>
                <a:ea typeface="Calibri" pitchFamily="34" charset="-122"/>
                <a:cs typeface="Calibri" pitchFamily="34" charset="-120"/>
              </a:rPr>
              <a:t>✓</a:t>
            </a:r>
            <a:endParaRPr lang="en-US" sz="2200" dirty="0"/>
          </a:p>
        </p:txBody>
      </p:sp>
      <p:sp>
        <p:nvSpPr>
          <p:cNvPr id="15" name="Text 13"/>
          <p:cNvSpPr/>
          <p:nvPr/>
        </p:nvSpPr>
        <p:spPr>
          <a:xfrm>
            <a:off x="4114800" y="3337560"/>
            <a:ext cx="4572000" cy="457200"/>
          </a:xfrm>
          <a:prstGeom prst="rect">
            <a:avLst/>
          </a:prstGeom>
          <a:noFill/>
          <a:ln/>
        </p:spPr>
        <p:txBody>
          <a:bodyPr wrap="square" rtlCol="0" anchor="ctr"/>
          <a:lstStyle/>
          <a:p>
            <a:pPr marL="0" indent="0">
              <a:buNone/>
            </a:pPr>
            <a:r>
              <a:rPr lang="en-US" sz="1800" dirty="0">
                <a:solidFill>
                  <a:srgbClr val="393939"/>
                </a:solidFill>
                <a:latin typeface="Calibri" pitchFamily="34" charset="0"/>
                <a:ea typeface="Calibri" pitchFamily="34" charset="-122"/>
                <a:cs typeface="Calibri" pitchFamily="34" charset="-120"/>
              </a:rPr>
              <a:t>Karar önerir, iş akışı başlatır</a:t>
            </a:r>
            <a:endParaRPr lang="en-US" sz="1800" dirty="0"/>
          </a:p>
        </p:txBody>
      </p:sp>
      <p:sp>
        <p:nvSpPr>
          <p:cNvPr id="16" name="Text 14"/>
          <p:cNvSpPr/>
          <p:nvPr/>
        </p:nvSpPr>
        <p:spPr>
          <a:xfrm>
            <a:off x="3657600" y="3840480"/>
            <a:ext cx="365760" cy="457200"/>
          </a:xfrm>
          <a:prstGeom prst="rect">
            <a:avLst/>
          </a:prstGeom>
          <a:noFill/>
          <a:ln/>
        </p:spPr>
        <p:txBody>
          <a:bodyPr wrap="square" rtlCol="0" anchor="ctr"/>
          <a:lstStyle/>
          <a:p>
            <a:pPr marL="0" indent="0">
              <a:buNone/>
            </a:pPr>
            <a:r>
              <a:rPr lang="en-US" sz="2200" b="1" dirty="0">
                <a:solidFill>
                  <a:srgbClr val="65D7DE"/>
                </a:solidFill>
                <a:latin typeface="Calibri" pitchFamily="34" charset="0"/>
                <a:ea typeface="Calibri" pitchFamily="34" charset="-122"/>
                <a:cs typeface="Calibri" pitchFamily="34" charset="-120"/>
              </a:rPr>
              <a:t>✓</a:t>
            </a:r>
            <a:endParaRPr lang="en-US" sz="2200" dirty="0"/>
          </a:p>
        </p:txBody>
      </p:sp>
      <p:sp>
        <p:nvSpPr>
          <p:cNvPr id="17" name="Text 15"/>
          <p:cNvSpPr/>
          <p:nvPr/>
        </p:nvSpPr>
        <p:spPr>
          <a:xfrm>
            <a:off x="4114800" y="3840480"/>
            <a:ext cx="4572000" cy="457200"/>
          </a:xfrm>
          <a:prstGeom prst="rect">
            <a:avLst/>
          </a:prstGeom>
          <a:noFill/>
          <a:ln/>
        </p:spPr>
        <p:txBody>
          <a:bodyPr wrap="square" rtlCol="0" anchor="ctr"/>
          <a:lstStyle/>
          <a:p>
            <a:pPr marL="0" indent="0">
              <a:buNone/>
            </a:pPr>
            <a:r>
              <a:rPr lang="en-US" sz="1800" dirty="0">
                <a:solidFill>
                  <a:srgbClr val="393939"/>
                </a:solidFill>
                <a:latin typeface="Calibri" pitchFamily="34" charset="0"/>
                <a:ea typeface="Calibri" pitchFamily="34" charset="-122"/>
                <a:cs typeface="Calibri" pitchFamily="34" charset="-120"/>
              </a:rPr>
              <a:t>Kod yazar</a:t>
            </a:r>
            <a:endParaRPr lang="en-US" sz="1800" dirty="0"/>
          </a:p>
        </p:txBody>
      </p:sp>
      <p:sp>
        <p:nvSpPr>
          <p:cNvPr id="18" name="Text 16"/>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545454"/>
                </a:solidFill>
                <a:latin typeface="Calibri" pitchFamily="34" charset="0"/>
                <a:ea typeface="Calibri" pitchFamily="34" charset="-122"/>
                <a:cs typeface="Calibri" pitchFamily="34" charset="-120"/>
              </a:rPr>
              <a:t>5 / 29  •  Çerçeve</a:t>
            </a:r>
            <a:endParaRPr lang="en-US" sz="900" dirty="0"/>
          </a:p>
        </p:txBody>
      </p:sp>
      <p:sp>
        <p:nvSpPr>
          <p:cNvPr id="19" name="Text 17"/>
          <p:cNvSpPr/>
          <p:nvPr/>
        </p:nvSpPr>
        <p:spPr>
          <a:xfrm>
            <a:off x="274320" y="4846320"/>
            <a:ext cx="1371600" cy="228600"/>
          </a:xfrm>
          <a:prstGeom prst="rect">
            <a:avLst/>
          </a:prstGeom>
          <a:noFill/>
          <a:ln/>
        </p:spPr>
        <p:txBody>
          <a:bodyPr wrap="square" rtlCol="0" anchor="ctr"/>
          <a:lstStyle/>
          <a:p>
            <a:pPr marL="0" indent="0">
              <a:buNone/>
            </a:pPr>
            <a:r>
              <a:rPr lang="en-US" sz="900" dirty="0">
                <a:solidFill>
                  <a:srgbClr val="545454"/>
                </a:solidFill>
                <a:latin typeface="Calibri" pitchFamily="34" charset="0"/>
                <a:ea typeface="Calibri" pitchFamily="34" charset="-122"/>
                <a:cs typeface="Calibri" pitchFamily="34" charset="-120"/>
              </a:rPr>
              <a:t>&lt; softtech</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393939"/>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Kullanıcının görmediği 13 şey</a:t>
            </a:r>
            <a:endParaRPr lang="en-US" sz="2800" dirty="0"/>
          </a:p>
        </p:txBody>
      </p:sp>
      <p:sp>
        <p:nvSpPr>
          <p:cNvPr id="3" name="Text 1"/>
          <p:cNvSpPr/>
          <p:nvPr/>
        </p:nvSpPr>
        <p:spPr>
          <a:xfrm>
            <a:off x="548640" y="868680"/>
            <a:ext cx="8229600" cy="274320"/>
          </a:xfrm>
          <a:prstGeom prst="rect">
            <a:avLst/>
          </a:prstGeom>
          <a:noFill/>
          <a:ln/>
        </p:spPr>
        <p:txBody>
          <a:bodyPr wrap="square" rtlCol="0" anchor="ctr"/>
          <a:lstStyle/>
          <a:p>
            <a:pPr marL="0" indent="0">
              <a:buNone/>
            </a:pPr>
            <a:r>
              <a:rPr lang="en-US" sz="1300" i="1" dirty="0">
                <a:solidFill>
                  <a:srgbClr val="65D7DE"/>
                </a:solidFill>
                <a:latin typeface="Calibri" pitchFamily="34" charset="0"/>
                <a:ea typeface="Calibri" pitchFamily="34" charset="-122"/>
                <a:cs typeface="Calibri" pitchFamily="34" charset="-120"/>
              </a:rPr>
              <a:t>Aynı agent çağrısının arkasında, görünmeyen parametreler</a:t>
            </a:r>
            <a:endParaRPr lang="en-US" sz="1300" dirty="0"/>
          </a:p>
        </p:txBody>
      </p:sp>
      <p:sp>
        <p:nvSpPr>
          <p:cNvPr id="4" name="Shape 2"/>
          <p:cNvSpPr/>
          <p:nvPr/>
        </p:nvSpPr>
        <p:spPr>
          <a:xfrm>
            <a:off x="548640" y="1417320"/>
            <a:ext cx="1874520" cy="777240"/>
          </a:xfrm>
          <a:prstGeom prst="roundRect">
            <a:avLst>
              <a:gd name="adj" fmla="val 5882"/>
            </a:avLst>
          </a:prstGeom>
          <a:solidFill>
            <a:srgbClr val="35353D"/>
          </a:solidFill>
          <a:ln w="9525">
            <a:solidFill>
              <a:srgbClr val="65D7DE"/>
            </a:solidFill>
            <a:prstDash val="solid"/>
          </a:ln>
        </p:spPr>
        <p:txBody>
          <a:bodyPr/>
          <a:lstStyle/>
          <a:p>
            <a:endParaRPr lang="en-TR"/>
          </a:p>
        </p:txBody>
      </p:sp>
      <p:sp>
        <p:nvSpPr>
          <p:cNvPr id="5" name="Text 3"/>
          <p:cNvSpPr/>
          <p:nvPr/>
        </p:nvSpPr>
        <p:spPr>
          <a:xfrm>
            <a:off x="640080" y="1417320"/>
            <a:ext cx="1691640" cy="7772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Hangi prompt versiyonu?</a:t>
            </a:r>
            <a:endParaRPr lang="en-US" sz="1100" dirty="0"/>
          </a:p>
        </p:txBody>
      </p:sp>
      <p:sp>
        <p:nvSpPr>
          <p:cNvPr id="6" name="Shape 4"/>
          <p:cNvSpPr/>
          <p:nvPr/>
        </p:nvSpPr>
        <p:spPr>
          <a:xfrm>
            <a:off x="2560320" y="1417320"/>
            <a:ext cx="1874520" cy="777240"/>
          </a:xfrm>
          <a:prstGeom prst="roundRect">
            <a:avLst>
              <a:gd name="adj" fmla="val 5882"/>
            </a:avLst>
          </a:prstGeom>
          <a:solidFill>
            <a:srgbClr val="35353D"/>
          </a:solidFill>
          <a:ln w="9525">
            <a:solidFill>
              <a:srgbClr val="65D7DE"/>
            </a:solidFill>
            <a:prstDash val="solid"/>
          </a:ln>
        </p:spPr>
        <p:txBody>
          <a:bodyPr/>
          <a:lstStyle/>
          <a:p>
            <a:endParaRPr lang="en-TR"/>
          </a:p>
        </p:txBody>
      </p:sp>
      <p:sp>
        <p:nvSpPr>
          <p:cNvPr id="7" name="Text 5"/>
          <p:cNvSpPr/>
          <p:nvPr/>
        </p:nvSpPr>
        <p:spPr>
          <a:xfrm>
            <a:off x="2651760" y="1417320"/>
            <a:ext cx="1691640" cy="7772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Hangi model çağrıldı?</a:t>
            </a:r>
            <a:endParaRPr lang="en-US" sz="1100" dirty="0"/>
          </a:p>
        </p:txBody>
      </p:sp>
      <p:sp>
        <p:nvSpPr>
          <p:cNvPr id="8" name="Shape 6"/>
          <p:cNvSpPr/>
          <p:nvPr/>
        </p:nvSpPr>
        <p:spPr>
          <a:xfrm>
            <a:off x="4572000" y="1417320"/>
            <a:ext cx="1874520" cy="777240"/>
          </a:xfrm>
          <a:prstGeom prst="roundRect">
            <a:avLst>
              <a:gd name="adj" fmla="val 5882"/>
            </a:avLst>
          </a:prstGeom>
          <a:solidFill>
            <a:srgbClr val="35353D"/>
          </a:solidFill>
          <a:ln w="9525">
            <a:solidFill>
              <a:srgbClr val="65D7DE"/>
            </a:solidFill>
            <a:prstDash val="solid"/>
          </a:ln>
        </p:spPr>
        <p:txBody>
          <a:bodyPr/>
          <a:lstStyle/>
          <a:p>
            <a:endParaRPr lang="en-TR"/>
          </a:p>
        </p:txBody>
      </p:sp>
      <p:sp>
        <p:nvSpPr>
          <p:cNvPr id="9" name="Text 7"/>
          <p:cNvSpPr/>
          <p:nvPr/>
        </p:nvSpPr>
        <p:spPr>
          <a:xfrm>
            <a:off x="4663440" y="1417320"/>
            <a:ext cx="1691640" cy="7772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Hangi tool seçildi?</a:t>
            </a:r>
            <a:endParaRPr lang="en-US" sz="1100" dirty="0"/>
          </a:p>
        </p:txBody>
      </p:sp>
      <p:sp>
        <p:nvSpPr>
          <p:cNvPr id="10" name="Shape 8"/>
          <p:cNvSpPr/>
          <p:nvPr/>
        </p:nvSpPr>
        <p:spPr>
          <a:xfrm>
            <a:off x="6583680" y="1417320"/>
            <a:ext cx="1874520" cy="777240"/>
          </a:xfrm>
          <a:prstGeom prst="roundRect">
            <a:avLst>
              <a:gd name="adj" fmla="val 5882"/>
            </a:avLst>
          </a:prstGeom>
          <a:solidFill>
            <a:srgbClr val="35353D"/>
          </a:solidFill>
          <a:ln w="9525">
            <a:solidFill>
              <a:srgbClr val="65D7DE"/>
            </a:solidFill>
            <a:prstDash val="solid"/>
          </a:ln>
        </p:spPr>
        <p:txBody>
          <a:bodyPr/>
          <a:lstStyle/>
          <a:p>
            <a:endParaRPr lang="en-TR"/>
          </a:p>
        </p:txBody>
      </p:sp>
      <p:sp>
        <p:nvSpPr>
          <p:cNvPr id="11" name="Text 9"/>
          <p:cNvSpPr/>
          <p:nvPr/>
        </p:nvSpPr>
        <p:spPr>
          <a:xfrm>
            <a:off x="6675120" y="1417320"/>
            <a:ext cx="1691640" cy="7772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Tool input/output neydi?</a:t>
            </a:r>
            <a:endParaRPr lang="en-US" sz="1100" dirty="0"/>
          </a:p>
        </p:txBody>
      </p:sp>
      <p:sp>
        <p:nvSpPr>
          <p:cNvPr id="12" name="Shape 10"/>
          <p:cNvSpPr/>
          <p:nvPr/>
        </p:nvSpPr>
        <p:spPr>
          <a:xfrm>
            <a:off x="548640" y="2331720"/>
            <a:ext cx="1874520" cy="777240"/>
          </a:xfrm>
          <a:prstGeom prst="roundRect">
            <a:avLst>
              <a:gd name="adj" fmla="val 5882"/>
            </a:avLst>
          </a:prstGeom>
          <a:solidFill>
            <a:srgbClr val="35353D"/>
          </a:solidFill>
          <a:ln w="9525">
            <a:solidFill>
              <a:srgbClr val="65D7DE"/>
            </a:solidFill>
            <a:prstDash val="solid"/>
          </a:ln>
        </p:spPr>
        <p:txBody>
          <a:bodyPr/>
          <a:lstStyle/>
          <a:p>
            <a:endParaRPr lang="en-TR"/>
          </a:p>
        </p:txBody>
      </p:sp>
      <p:sp>
        <p:nvSpPr>
          <p:cNvPr id="13" name="Text 11"/>
          <p:cNvSpPr/>
          <p:nvPr/>
        </p:nvSpPr>
        <p:spPr>
          <a:xfrm>
            <a:off x="640080" y="2331720"/>
            <a:ext cx="1691640" cy="7772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Agent'ın yetkisi neydi?</a:t>
            </a:r>
            <a:endParaRPr lang="en-US" sz="1100" dirty="0"/>
          </a:p>
        </p:txBody>
      </p:sp>
      <p:sp>
        <p:nvSpPr>
          <p:cNvPr id="14" name="Shape 12"/>
          <p:cNvSpPr/>
          <p:nvPr/>
        </p:nvSpPr>
        <p:spPr>
          <a:xfrm>
            <a:off x="2560320" y="2331720"/>
            <a:ext cx="1874520" cy="777240"/>
          </a:xfrm>
          <a:prstGeom prst="roundRect">
            <a:avLst>
              <a:gd name="adj" fmla="val 5882"/>
            </a:avLst>
          </a:prstGeom>
          <a:solidFill>
            <a:srgbClr val="35353D"/>
          </a:solidFill>
          <a:ln w="9525">
            <a:solidFill>
              <a:srgbClr val="65D7DE"/>
            </a:solidFill>
            <a:prstDash val="solid"/>
          </a:ln>
        </p:spPr>
        <p:txBody>
          <a:bodyPr/>
          <a:lstStyle/>
          <a:p>
            <a:endParaRPr lang="en-TR"/>
          </a:p>
        </p:txBody>
      </p:sp>
      <p:sp>
        <p:nvSpPr>
          <p:cNvPr id="15" name="Text 13"/>
          <p:cNvSpPr/>
          <p:nvPr/>
        </p:nvSpPr>
        <p:spPr>
          <a:xfrm>
            <a:off x="2651760" y="2331720"/>
            <a:ext cx="1691640" cy="7772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Kullanıcı adına mı işlem yaptı?</a:t>
            </a:r>
            <a:endParaRPr lang="en-US" sz="1100" dirty="0"/>
          </a:p>
        </p:txBody>
      </p:sp>
      <p:sp>
        <p:nvSpPr>
          <p:cNvPr id="16" name="Shape 14"/>
          <p:cNvSpPr/>
          <p:nvPr/>
        </p:nvSpPr>
        <p:spPr>
          <a:xfrm>
            <a:off x="4572000" y="2331720"/>
            <a:ext cx="1874520" cy="777240"/>
          </a:xfrm>
          <a:prstGeom prst="roundRect">
            <a:avLst>
              <a:gd name="adj" fmla="val 5882"/>
            </a:avLst>
          </a:prstGeom>
          <a:solidFill>
            <a:srgbClr val="35353D"/>
          </a:solidFill>
          <a:ln w="9525">
            <a:solidFill>
              <a:srgbClr val="65D7DE"/>
            </a:solidFill>
            <a:prstDash val="solid"/>
          </a:ln>
        </p:spPr>
        <p:txBody>
          <a:bodyPr/>
          <a:lstStyle/>
          <a:p>
            <a:endParaRPr lang="en-TR"/>
          </a:p>
        </p:txBody>
      </p:sp>
      <p:sp>
        <p:nvSpPr>
          <p:cNvPr id="17" name="Text 15"/>
          <p:cNvSpPr/>
          <p:nvPr/>
        </p:nvSpPr>
        <p:spPr>
          <a:xfrm>
            <a:off x="4663440" y="2331720"/>
            <a:ext cx="1691640" cy="7772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Hangi memory okundu?</a:t>
            </a:r>
            <a:endParaRPr lang="en-US" sz="1100" dirty="0"/>
          </a:p>
        </p:txBody>
      </p:sp>
      <p:sp>
        <p:nvSpPr>
          <p:cNvPr id="18" name="Shape 16"/>
          <p:cNvSpPr/>
          <p:nvPr/>
        </p:nvSpPr>
        <p:spPr>
          <a:xfrm>
            <a:off x="6583680" y="2331720"/>
            <a:ext cx="1874520" cy="777240"/>
          </a:xfrm>
          <a:prstGeom prst="roundRect">
            <a:avLst>
              <a:gd name="adj" fmla="val 5882"/>
            </a:avLst>
          </a:prstGeom>
          <a:solidFill>
            <a:srgbClr val="35353D"/>
          </a:solidFill>
          <a:ln w="9525">
            <a:solidFill>
              <a:srgbClr val="65D7DE"/>
            </a:solidFill>
            <a:prstDash val="solid"/>
          </a:ln>
        </p:spPr>
        <p:txBody>
          <a:bodyPr/>
          <a:lstStyle/>
          <a:p>
            <a:endParaRPr lang="en-TR"/>
          </a:p>
        </p:txBody>
      </p:sp>
      <p:sp>
        <p:nvSpPr>
          <p:cNvPr id="19" name="Text 17"/>
          <p:cNvSpPr/>
          <p:nvPr/>
        </p:nvSpPr>
        <p:spPr>
          <a:xfrm>
            <a:off x="6675120" y="2331720"/>
            <a:ext cx="1691640" cy="7772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Hangi policy devreye girdi?</a:t>
            </a:r>
            <a:endParaRPr lang="en-US" sz="1100" dirty="0"/>
          </a:p>
        </p:txBody>
      </p:sp>
      <p:sp>
        <p:nvSpPr>
          <p:cNvPr id="20" name="Shape 18"/>
          <p:cNvSpPr/>
          <p:nvPr/>
        </p:nvSpPr>
        <p:spPr>
          <a:xfrm>
            <a:off x="548640" y="3246120"/>
            <a:ext cx="1874520" cy="777240"/>
          </a:xfrm>
          <a:prstGeom prst="roundRect">
            <a:avLst>
              <a:gd name="adj" fmla="val 5882"/>
            </a:avLst>
          </a:prstGeom>
          <a:solidFill>
            <a:srgbClr val="35353D"/>
          </a:solidFill>
          <a:ln w="9525">
            <a:solidFill>
              <a:srgbClr val="65D7DE"/>
            </a:solidFill>
            <a:prstDash val="solid"/>
          </a:ln>
        </p:spPr>
        <p:txBody>
          <a:bodyPr/>
          <a:lstStyle/>
          <a:p>
            <a:endParaRPr lang="en-TR"/>
          </a:p>
        </p:txBody>
      </p:sp>
      <p:sp>
        <p:nvSpPr>
          <p:cNvPr id="21" name="Text 19"/>
          <p:cNvSpPr/>
          <p:nvPr/>
        </p:nvSpPr>
        <p:spPr>
          <a:xfrm>
            <a:off x="640080" y="3246120"/>
            <a:ext cx="1691640" cy="7772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Hangi guardrail engelledi?</a:t>
            </a:r>
            <a:endParaRPr lang="en-US" sz="1100" dirty="0"/>
          </a:p>
        </p:txBody>
      </p:sp>
      <p:sp>
        <p:nvSpPr>
          <p:cNvPr id="22" name="Shape 20"/>
          <p:cNvSpPr/>
          <p:nvPr/>
        </p:nvSpPr>
        <p:spPr>
          <a:xfrm>
            <a:off x="2560320" y="3246120"/>
            <a:ext cx="1874520" cy="777240"/>
          </a:xfrm>
          <a:prstGeom prst="roundRect">
            <a:avLst>
              <a:gd name="adj" fmla="val 5882"/>
            </a:avLst>
          </a:prstGeom>
          <a:solidFill>
            <a:srgbClr val="35353D"/>
          </a:solidFill>
          <a:ln w="9525">
            <a:solidFill>
              <a:srgbClr val="65D7DE"/>
            </a:solidFill>
            <a:prstDash val="solid"/>
          </a:ln>
        </p:spPr>
        <p:txBody>
          <a:bodyPr/>
          <a:lstStyle/>
          <a:p>
            <a:endParaRPr lang="en-TR"/>
          </a:p>
        </p:txBody>
      </p:sp>
      <p:sp>
        <p:nvSpPr>
          <p:cNvPr id="23" name="Text 21"/>
          <p:cNvSpPr/>
          <p:nvPr/>
        </p:nvSpPr>
        <p:spPr>
          <a:xfrm>
            <a:off x="2651760" y="3246120"/>
            <a:ext cx="1691640" cy="7772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Hangi maliyet oluştu?</a:t>
            </a:r>
            <a:endParaRPr lang="en-US" sz="1100" dirty="0"/>
          </a:p>
        </p:txBody>
      </p:sp>
      <p:sp>
        <p:nvSpPr>
          <p:cNvPr id="24" name="Shape 22"/>
          <p:cNvSpPr/>
          <p:nvPr/>
        </p:nvSpPr>
        <p:spPr>
          <a:xfrm>
            <a:off x="4572000" y="3246120"/>
            <a:ext cx="1874520" cy="777240"/>
          </a:xfrm>
          <a:prstGeom prst="roundRect">
            <a:avLst>
              <a:gd name="adj" fmla="val 5882"/>
            </a:avLst>
          </a:prstGeom>
          <a:solidFill>
            <a:srgbClr val="35353D"/>
          </a:solidFill>
          <a:ln w="9525">
            <a:solidFill>
              <a:srgbClr val="65D7DE"/>
            </a:solidFill>
            <a:prstDash val="solid"/>
          </a:ln>
        </p:spPr>
        <p:txBody>
          <a:bodyPr/>
          <a:lstStyle/>
          <a:p>
            <a:endParaRPr lang="en-TR"/>
          </a:p>
        </p:txBody>
      </p:sp>
      <p:sp>
        <p:nvSpPr>
          <p:cNvPr id="25" name="Text 23"/>
          <p:cNvSpPr/>
          <p:nvPr/>
        </p:nvSpPr>
        <p:spPr>
          <a:xfrm>
            <a:off x="4663440" y="3246120"/>
            <a:ext cx="1691640" cy="7772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Hangi hata retry edildi?</a:t>
            </a:r>
            <a:endParaRPr lang="en-US" sz="1100" dirty="0"/>
          </a:p>
        </p:txBody>
      </p:sp>
      <p:sp>
        <p:nvSpPr>
          <p:cNvPr id="26" name="Shape 24"/>
          <p:cNvSpPr/>
          <p:nvPr/>
        </p:nvSpPr>
        <p:spPr>
          <a:xfrm>
            <a:off x="6583680" y="3246120"/>
            <a:ext cx="1874520" cy="777240"/>
          </a:xfrm>
          <a:prstGeom prst="roundRect">
            <a:avLst>
              <a:gd name="adj" fmla="val 5882"/>
            </a:avLst>
          </a:prstGeom>
          <a:solidFill>
            <a:srgbClr val="35353D"/>
          </a:solidFill>
          <a:ln w="9525">
            <a:solidFill>
              <a:srgbClr val="65D7DE"/>
            </a:solidFill>
            <a:prstDash val="solid"/>
          </a:ln>
        </p:spPr>
        <p:txBody>
          <a:bodyPr/>
          <a:lstStyle/>
          <a:p>
            <a:endParaRPr lang="en-TR"/>
          </a:p>
        </p:txBody>
      </p:sp>
      <p:sp>
        <p:nvSpPr>
          <p:cNvPr id="27" name="Text 25"/>
          <p:cNvSpPr/>
          <p:nvPr/>
        </p:nvSpPr>
        <p:spPr>
          <a:xfrm>
            <a:off x="6675120" y="3246120"/>
            <a:ext cx="1691640" cy="7772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Hangi adım audit edildi?</a:t>
            </a:r>
            <a:endParaRPr lang="en-US" sz="1100" dirty="0"/>
          </a:p>
        </p:txBody>
      </p:sp>
      <p:sp>
        <p:nvSpPr>
          <p:cNvPr id="28" name="Shape 26"/>
          <p:cNvSpPr/>
          <p:nvPr/>
        </p:nvSpPr>
        <p:spPr>
          <a:xfrm>
            <a:off x="548640" y="4160520"/>
            <a:ext cx="1874520" cy="777240"/>
          </a:xfrm>
          <a:prstGeom prst="roundRect">
            <a:avLst>
              <a:gd name="adj" fmla="val 5882"/>
            </a:avLst>
          </a:prstGeom>
          <a:solidFill>
            <a:srgbClr val="35353D"/>
          </a:solidFill>
          <a:ln w="9525">
            <a:solidFill>
              <a:srgbClr val="65D7DE"/>
            </a:solidFill>
            <a:prstDash val="solid"/>
          </a:ln>
        </p:spPr>
        <p:txBody>
          <a:bodyPr/>
          <a:lstStyle/>
          <a:p>
            <a:endParaRPr lang="en-TR"/>
          </a:p>
        </p:txBody>
      </p:sp>
      <p:sp>
        <p:nvSpPr>
          <p:cNvPr id="29" name="Text 27"/>
          <p:cNvSpPr/>
          <p:nvPr/>
        </p:nvSpPr>
        <p:spPr>
          <a:xfrm>
            <a:off x="640080" y="4160520"/>
            <a:ext cx="1691640" cy="7772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Karar izi tutuldu mu?</a:t>
            </a:r>
            <a:endParaRPr lang="en-US" sz="1100" dirty="0"/>
          </a:p>
        </p:txBody>
      </p:sp>
      <p:sp>
        <p:nvSpPr>
          <p:cNvPr id="30" name="Text 28"/>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CCCCCC"/>
                </a:solidFill>
                <a:latin typeface="Calibri" pitchFamily="34" charset="0"/>
                <a:ea typeface="Calibri" pitchFamily="34" charset="-122"/>
                <a:cs typeface="Calibri" pitchFamily="34" charset="-120"/>
              </a:rPr>
              <a:t>6 / 29  •  Çerçeve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 cy="1371600"/>
          </a:xfrm>
          <a:prstGeom prst="rect">
            <a:avLst/>
          </a:prstGeom>
          <a:noFill/>
          <a:ln/>
        </p:spPr>
        <p:txBody>
          <a:bodyPr wrap="square" rtlCol="0" anchor="ctr"/>
          <a:lstStyle/>
          <a:p>
            <a:pPr marL="0" indent="0">
              <a:buNone/>
            </a:pPr>
            <a:r>
              <a:rPr lang="en-US" sz="13000" b="1" dirty="0">
                <a:solidFill>
                  <a:srgbClr val="65D7DE"/>
                </a:solidFill>
                <a:latin typeface="Calibri" pitchFamily="34" charset="0"/>
                <a:ea typeface="Calibri" pitchFamily="34" charset="-122"/>
                <a:cs typeface="Calibri" pitchFamily="34" charset="-120"/>
              </a:rPr>
              <a:t>“</a:t>
            </a:r>
            <a:endParaRPr lang="en-US" sz="13000" dirty="0"/>
          </a:p>
        </p:txBody>
      </p:sp>
      <p:sp>
        <p:nvSpPr>
          <p:cNvPr id="3" name="Text 1"/>
          <p:cNvSpPr/>
          <p:nvPr/>
        </p:nvSpPr>
        <p:spPr>
          <a:xfrm>
            <a:off x="1371600" y="1188720"/>
            <a:ext cx="7315200" cy="1828800"/>
          </a:xfrm>
          <a:prstGeom prst="rect">
            <a:avLst/>
          </a:prstGeom>
          <a:noFill/>
          <a:ln/>
        </p:spPr>
        <p:txBody>
          <a:bodyPr wrap="square" rtlCol="0" anchor="ctr"/>
          <a:lstStyle/>
          <a:p>
            <a:pPr marL="0" indent="0">
              <a:buNone/>
            </a:pPr>
            <a:r>
              <a:rPr lang="en-US" sz="2200" i="1" dirty="0">
                <a:solidFill>
                  <a:srgbClr val="393939"/>
                </a:solidFill>
                <a:latin typeface="Calibri" pitchFamily="34" charset="0"/>
                <a:ea typeface="Calibri" pitchFamily="34" charset="-122"/>
                <a:cs typeface="Calibri" pitchFamily="34" charset="-120"/>
              </a:rPr>
              <a:t>Agent harness, modeli sarıp kullanıcı adına eylem yapabilmesini sağlayan </a:t>
            </a:r>
            <a:r>
              <a:rPr lang="en-US" sz="2200" i="1" dirty="0" err="1">
                <a:solidFill>
                  <a:srgbClr val="393939"/>
                </a:solidFill>
                <a:latin typeface="Calibri" pitchFamily="34" charset="0"/>
                <a:ea typeface="Calibri" pitchFamily="34" charset="-122"/>
                <a:cs typeface="Calibri" pitchFamily="34" charset="-120"/>
              </a:rPr>
              <a:t>yazılım</a:t>
            </a:r>
            <a:r>
              <a:rPr lang="en-US" sz="2200" i="1" dirty="0">
                <a:solidFill>
                  <a:srgbClr val="393939"/>
                </a:solidFill>
                <a:latin typeface="Calibri" pitchFamily="34" charset="0"/>
                <a:ea typeface="Calibri" pitchFamily="34" charset="-122"/>
                <a:cs typeface="Calibri" pitchFamily="34" charset="-120"/>
              </a:rPr>
              <a:t> </a:t>
            </a:r>
            <a:r>
              <a:rPr lang="en-US" sz="2200" i="1" dirty="0" err="1">
                <a:solidFill>
                  <a:srgbClr val="393939"/>
                </a:solidFill>
                <a:latin typeface="Calibri" pitchFamily="34" charset="0"/>
                <a:ea typeface="Calibri" pitchFamily="34" charset="-122"/>
                <a:cs typeface="Calibri" pitchFamily="34" charset="-120"/>
              </a:rPr>
              <a:t>altyapısıdır</a:t>
            </a:r>
            <a:r>
              <a:rPr lang="en-US" sz="2200" i="1" dirty="0">
                <a:solidFill>
                  <a:srgbClr val="393939"/>
                </a:solidFill>
                <a:latin typeface="Calibri" pitchFamily="34" charset="0"/>
                <a:ea typeface="Calibri" pitchFamily="34" charset="-122"/>
                <a:cs typeface="Calibri" pitchFamily="34" charset="-120"/>
              </a:rPr>
              <a:t>. Tools, memory management, context handling, error recovery.</a:t>
            </a:r>
            <a:endParaRPr lang="en-US" sz="2200" dirty="0"/>
          </a:p>
        </p:txBody>
      </p:sp>
      <p:sp>
        <p:nvSpPr>
          <p:cNvPr id="4" name="Text 2"/>
          <p:cNvSpPr/>
          <p:nvPr/>
        </p:nvSpPr>
        <p:spPr>
          <a:xfrm>
            <a:off x="1371600" y="3200400"/>
            <a:ext cx="5486400" cy="365760"/>
          </a:xfrm>
          <a:prstGeom prst="rect">
            <a:avLst/>
          </a:prstGeom>
          <a:noFill/>
          <a:ln/>
        </p:spPr>
        <p:txBody>
          <a:bodyPr wrap="square" rtlCol="0" anchor="ctr"/>
          <a:lstStyle/>
          <a:p>
            <a:pPr marL="0" indent="0">
              <a:buNone/>
            </a:pPr>
            <a:r>
              <a:rPr lang="en-US" sz="1400" dirty="0">
                <a:solidFill>
                  <a:srgbClr val="545454"/>
                </a:solidFill>
                <a:latin typeface="Calibri" pitchFamily="34" charset="0"/>
                <a:ea typeface="Calibri" pitchFamily="34" charset="-122"/>
                <a:cs typeface="Calibri" pitchFamily="34" charset="-120"/>
              </a:rPr>
              <a:t>— Anthropic, 2026</a:t>
            </a:r>
            <a:endParaRPr lang="en-US" sz="1400" dirty="0"/>
          </a:p>
        </p:txBody>
      </p:sp>
      <p:sp>
        <p:nvSpPr>
          <p:cNvPr id="5" name="Shape 3"/>
          <p:cNvSpPr/>
          <p:nvPr/>
        </p:nvSpPr>
        <p:spPr>
          <a:xfrm>
            <a:off x="0" y="3931920"/>
            <a:ext cx="9144000" cy="822960"/>
          </a:xfrm>
          <a:prstGeom prst="rect">
            <a:avLst/>
          </a:prstGeom>
          <a:solidFill>
            <a:srgbClr val="FFCC4F"/>
          </a:solidFill>
          <a:ln w="12700">
            <a:solidFill>
              <a:srgbClr val="FFCC4F"/>
            </a:solidFill>
            <a:prstDash val="solid"/>
          </a:ln>
        </p:spPr>
        <p:txBody>
          <a:bodyPr/>
          <a:lstStyle/>
          <a:p>
            <a:endParaRPr lang="en-TR"/>
          </a:p>
        </p:txBody>
      </p:sp>
      <p:sp>
        <p:nvSpPr>
          <p:cNvPr id="6" name="Text 4"/>
          <p:cNvSpPr/>
          <p:nvPr/>
        </p:nvSpPr>
        <p:spPr>
          <a:xfrm>
            <a:off x="548640" y="4023360"/>
            <a:ext cx="5486400" cy="365760"/>
          </a:xfrm>
          <a:prstGeom prst="rect">
            <a:avLst/>
          </a:prstGeom>
          <a:noFill/>
          <a:ln/>
        </p:spPr>
        <p:txBody>
          <a:bodyPr wrap="square" rtlCol="0" anchor="ctr"/>
          <a:lstStyle/>
          <a:p>
            <a:pPr marL="0" indent="0">
              <a:buNone/>
            </a:pPr>
            <a:r>
              <a:rPr lang="en-US" sz="2200" b="1" i="1" dirty="0">
                <a:solidFill>
                  <a:srgbClr val="393939"/>
                </a:solidFill>
                <a:latin typeface="Calibri" pitchFamily="34" charset="0"/>
                <a:ea typeface="Calibri" pitchFamily="34" charset="-122"/>
                <a:cs typeface="Calibri" pitchFamily="34" charset="-120"/>
              </a:rPr>
              <a:t>“Harness is the product.”</a:t>
            </a:r>
            <a:endParaRPr lang="en-US" sz="2200" dirty="0"/>
          </a:p>
        </p:txBody>
      </p:sp>
      <p:sp>
        <p:nvSpPr>
          <p:cNvPr id="7" name="Text 5"/>
          <p:cNvSpPr/>
          <p:nvPr/>
        </p:nvSpPr>
        <p:spPr>
          <a:xfrm>
            <a:off x="548640" y="4434840"/>
            <a:ext cx="5486400" cy="274320"/>
          </a:xfrm>
          <a:prstGeom prst="rect">
            <a:avLst/>
          </a:prstGeom>
          <a:noFill/>
          <a:ln/>
        </p:spPr>
        <p:txBody>
          <a:bodyPr wrap="square" rtlCol="0" anchor="ctr"/>
          <a:lstStyle/>
          <a:p>
            <a:pPr marL="0" indent="0">
              <a:buNone/>
            </a:pPr>
            <a:r>
              <a:rPr lang="en-US" sz="1200" dirty="0">
                <a:solidFill>
                  <a:srgbClr val="393939"/>
                </a:solidFill>
                <a:latin typeface="Calibri" pitchFamily="34" charset="0"/>
                <a:ea typeface="Calibri" pitchFamily="34" charset="-122"/>
                <a:cs typeface="Calibri" pitchFamily="34" charset="-120"/>
              </a:rPr>
              <a:t>— TheNewStack, 2026</a:t>
            </a:r>
            <a:endParaRPr lang="en-US" sz="1200" dirty="0"/>
          </a:p>
        </p:txBody>
      </p:sp>
      <p:sp>
        <p:nvSpPr>
          <p:cNvPr id="8" name="Text 6"/>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545454"/>
                </a:solidFill>
                <a:latin typeface="Calibri" pitchFamily="34" charset="0"/>
                <a:ea typeface="Calibri" pitchFamily="34" charset="-122"/>
                <a:cs typeface="Calibri" pitchFamily="34" charset="-120"/>
              </a:rPr>
              <a:t>7 / 29  •  Çerçeve</a:t>
            </a:r>
            <a:endParaRPr lang="en-US" sz="900" dirty="0"/>
          </a:p>
        </p:txBody>
      </p:sp>
      <p:sp>
        <p:nvSpPr>
          <p:cNvPr id="9" name="Text 7"/>
          <p:cNvSpPr/>
          <p:nvPr/>
        </p:nvSpPr>
        <p:spPr>
          <a:xfrm>
            <a:off x="274320" y="4846320"/>
            <a:ext cx="1371600" cy="228600"/>
          </a:xfrm>
          <a:prstGeom prst="rect">
            <a:avLst/>
          </a:prstGeom>
          <a:noFill/>
          <a:ln/>
        </p:spPr>
        <p:txBody>
          <a:bodyPr wrap="square" rtlCol="0" anchor="ctr"/>
          <a:lstStyle/>
          <a:p>
            <a:pPr marL="0" indent="0">
              <a:buNone/>
            </a:pPr>
            <a:r>
              <a:rPr lang="en-US" sz="900" dirty="0">
                <a:solidFill>
                  <a:srgbClr val="545454"/>
                </a:solidFill>
                <a:latin typeface="Calibri" pitchFamily="34" charset="0"/>
                <a:ea typeface="Calibri" pitchFamily="34" charset="-122"/>
                <a:cs typeface="Calibri" pitchFamily="34" charset="-120"/>
              </a:rPr>
              <a:t>&lt; softtech</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548640"/>
          </a:xfrm>
          <a:prstGeom prst="rect">
            <a:avLst/>
          </a:prstGeom>
          <a:noFill/>
          <a:ln/>
        </p:spPr>
        <p:txBody>
          <a:bodyPr wrap="square" rtlCol="0" anchor="ctr"/>
          <a:lstStyle/>
          <a:p>
            <a:pPr marL="0" indent="0">
              <a:buNone/>
            </a:pPr>
            <a:r>
              <a:rPr lang="en-US" sz="3000" b="1" dirty="0">
                <a:solidFill>
                  <a:srgbClr val="393939"/>
                </a:solidFill>
                <a:latin typeface="Calibri" pitchFamily="34" charset="0"/>
                <a:ea typeface="Calibri" pitchFamily="34" charset="-122"/>
                <a:cs typeface="Calibri" pitchFamily="34" charset="-120"/>
              </a:rPr>
              <a:t>Dört oyuncu, tek strateji</a:t>
            </a:r>
            <a:endParaRPr lang="en-US" sz="3000" dirty="0"/>
          </a:p>
        </p:txBody>
      </p:sp>
      <p:sp>
        <p:nvSpPr>
          <p:cNvPr id="3" name="Text 1"/>
          <p:cNvSpPr/>
          <p:nvPr/>
        </p:nvSpPr>
        <p:spPr>
          <a:xfrm>
            <a:off x="548640" y="1005840"/>
            <a:ext cx="8229600" cy="365760"/>
          </a:xfrm>
          <a:prstGeom prst="rect">
            <a:avLst/>
          </a:prstGeom>
          <a:noFill/>
          <a:ln/>
        </p:spPr>
        <p:txBody>
          <a:bodyPr wrap="square" rtlCol="0" anchor="ctr"/>
          <a:lstStyle/>
          <a:p>
            <a:pPr marL="0" indent="0">
              <a:buNone/>
            </a:pPr>
            <a:r>
              <a:rPr lang="en-US" sz="1400" i="1" dirty="0">
                <a:solidFill>
                  <a:srgbClr val="545454"/>
                </a:solidFill>
                <a:latin typeface="Calibri" pitchFamily="34" charset="0"/>
                <a:ea typeface="Calibri" pitchFamily="34" charset="-122"/>
                <a:cs typeface="Calibri" pitchFamily="34" charset="-120"/>
              </a:rPr>
              <a:t>Sektör harness'ı "ürün" olarak konumlandırıyor</a:t>
            </a:r>
            <a:endParaRPr lang="en-US" sz="1400" dirty="0"/>
          </a:p>
        </p:txBody>
      </p:sp>
      <p:sp>
        <p:nvSpPr>
          <p:cNvPr id="4" name="Shape 2"/>
          <p:cNvSpPr/>
          <p:nvPr/>
        </p:nvSpPr>
        <p:spPr>
          <a:xfrm>
            <a:off x="548640" y="1645920"/>
            <a:ext cx="1920240" cy="2011680"/>
          </a:xfrm>
          <a:prstGeom prst="roundRect">
            <a:avLst>
              <a:gd name="adj" fmla="val 3810"/>
            </a:avLst>
          </a:prstGeom>
          <a:solidFill>
            <a:srgbClr val="FFFFFF"/>
          </a:solidFill>
          <a:ln w="19050">
            <a:solidFill>
              <a:srgbClr val="393939"/>
            </a:solidFill>
            <a:prstDash val="solid"/>
          </a:ln>
        </p:spPr>
        <p:txBody>
          <a:bodyPr/>
          <a:lstStyle/>
          <a:p>
            <a:endParaRPr lang="en-TR"/>
          </a:p>
        </p:txBody>
      </p:sp>
      <p:sp>
        <p:nvSpPr>
          <p:cNvPr id="5" name="Text 3"/>
          <p:cNvSpPr/>
          <p:nvPr/>
        </p:nvSpPr>
        <p:spPr>
          <a:xfrm>
            <a:off x="640080" y="1783080"/>
            <a:ext cx="1737360" cy="457200"/>
          </a:xfrm>
          <a:prstGeom prst="rect">
            <a:avLst/>
          </a:prstGeom>
          <a:noFill/>
          <a:ln/>
        </p:spPr>
        <p:txBody>
          <a:bodyPr wrap="square" rtlCol="0" anchor="ctr"/>
          <a:lstStyle/>
          <a:p>
            <a:pPr marL="0" indent="0" algn="ctr">
              <a:buNone/>
            </a:pPr>
            <a:r>
              <a:rPr lang="en-US" sz="1800" b="1" dirty="0">
                <a:solidFill>
                  <a:srgbClr val="393939"/>
                </a:solidFill>
                <a:latin typeface="Calibri" pitchFamily="34" charset="0"/>
                <a:ea typeface="Calibri" pitchFamily="34" charset="-122"/>
                <a:cs typeface="Calibri" pitchFamily="34" charset="-120"/>
              </a:rPr>
              <a:t>Anthropic</a:t>
            </a:r>
            <a:endParaRPr lang="en-US" sz="1800" dirty="0"/>
          </a:p>
        </p:txBody>
      </p:sp>
      <p:sp>
        <p:nvSpPr>
          <p:cNvPr id="6" name="Shape 4"/>
          <p:cNvSpPr/>
          <p:nvPr/>
        </p:nvSpPr>
        <p:spPr>
          <a:xfrm>
            <a:off x="1005840" y="2331720"/>
            <a:ext cx="1005840" cy="0"/>
          </a:xfrm>
          <a:prstGeom prst="line">
            <a:avLst/>
          </a:prstGeom>
          <a:noFill/>
          <a:ln w="25400">
            <a:solidFill>
              <a:srgbClr val="65D7DE"/>
            </a:solidFill>
            <a:prstDash val="solid"/>
          </a:ln>
        </p:spPr>
        <p:txBody>
          <a:bodyPr/>
          <a:lstStyle/>
          <a:p>
            <a:endParaRPr lang="en-TR"/>
          </a:p>
        </p:txBody>
      </p:sp>
      <p:sp>
        <p:nvSpPr>
          <p:cNvPr id="7" name="Text 5"/>
          <p:cNvSpPr/>
          <p:nvPr/>
        </p:nvSpPr>
        <p:spPr>
          <a:xfrm>
            <a:off x="640080" y="2423160"/>
            <a:ext cx="1737360" cy="457200"/>
          </a:xfrm>
          <a:prstGeom prst="rect">
            <a:avLst/>
          </a:prstGeom>
          <a:noFill/>
          <a:ln/>
        </p:spPr>
        <p:txBody>
          <a:bodyPr wrap="square" rtlCol="0" anchor="ctr"/>
          <a:lstStyle/>
          <a:p>
            <a:pPr marL="0" indent="0" algn="ctr">
              <a:buNone/>
            </a:pPr>
            <a:r>
              <a:rPr lang="en-US" sz="1300" dirty="0">
                <a:solidFill>
                  <a:srgbClr val="2D9BA3"/>
                </a:solidFill>
                <a:latin typeface="Calibri" pitchFamily="34" charset="0"/>
                <a:ea typeface="Calibri" pitchFamily="34" charset="-122"/>
                <a:cs typeface="Calibri" pitchFamily="34" charset="-120"/>
              </a:rPr>
              <a:t>Managed Agents</a:t>
            </a:r>
            <a:endParaRPr lang="en-US" sz="1300" dirty="0"/>
          </a:p>
        </p:txBody>
      </p:sp>
      <p:sp>
        <p:nvSpPr>
          <p:cNvPr id="8" name="Text 6"/>
          <p:cNvSpPr/>
          <p:nvPr/>
        </p:nvSpPr>
        <p:spPr>
          <a:xfrm>
            <a:off x="640080" y="2926080"/>
            <a:ext cx="1737360" cy="640080"/>
          </a:xfrm>
          <a:prstGeom prst="rect">
            <a:avLst/>
          </a:prstGeom>
          <a:noFill/>
          <a:ln/>
        </p:spPr>
        <p:txBody>
          <a:bodyPr wrap="square" rtlCol="0" anchor="ctr"/>
          <a:lstStyle/>
          <a:p>
            <a:pPr marL="0" indent="0" algn="ctr">
              <a:buNone/>
            </a:pPr>
            <a:r>
              <a:rPr lang="en-US" sz="1000" i="1" dirty="0">
                <a:solidFill>
                  <a:srgbClr val="545454"/>
                </a:solidFill>
                <a:latin typeface="Calibri" pitchFamily="34" charset="0"/>
                <a:ea typeface="Calibri" pitchFamily="34" charset="-122"/>
                <a:cs typeface="Calibri" pitchFamily="34" charset="-120"/>
              </a:rPr>
              <a:t>Harness as a product</a:t>
            </a:r>
            <a:endParaRPr lang="en-US" sz="1000" dirty="0"/>
          </a:p>
        </p:txBody>
      </p:sp>
      <p:sp>
        <p:nvSpPr>
          <p:cNvPr id="9" name="Shape 7"/>
          <p:cNvSpPr/>
          <p:nvPr/>
        </p:nvSpPr>
        <p:spPr>
          <a:xfrm>
            <a:off x="2606040" y="1645920"/>
            <a:ext cx="1920240" cy="2011680"/>
          </a:xfrm>
          <a:prstGeom prst="roundRect">
            <a:avLst>
              <a:gd name="adj" fmla="val 3810"/>
            </a:avLst>
          </a:prstGeom>
          <a:solidFill>
            <a:srgbClr val="FFFFFF"/>
          </a:solidFill>
          <a:ln w="19050">
            <a:solidFill>
              <a:srgbClr val="393939"/>
            </a:solidFill>
            <a:prstDash val="solid"/>
          </a:ln>
        </p:spPr>
        <p:txBody>
          <a:bodyPr/>
          <a:lstStyle/>
          <a:p>
            <a:endParaRPr lang="en-TR"/>
          </a:p>
        </p:txBody>
      </p:sp>
      <p:sp>
        <p:nvSpPr>
          <p:cNvPr id="10" name="Text 8"/>
          <p:cNvSpPr/>
          <p:nvPr/>
        </p:nvSpPr>
        <p:spPr>
          <a:xfrm>
            <a:off x="2697480" y="1783080"/>
            <a:ext cx="1737360" cy="457200"/>
          </a:xfrm>
          <a:prstGeom prst="rect">
            <a:avLst/>
          </a:prstGeom>
          <a:noFill/>
          <a:ln/>
        </p:spPr>
        <p:txBody>
          <a:bodyPr wrap="square" rtlCol="0" anchor="ctr"/>
          <a:lstStyle/>
          <a:p>
            <a:pPr marL="0" indent="0" algn="ctr">
              <a:buNone/>
            </a:pPr>
            <a:r>
              <a:rPr lang="en-US" sz="1800" b="1" dirty="0">
                <a:solidFill>
                  <a:srgbClr val="393939"/>
                </a:solidFill>
                <a:latin typeface="Calibri" pitchFamily="34" charset="0"/>
                <a:ea typeface="Calibri" pitchFamily="34" charset="-122"/>
                <a:cs typeface="Calibri" pitchFamily="34" charset="-120"/>
              </a:rPr>
              <a:t>OpenAI</a:t>
            </a:r>
            <a:endParaRPr lang="en-US" sz="1800" dirty="0"/>
          </a:p>
        </p:txBody>
      </p:sp>
      <p:sp>
        <p:nvSpPr>
          <p:cNvPr id="11" name="Shape 9"/>
          <p:cNvSpPr/>
          <p:nvPr/>
        </p:nvSpPr>
        <p:spPr>
          <a:xfrm>
            <a:off x="3063240" y="2331720"/>
            <a:ext cx="1005840" cy="0"/>
          </a:xfrm>
          <a:prstGeom prst="line">
            <a:avLst/>
          </a:prstGeom>
          <a:noFill/>
          <a:ln w="25400">
            <a:solidFill>
              <a:srgbClr val="65D7DE"/>
            </a:solidFill>
            <a:prstDash val="solid"/>
          </a:ln>
        </p:spPr>
        <p:txBody>
          <a:bodyPr/>
          <a:lstStyle/>
          <a:p>
            <a:endParaRPr lang="en-TR"/>
          </a:p>
        </p:txBody>
      </p:sp>
      <p:sp>
        <p:nvSpPr>
          <p:cNvPr id="12" name="Text 10"/>
          <p:cNvSpPr/>
          <p:nvPr/>
        </p:nvSpPr>
        <p:spPr>
          <a:xfrm>
            <a:off x="2697480" y="2423160"/>
            <a:ext cx="1737360" cy="457200"/>
          </a:xfrm>
          <a:prstGeom prst="rect">
            <a:avLst/>
          </a:prstGeom>
          <a:noFill/>
          <a:ln/>
        </p:spPr>
        <p:txBody>
          <a:bodyPr wrap="square" rtlCol="0" anchor="ctr"/>
          <a:lstStyle/>
          <a:p>
            <a:pPr marL="0" indent="0" algn="ctr">
              <a:buNone/>
            </a:pPr>
            <a:r>
              <a:rPr lang="en-US" sz="1300" dirty="0">
                <a:solidFill>
                  <a:srgbClr val="2D9BA3"/>
                </a:solidFill>
                <a:latin typeface="Calibri" pitchFamily="34" charset="0"/>
                <a:ea typeface="Calibri" pitchFamily="34" charset="-122"/>
                <a:cs typeface="Calibri" pitchFamily="34" charset="-120"/>
              </a:rPr>
              <a:t>Agents SDK</a:t>
            </a:r>
            <a:endParaRPr lang="en-US" sz="1300" dirty="0"/>
          </a:p>
        </p:txBody>
      </p:sp>
      <p:sp>
        <p:nvSpPr>
          <p:cNvPr id="13" name="Text 11"/>
          <p:cNvSpPr/>
          <p:nvPr/>
        </p:nvSpPr>
        <p:spPr>
          <a:xfrm>
            <a:off x="2697480" y="2926080"/>
            <a:ext cx="1737360" cy="640080"/>
          </a:xfrm>
          <a:prstGeom prst="rect">
            <a:avLst/>
          </a:prstGeom>
          <a:noFill/>
          <a:ln/>
        </p:spPr>
        <p:txBody>
          <a:bodyPr wrap="square" rtlCol="0" anchor="ctr"/>
          <a:lstStyle/>
          <a:p>
            <a:pPr marL="0" indent="0" algn="ctr">
              <a:buNone/>
            </a:pPr>
            <a:r>
              <a:rPr lang="en-US" sz="1000" i="1" dirty="0">
                <a:solidFill>
                  <a:srgbClr val="545454"/>
                </a:solidFill>
                <a:latin typeface="Calibri" pitchFamily="34" charset="0"/>
                <a:ea typeface="Calibri" pitchFamily="34" charset="-122"/>
                <a:cs typeface="Calibri" pitchFamily="34" charset="-120"/>
              </a:rPr>
              <a:t>Open-source harness</a:t>
            </a:r>
            <a:endParaRPr lang="en-US" sz="1000" dirty="0"/>
          </a:p>
        </p:txBody>
      </p:sp>
      <p:sp>
        <p:nvSpPr>
          <p:cNvPr id="14" name="Shape 12"/>
          <p:cNvSpPr/>
          <p:nvPr/>
        </p:nvSpPr>
        <p:spPr>
          <a:xfrm>
            <a:off x="4663440" y="1645920"/>
            <a:ext cx="1920240" cy="2011680"/>
          </a:xfrm>
          <a:prstGeom prst="roundRect">
            <a:avLst>
              <a:gd name="adj" fmla="val 3810"/>
            </a:avLst>
          </a:prstGeom>
          <a:solidFill>
            <a:srgbClr val="FFFFFF"/>
          </a:solidFill>
          <a:ln w="19050">
            <a:solidFill>
              <a:srgbClr val="393939"/>
            </a:solidFill>
            <a:prstDash val="solid"/>
          </a:ln>
        </p:spPr>
        <p:txBody>
          <a:bodyPr/>
          <a:lstStyle/>
          <a:p>
            <a:endParaRPr lang="en-TR"/>
          </a:p>
        </p:txBody>
      </p:sp>
      <p:sp>
        <p:nvSpPr>
          <p:cNvPr id="15" name="Text 13"/>
          <p:cNvSpPr/>
          <p:nvPr/>
        </p:nvSpPr>
        <p:spPr>
          <a:xfrm>
            <a:off x="4754880" y="1783080"/>
            <a:ext cx="1737360" cy="457200"/>
          </a:xfrm>
          <a:prstGeom prst="rect">
            <a:avLst/>
          </a:prstGeom>
          <a:noFill/>
          <a:ln/>
        </p:spPr>
        <p:txBody>
          <a:bodyPr wrap="square" rtlCol="0" anchor="ctr"/>
          <a:lstStyle/>
          <a:p>
            <a:pPr marL="0" indent="0" algn="ctr">
              <a:buNone/>
            </a:pPr>
            <a:r>
              <a:rPr lang="en-US" sz="1800" b="1" dirty="0">
                <a:solidFill>
                  <a:srgbClr val="393939"/>
                </a:solidFill>
                <a:latin typeface="Calibri" pitchFamily="34" charset="0"/>
                <a:ea typeface="Calibri" pitchFamily="34" charset="-122"/>
                <a:cs typeface="Calibri" pitchFamily="34" charset="-120"/>
              </a:rPr>
              <a:t>Microsoft</a:t>
            </a:r>
            <a:endParaRPr lang="en-US" sz="1800" dirty="0"/>
          </a:p>
        </p:txBody>
      </p:sp>
      <p:sp>
        <p:nvSpPr>
          <p:cNvPr id="16" name="Shape 14"/>
          <p:cNvSpPr/>
          <p:nvPr/>
        </p:nvSpPr>
        <p:spPr>
          <a:xfrm>
            <a:off x="5120640" y="2331720"/>
            <a:ext cx="1005840" cy="0"/>
          </a:xfrm>
          <a:prstGeom prst="line">
            <a:avLst/>
          </a:prstGeom>
          <a:noFill/>
          <a:ln w="25400">
            <a:solidFill>
              <a:srgbClr val="65D7DE"/>
            </a:solidFill>
            <a:prstDash val="solid"/>
          </a:ln>
        </p:spPr>
        <p:txBody>
          <a:bodyPr/>
          <a:lstStyle/>
          <a:p>
            <a:endParaRPr lang="en-TR"/>
          </a:p>
        </p:txBody>
      </p:sp>
      <p:sp>
        <p:nvSpPr>
          <p:cNvPr id="17" name="Text 15"/>
          <p:cNvSpPr/>
          <p:nvPr/>
        </p:nvSpPr>
        <p:spPr>
          <a:xfrm>
            <a:off x="4754880" y="2423160"/>
            <a:ext cx="1737360" cy="457200"/>
          </a:xfrm>
          <a:prstGeom prst="rect">
            <a:avLst/>
          </a:prstGeom>
          <a:noFill/>
          <a:ln/>
        </p:spPr>
        <p:txBody>
          <a:bodyPr wrap="square" rtlCol="0" anchor="ctr"/>
          <a:lstStyle/>
          <a:p>
            <a:pPr marL="0" indent="0" algn="ctr">
              <a:buNone/>
            </a:pPr>
            <a:r>
              <a:rPr lang="en-US" sz="1300" dirty="0">
                <a:solidFill>
                  <a:srgbClr val="2D9BA3"/>
                </a:solidFill>
                <a:latin typeface="Calibri" pitchFamily="34" charset="0"/>
                <a:ea typeface="Calibri" pitchFamily="34" charset="-122"/>
                <a:cs typeface="Calibri" pitchFamily="34" charset="-120"/>
              </a:rPr>
              <a:t>Foundry Agent</a:t>
            </a:r>
            <a:endParaRPr lang="en-US" sz="1300" dirty="0"/>
          </a:p>
        </p:txBody>
      </p:sp>
      <p:sp>
        <p:nvSpPr>
          <p:cNvPr id="18" name="Text 16"/>
          <p:cNvSpPr/>
          <p:nvPr/>
        </p:nvSpPr>
        <p:spPr>
          <a:xfrm>
            <a:off x="4754880" y="2926080"/>
            <a:ext cx="1737360" cy="640080"/>
          </a:xfrm>
          <a:prstGeom prst="rect">
            <a:avLst/>
          </a:prstGeom>
          <a:noFill/>
          <a:ln/>
        </p:spPr>
        <p:txBody>
          <a:bodyPr wrap="square" rtlCol="0" anchor="ctr"/>
          <a:lstStyle/>
          <a:p>
            <a:pPr marL="0" indent="0" algn="ctr">
              <a:buNone/>
            </a:pPr>
            <a:r>
              <a:rPr lang="en-US" sz="1000" i="1" dirty="0">
                <a:solidFill>
                  <a:srgbClr val="545454"/>
                </a:solidFill>
                <a:latin typeface="Calibri" pitchFamily="34" charset="0"/>
                <a:ea typeface="Calibri" pitchFamily="34" charset="-122"/>
                <a:cs typeface="Calibri" pitchFamily="34" charset="-120"/>
              </a:rPr>
              <a:t>Identity + Governance</a:t>
            </a:r>
            <a:endParaRPr lang="en-US" sz="1000" dirty="0"/>
          </a:p>
        </p:txBody>
      </p:sp>
      <p:sp>
        <p:nvSpPr>
          <p:cNvPr id="19" name="Shape 17"/>
          <p:cNvSpPr/>
          <p:nvPr/>
        </p:nvSpPr>
        <p:spPr>
          <a:xfrm>
            <a:off x="6720840" y="1645920"/>
            <a:ext cx="1920240" cy="2011680"/>
          </a:xfrm>
          <a:prstGeom prst="roundRect">
            <a:avLst>
              <a:gd name="adj" fmla="val 3810"/>
            </a:avLst>
          </a:prstGeom>
          <a:solidFill>
            <a:srgbClr val="FFFFFF"/>
          </a:solidFill>
          <a:ln w="19050">
            <a:solidFill>
              <a:srgbClr val="393939"/>
            </a:solidFill>
            <a:prstDash val="solid"/>
          </a:ln>
        </p:spPr>
        <p:txBody>
          <a:bodyPr/>
          <a:lstStyle/>
          <a:p>
            <a:endParaRPr lang="en-TR"/>
          </a:p>
        </p:txBody>
      </p:sp>
      <p:sp>
        <p:nvSpPr>
          <p:cNvPr id="20" name="Text 18"/>
          <p:cNvSpPr/>
          <p:nvPr/>
        </p:nvSpPr>
        <p:spPr>
          <a:xfrm>
            <a:off x="6812280" y="1783080"/>
            <a:ext cx="1737360" cy="457200"/>
          </a:xfrm>
          <a:prstGeom prst="rect">
            <a:avLst/>
          </a:prstGeom>
          <a:noFill/>
          <a:ln/>
        </p:spPr>
        <p:txBody>
          <a:bodyPr wrap="square" rtlCol="0" anchor="ctr"/>
          <a:lstStyle/>
          <a:p>
            <a:pPr marL="0" indent="0" algn="ctr">
              <a:buNone/>
            </a:pPr>
            <a:r>
              <a:rPr lang="en-US" sz="1800" b="1" dirty="0">
                <a:solidFill>
                  <a:srgbClr val="393939"/>
                </a:solidFill>
                <a:latin typeface="Calibri" pitchFamily="34" charset="0"/>
                <a:ea typeface="Calibri" pitchFamily="34" charset="-122"/>
                <a:cs typeface="Calibri" pitchFamily="34" charset="-120"/>
              </a:rPr>
              <a:t>AWS</a:t>
            </a:r>
            <a:endParaRPr lang="en-US" sz="1800" dirty="0"/>
          </a:p>
        </p:txBody>
      </p:sp>
      <p:sp>
        <p:nvSpPr>
          <p:cNvPr id="21" name="Shape 19"/>
          <p:cNvSpPr/>
          <p:nvPr/>
        </p:nvSpPr>
        <p:spPr>
          <a:xfrm>
            <a:off x="7178040" y="2331720"/>
            <a:ext cx="1005840" cy="0"/>
          </a:xfrm>
          <a:prstGeom prst="line">
            <a:avLst/>
          </a:prstGeom>
          <a:noFill/>
          <a:ln w="25400">
            <a:solidFill>
              <a:srgbClr val="65D7DE"/>
            </a:solidFill>
            <a:prstDash val="solid"/>
          </a:ln>
        </p:spPr>
        <p:txBody>
          <a:bodyPr/>
          <a:lstStyle/>
          <a:p>
            <a:endParaRPr lang="en-TR"/>
          </a:p>
        </p:txBody>
      </p:sp>
      <p:sp>
        <p:nvSpPr>
          <p:cNvPr id="22" name="Text 20"/>
          <p:cNvSpPr/>
          <p:nvPr/>
        </p:nvSpPr>
        <p:spPr>
          <a:xfrm>
            <a:off x="6812280" y="2423160"/>
            <a:ext cx="1737360" cy="457200"/>
          </a:xfrm>
          <a:prstGeom prst="rect">
            <a:avLst/>
          </a:prstGeom>
          <a:noFill/>
          <a:ln/>
        </p:spPr>
        <p:txBody>
          <a:bodyPr wrap="square" rtlCol="0" anchor="ctr"/>
          <a:lstStyle/>
          <a:p>
            <a:pPr marL="0" indent="0" algn="ctr">
              <a:buNone/>
            </a:pPr>
            <a:r>
              <a:rPr lang="en-US" sz="1300" dirty="0">
                <a:solidFill>
                  <a:srgbClr val="2D9BA3"/>
                </a:solidFill>
                <a:latin typeface="Calibri" pitchFamily="34" charset="0"/>
                <a:ea typeface="Calibri" pitchFamily="34" charset="-122"/>
                <a:cs typeface="Calibri" pitchFamily="34" charset="-120"/>
              </a:rPr>
              <a:t>Bedrock AgentCore</a:t>
            </a:r>
            <a:endParaRPr lang="en-US" sz="1300" dirty="0"/>
          </a:p>
        </p:txBody>
      </p:sp>
      <p:sp>
        <p:nvSpPr>
          <p:cNvPr id="23" name="Text 21"/>
          <p:cNvSpPr/>
          <p:nvPr/>
        </p:nvSpPr>
        <p:spPr>
          <a:xfrm>
            <a:off x="6812280" y="2926080"/>
            <a:ext cx="1737360" cy="640080"/>
          </a:xfrm>
          <a:prstGeom prst="rect">
            <a:avLst/>
          </a:prstGeom>
          <a:noFill/>
          <a:ln/>
        </p:spPr>
        <p:txBody>
          <a:bodyPr wrap="square" rtlCol="0" anchor="ctr"/>
          <a:lstStyle/>
          <a:p>
            <a:pPr marL="0" indent="0" algn="ctr">
              <a:buNone/>
            </a:pPr>
            <a:r>
              <a:rPr lang="en-US" sz="1000" i="1" dirty="0">
                <a:solidFill>
                  <a:srgbClr val="545454"/>
                </a:solidFill>
                <a:latin typeface="Calibri" pitchFamily="34" charset="0"/>
                <a:ea typeface="Calibri" pitchFamily="34" charset="-122"/>
                <a:cs typeface="Calibri" pitchFamily="34" charset="-120"/>
              </a:rPr>
              <a:t>Runtime + Observability</a:t>
            </a:r>
            <a:endParaRPr lang="en-US" sz="1000" dirty="0"/>
          </a:p>
        </p:txBody>
      </p:sp>
      <p:sp>
        <p:nvSpPr>
          <p:cNvPr id="24" name="Shape 22"/>
          <p:cNvSpPr/>
          <p:nvPr/>
        </p:nvSpPr>
        <p:spPr>
          <a:xfrm>
            <a:off x="0" y="4023360"/>
            <a:ext cx="9144000" cy="640080"/>
          </a:xfrm>
          <a:prstGeom prst="rect">
            <a:avLst/>
          </a:prstGeom>
          <a:solidFill>
            <a:srgbClr val="FFCC4F"/>
          </a:solidFill>
          <a:ln w="12700">
            <a:solidFill>
              <a:srgbClr val="FFCC4F"/>
            </a:solidFill>
            <a:prstDash val="solid"/>
          </a:ln>
        </p:spPr>
        <p:txBody>
          <a:bodyPr/>
          <a:lstStyle/>
          <a:p>
            <a:endParaRPr lang="en-TR"/>
          </a:p>
        </p:txBody>
      </p:sp>
      <p:sp>
        <p:nvSpPr>
          <p:cNvPr id="25" name="Text 23"/>
          <p:cNvSpPr/>
          <p:nvPr/>
        </p:nvSpPr>
        <p:spPr>
          <a:xfrm>
            <a:off x="548640" y="4069080"/>
            <a:ext cx="8229600" cy="548640"/>
          </a:xfrm>
          <a:prstGeom prst="rect">
            <a:avLst/>
          </a:prstGeom>
          <a:noFill/>
          <a:ln/>
        </p:spPr>
        <p:txBody>
          <a:bodyPr wrap="square" rtlCol="0" anchor="ctr"/>
          <a:lstStyle/>
          <a:p>
            <a:pPr marL="0" indent="0" algn="ctr">
              <a:buNone/>
            </a:pPr>
            <a:r>
              <a:rPr lang="en-US" sz="1200" b="1" dirty="0">
                <a:solidFill>
                  <a:srgbClr val="393939"/>
                </a:solidFill>
                <a:latin typeface="Calibri" pitchFamily="34" charset="0"/>
                <a:ea typeface="Calibri" pitchFamily="34" charset="-122"/>
                <a:cs typeface="Calibri" pitchFamily="34" charset="-120"/>
              </a:rPr>
              <a:t>Microsoft Agent Governance Toolkit  •  Nisan 2026  •  OWASP'ın 10 agentic AI riskini deterministik politika enforcement ile çözüyor.</a:t>
            </a:r>
            <a:endParaRPr lang="en-US" sz="1200" dirty="0"/>
          </a:p>
        </p:txBody>
      </p:sp>
      <p:sp>
        <p:nvSpPr>
          <p:cNvPr id="26" name="Text 24"/>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545454"/>
                </a:solidFill>
                <a:latin typeface="Calibri" pitchFamily="34" charset="0"/>
                <a:ea typeface="Calibri" pitchFamily="34" charset="-122"/>
                <a:cs typeface="Calibri" pitchFamily="34" charset="-120"/>
              </a:rPr>
              <a:t>8 / 29  •  Çerçeve</a:t>
            </a:r>
            <a:endParaRPr lang="en-US" sz="900" dirty="0"/>
          </a:p>
        </p:txBody>
      </p:sp>
      <p:sp>
        <p:nvSpPr>
          <p:cNvPr id="27" name="Text 25"/>
          <p:cNvSpPr/>
          <p:nvPr/>
        </p:nvSpPr>
        <p:spPr>
          <a:xfrm>
            <a:off x="274320" y="4846320"/>
            <a:ext cx="1371600" cy="228600"/>
          </a:xfrm>
          <a:prstGeom prst="rect">
            <a:avLst/>
          </a:prstGeom>
          <a:noFill/>
          <a:ln/>
        </p:spPr>
        <p:txBody>
          <a:bodyPr wrap="square" rtlCol="0" anchor="ctr"/>
          <a:lstStyle/>
          <a:p>
            <a:pPr marL="0" indent="0">
              <a:buNone/>
            </a:pPr>
            <a:r>
              <a:rPr lang="en-US" sz="900" dirty="0">
                <a:solidFill>
                  <a:srgbClr val="545454"/>
                </a:solidFill>
                <a:latin typeface="Calibri" pitchFamily="34" charset="0"/>
                <a:ea typeface="Calibri" pitchFamily="34" charset="-122"/>
                <a:cs typeface="Calibri" pitchFamily="34" charset="-120"/>
              </a:rPr>
              <a:t>&lt; softtech</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548640"/>
          </a:xfrm>
          <a:prstGeom prst="rect">
            <a:avLst/>
          </a:prstGeom>
          <a:noFill/>
          <a:ln/>
        </p:spPr>
        <p:txBody>
          <a:bodyPr wrap="square" rtlCol="0" anchor="ctr"/>
          <a:lstStyle/>
          <a:p>
            <a:pPr marL="0" indent="0">
              <a:buNone/>
            </a:pPr>
            <a:r>
              <a:rPr lang="en-US" sz="2600" b="1" dirty="0">
                <a:solidFill>
                  <a:srgbClr val="393939"/>
                </a:solidFill>
                <a:latin typeface="Calibri" pitchFamily="34" charset="0"/>
                <a:ea typeface="Calibri" pitchFamily="34" charset="-122"/>
                <a:cs typeface="Calibri" pitchFamily="34" charset="-120"/>
              </a:rPr>
              <a:t>Model / Framework / Runtime / Harness</a:t>
            </a:r>
            <a:endParaRPr lang="en-US" sz="2600" dirty="0"/>
          </a:p>
        </p:txBody>
      </p:sp>
      <p:sp>
        <p:nvSpPr>
          <p:cNvPr id="3" name="Text 1"/>
          <p:cNvSpPr/>
          <p:nvPr/>
        </p:nvSpPr>
        <p:spPr>
          <a:xfrm>
            <a:off x="548640" y="1005840"/>
            <a:ext cx="8229600" cy="365760"/>
          </a:xfrm>
          <a:prstGeom prst="rect">
            <a:avLst/>
          </a:prstGeom>
          <a:noFill/>
          <a:ln/>
        </p:spPr>
        <p:txBody>
          <a:bodyPr wrap="square" rtlCol="0" anchor="ctr"/>
          <a:lstStyle/>
          <a:p>
            <a:pPr marL="0" indent="0">
              <a:buNone/>
            </a:pPr>
            <a:r>
              <a:rPr lang="en-US" sz="1400" i="1" dirty="0">
                <a:solidFill>
                  <a:srgbClr val="545454"/>
                </a:solidFill>
                <a:latin typeface="Calibri" pitchFamily="34" charset="0"/>
                <a:ea typeface="Calibri" pitchFamily="34" charset="-122"/>
                <a:cs typeface="Calibri" pitchFamily="34" charset="-120"/>
              </a:rPr>
              <a:t>Her katman farklı bir soruya cevap verir.</a:t>
            </a:r>
            <a:endParaRPr lang="en-US" sz="1400" dirty="0"/>
          </a:p>
        </p:txBody>
      </p:sp>
      <p:sp>
        <p:nvSpPr>
          <p:cNvPr id="4" name="Shape 2"/>
          <p:cNvSpPr/>
          <p:nvPr/>
        </p:nvSpPr>
        <p:spPr>
          <a:xfrm>
            <a:off x="548640" y="1554480"/>
            <a:ext cx="8229600" cy="777240"/>
          </a:xfrm>
          <a:prstGeom prst="rect">
            <a:avLst/>
          </a:prstGeom>
          <a:solidFill>
            <a:srgbClr val="8AF7FB"/>
          </a:solidFill>
          <a:ln w="12700">
            <a:solidFill>
              <a:srgbClr val="8AF7FB"/>
            </a:solidFill>
            <a:prstDash val="solid"/>
          </a:ln>
        </p:spPr>
        <p:txBody>
          <a:bodyPr/>
          <a:lstStyle/>
          <a:p>
            <a:endParaRPr lang="en-TR"/>
          </a:p>
        </p:txBody>
      </p:sp>
      <p:sp>
        <p:nvSpPr>
          <p:cNvPr id="5" name="Text 3"/>
          <p:cNvSpPr/>
          <p:nvPr/>
        </p:nvSpPr>
        <p:spPr>
          <a:xfrm>
            <a:off x="822960" y="1554480"/>
            <a:ext cx="2743200" cy="777240"/>
          </a:xfrm>
          <a:prstGeom prst="rect">
            <a:avLst/>
          </a:prstGeom>
          <a:noFill/>
          <a:ln/>
        </p:spPr>
        <p:txBody>
          <a:bodyPr wrap="square" rtlCol="0" anchor="ctr"/>
          <a:lstStyle/>
          <a:p>
            <a:pPr marL="0" indent="0">
              <a:buNone/>
            </a:pPr>
            <a:r>
              <a:rPr lang="en-US" sz="2200" b="1" dirty="0">
                <a:solidFill>
                  <a:srgbClr val="393939"/>
                </a:solidFill>
                <a:latin typeface="Calibri" pitchFamily="34" charset="0"/>
                <a:ea typeface="Calibri" pitchFamily="34" charset="-122"/>
                <a:cs typeface="Calibri" pitchFamily="34" charset="-120"/>
              </a:rPr>
              <a:t>Model</a:t>
            </a:r>
            <a:endParaRPr lang="en-US" sz="2200" dirty="0"/>
          </a:p>
        </p:txBody>
      </p:sp>
      <p:sp>
        <p:nvSpPr>
          <p:cNvPr id="6" name="Text 4"/>
          <p:cNvSpPr/>
          <p:nvPr/>
        </p:nvSpPr>
        <p:spPr>
          <a:xfrm>
            <a:off x="3657600" y="1554480"/>
            <a:ext cx="457200" cy="777240"/>
          </a:xfrm>
          <a:prstGeom prst="rect">
            <a:avLst/>
          </a:prstGeom>
          <a:noFill/>
          <a:ln/>
        </p:spPr>
        <p:txBody>
          <a:bodyPr wrap="square" rtlCol="0" anchor="ctr"/>
          <a:lstStyle/>
          <a:p>
            <a:pPr marL="0" indent="0">
              <a:buNone/>
            </a:pPr>
            <a:r>
              <a:rPr lang="en-US" sz="2200" b="1" dirty="0">
                <a:solidFill>
                  <a:srgbClr val="393939"/>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4206240" y="1554480"/>
            <a:ext cx="4389120" cy="777240"/>
          </a:xfrm>
          <a:prstGeom prst="rect">
            <a:avLst/>
          </a:prstGeom>
          <a:noFill/>
          <a:ln/>
        </p:spPr>
        <p:txBody>
          <a:bodyPr wrap="square" rtlCol="0" anchor="ctr"/>
          <a:lstStyle/>
          <a:p>
            <a:pPr marL="0" indent="0">
              <a:buNone/>
            </a:pPr>
            <a:r>
              <a:rPr lang="en-US" sz="1600" i="1" dirty="0">
                <a:solidFill>
                  <a:srgbClr val="393939"/>
                </a:solidFill>
                <a:latin typeface="Calibri" pitchFamily="34" charset="0"/>
                <a:ea typeface="Calibri" pitchFamily="34" charset="-122"/>
                <a:cs typeface="Calibri" pitchFamily="34" charset="-120"/>
              </a:rPr>
              <a:t>Ne yapılmalı?</a:t>
            </a:r>
            <a:endParaRPr lang="en-US" sz="1600" dirty="0"/>
          </a:p>
        </p:txBody>
      </p:sp>
      <p:sp>
        <p:nvSpPr>
          <p:cNvPr id="8" name="Shape 6"/>
          <p:cNvSpPr/>
          <p:nvPr/>
        </p:nvSpPr>
        <p:spPr>
          <a:xfrm>
            <a:off x="548640" y="2377440"/>
            <a:ext cx="8229600" cy="777240"/>
          </a:xfrm>
          <a:prstGeom prst="rect">
            <a:avLst/>
          </a:prstGeom>
          <a:solidFill>
            <a:srgbClr val="65D7DE"/>
          </a:solidFill>
          <a:ln w="12700">
            <a:solidFill>
              <a:srgbClr val="65D7DE"/>
            </a:solidFill>
            <a:prstDash val="solid"/>
          </a:ln>
        </p:spPr>
        <p:txBody>
          <a:bodyPr/>
          <a:lstStyle/>
          <a:p>
            <a:endParaRPr lang="en-TR"/>
          </a:p>
        </p:txBody>
      </p:sp>
      <p:sp>
        <p:nvSpPr>
          <p:cNvPr id="9" name="Text 7"/>
          <p:cNvSpPr/>
          <p:nvPr/>
        </p:nvSpPr>
        <p:spPr>
          <a:xfrm>
            <a:off x="822960" y="2377440"/>
            <a:ext cx="2743200" cy="777240"/>
          </a:xfrm>
          <a:prstGeom prst="rect">
            <a:avLst/>
          </a:prstGeom>
          <a:noFill/>
          <a:ln/>
        </p:spPr>
        <p:txBody>
          <a:bodyPr wrap="square" rtlCol="0" anchor="ctr"/>
          <a:lstStyle/>
          <a:p>
            <a:pPr marL="0" indent="0">
              <a:buNone/>
            </a:pPr>
            <a:r>
              <a:rPr lang="en-US" sz="2200" b="1" dirty="0">
                <a:solidFill>
                  <a:srgbClr val="393939"/>
                </a:solidFill>
                <a:latin typeface="Calibri" pitchFamily="34" charset="0"/>
                <a:ea typeface="Calibri" pitchFamily="34" charset="-122"/>
                <a:cs typeface="Calibri" pitchFamily="34" charset="-120"/>
              </a:rPr>
              <a:t>Framework</a:t>
            </a:r>
            <a:endParaRPr lang="en-US" sz="2200" dirty="0"/>
          </a:p>
        </p:txBody>
      </p:sp>
      <p:sp>
        <p:nvSpPr>
          <p:cNvPr id="10" name="Text 8"/>
          <p:cNvSpPr/>
          <p:nvPr/>
        </p:nvSpPr>
        <p:spPr>
          <a:xfrm>
            <a:off x="3657600" y="2377440"/>
            <a:ext cx="457200" cy="777240"/>
          </a:xfrm>
          <a:prstGeom prst="rect">
            <a:avLst/>
          </a:prstGeom>
          <a:noFill/>
          <a:ln/>
        </p:spPr>
        <p:txBody>
          <a:bodyPr wrap="square" rtlCol="0" anchor="ctr"/>
          <a:lstStyle/>
          <a:p>
            <a:pPr marL="0" indent="0">
              <a:buNone/>
            </a:pPr>
            <a:r>
              <a:rPr lang="en-US" sz="2200" b="1" dirty="0">
                <a:solidFill>
                  <a:srgbClr val="393939"/>
                </a:solidFill>
                <a:latin typeface="Calibri" pitchFamily="34" charset="0"/>
                <a:ea typeface="Calibri" pitchFamily="34" charset="-122"/>
                <a:cs typeface="Calibri" pitchFamily="34" charset="-120"/>
              </a:rPr>
              <a:t>→</a:t>
            </a:r>
            <a:endParaRPr lang="en-US" sz="2200" dirty="0"/>
          </a:p>
        </p:txBody>
      </p:sp>
      <p:sp>
        <p:nvSpPr>
          <p:cNvPr id="11" name="Text 9"/>
          <p:cNvSpPr/>
          <p:nvPr/>
        </p:nvSpPr>
        <p:spPr>
          <a:xfrm>
            <a:off x="4206240" y="2377440"/>
            <a:ext cx="4389120" cy="777240"/>
          </a:xfrm>
          <a:prstGeom prst="rect">
            <a:avLst/>
          </a:prstGeom>
          <a:noFill/>
          <a:ln/>
        </p:spPr>
        <p:txBody>
          <a:bodyPr wrap="square" rtlCol="0" anchor="ctr"/>
          <a:lstStyle/>
          <a:p>
            <a:pPr marL="0" indent="0">
              <a:buNone/>
            </a:pPr>
            <a:r>
              <a:rPr lang="en-US" sz="1600" i="1" dirty="0">
                <a:solidFill>
                  <a:srgbClr val="393939"/>
                </a:solidFill>
                <a:latin typeface="Calibri" pitchFamily="34" charset="0"/>
                <a:ea typeface="Calibri" pitchFamily="34" charset="-122"/>
                <a:cs typeface="Calibri" pitchFamily="34" charset="-120"/>
              </a:rPr>
              <a:t>Nasıl kodlarım?</a:t>
            </a:r>
            <a:endParaRPr lang="en-US" sz="1600" dirty="0"/>
          </a:p>
        </p:txBody>
      </p:sp>
      <p:sp>
        <p:nvSpPr>
          <p:cNvPr id="12" name="Shape 10"/>
          <p:cNvSpPr/>
          <p:nvPr/>
        </p:nvSpPr>
        <p:spPr>
          <a:xfrm>
            <a:off x="548640" y="3200400"/>
            <a:ext cx="8229600" cy="777240"/>
          </a:xfrm>
          <a:prstGeom prst="rect">
            <a:avLst/>
          </a:prstGeom>
          <a:solidFill>
            <a:srgbClr val="AB80AD"/>
          </a:solidFill>
          <a:ln w="12700">
            <a:solidFill>
              <a:srgbClr val="AB80AD"/>
            </a:solidFill>
            <a:prstDash val="solid"/>
          </a:ln>
        </p:spPr>
        <p:txBody>
          <a:bodyPr/>
          <a:lstStyle/>
          <a:p>
            <a:endParaRPr lang="en-TR"/>
          </a:p>
        </p:txBody>
      </p:sp>
      <p:sp>
        <p:nvSpPr>
          <p:cNvPr id="13" name="Text 11"/>
          <p:cNvSpPr/>
          <p:nvPr/>
        </p:nvSpPr>
        <p:spPr>
          <a:xfrm>
            <a:off x="822960" y="3200400"/>
            <a:ext cx="27432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Runtime</a:t>
            </a:r>
            <a:endParaRPr lang="en-US" sz="2200" dirty="0"/>
          </a:p>
        </p:txBody>
      </p:sp>
      <p:sp>
        <p:nvSpPr>
          <p:cNvPr id="14" name="Text 12"/>
          <p:cNvSpPr/>
          <p:nvPr/>
        </p:nvSpPr>
        <p:spPr>
          <a:xfrm>
            <a:off x="3657600" y="3200400"/>
            <a:ext cx="4572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5" name="Text 13"/>
          <p:cNvSpPr/>
          <p:nvPr/>
        </p:nvSpPr>
        <p:spPr>
          <a:xfrm>
            <a:off x="4206240" y="3200400"/>
            <a:ext cx="4389120" cy="777240"/>
          </a:xfrm>
          <a:prstGeom prst="rect">
            <a:avLst/>
          </a:prstGeom>
          <a:noFill/>
          <a:ln/>
        </p:spPr>
        <p:txBody>
          <a:bodyPr wrap="square"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Akış nasıl ayakta kalır?</a:t>
            </a:r>
            <a:endParaRPr lang="en-US" sz="1600" dirty="0"/>
          </a:p>
        </p:txBody>
      </p:sp>
      <p:sp>
        <p:nvSpPr>
          <p:cNvPr id="16" name="Shape 14"/>
          <p:cNvSpPr/>
          <p:nvPr/>
        </p:nvSpPr>
        <p:spPr>
          <a:xfrm>
            <a:off x="548640" y="4023360"/>
            <a:ext cx="8229600" cy="777240"/>
          </a:xfrm>
          <a:prstGeom prst="rect">
            <a:avLst/>
          </a:prstGeom>
          <a:solidFill>
            <a:srgbClr val="393939"/>
          </a:solidFill>
          <a:ln w="12700">
            <a:solidFill>
              <a:srgbClr val="393939"/>
            </a:solidFill>
            <a:prstDash val="solid"/>
          </a:ln>
        </p:spPr>
        <p:txBody>
          <a:bodyPr/>
          <a:lstStyle/>
          <a:p>
            <a:endParaRPr lang="en-TR"/>
          </a:p>
        </p:txBody>
      </p:sp>
      <p:sp>
        <p:nvSpPr>
          <p:cNvPr id="17" name="Text 15"/>
          <p:cNvSpPr/>
          <p:nvPr/>
        </p:nvSpPr>
        <p:spPr>
          <a:xfrm>
            <a:off x="822960" y="4023360"/>
            <a:ext cx="27432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Harness</a:t>
            </a:r>
            <a:endParaRPr lang="en-US" sz="2200" dirty="0"/>
          </a:p>
        </p:txBody>
      </p:sp>
      <p:sp>
        <p:nvSpPr>
          <p:cNvPr id="18" name="Text 16"/>
          <p:cNvSpPr/>
          <p:nvPr/>
        </p:nvSpPr>
        <p:spPr>
          <a:xfrm>
            <a:off x="3657600" y="4023360"/>
            <a:ext cx="457200" cy="7772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9" name="Text 17"/>
          <p:cNvSpPr/>
          <p:nvPr/>
        </p:nvSpPr>
        <p:spPr>
          <a:xfrm>
            <a:off x="4206240" y="4023360"/>
            <a:ext cx="4389120" cy="777240"/>
          </a:xfrm>
          <a:prstGeom prst="rect">
            <a:avLst/>
          </a:prstGeom>
          <a:noFill/>
          <a:ln/>
        </p:spPr>
        <p:txBody>
          <a:bodyPr wrap="square" rtlCol="0" anchor="ctr"/>
          <a:lstStyle/>
          <a:p>
            <a:pPr marL="0" indent="0">
              <a:buNone/>
            </a:pPr>
            <a:r>
              <a:rPr lang="en-US" sz="1600" i="1" dirty="0">
                <a:solidFill>
                  <a:srgbClr val="FFFFFF"/>
                </a:solidFill>
                <a:latin typeface="Calibri" pitchFamily="34" charset="0"/>
                <a:ea typeface="Calibri" pitchFamily="34" charset="-122"/>
                <a:cs typeface="Calibri" pitchFamily="34" charset="-120"/>
              </a:rPr>
              <a:t>Güvenilir çalışma nasıl sağlanır?</a:t>
            </a:r>
            <a:endParaRPr lang="en-US" sz="1600" dirty="0"/>
          </a:p>
        </p:txBody>
      </p:sp>
      <p:sp>
        <p:nvSpPr>
          <p:cNvPr id="20" name="Text 18"/>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545454"/>
                </a:solidFill>
                <a:latin typeface="Calibri" pitchFamily="34" charset="0"/>
                <a:ea typeface="Calibri" pitchFamily="34" charset="-122"/>
                <a:cs typeface="Calibri" pitchFamily="34" charset="-120"/>
              </a:rPr>
              <a:t>9 / 29  •  Çerçeve</a:t>
            </a:r>
            <a:endParaRPr lang="en-US" sz="900" dirty="0"/>
          </a:p>
        </p:txBody>
      </p:sp>
      <p:sp>
        <p:nvSpPr>
          <p:cNvPr id="21" name="Text 19"/>
          <p:cNvSpPr/>
          <p:nvPr/>
        </p:nvSpPr>
        <p:spPr>
          <a:xfrm>
            <a:off x="274320" y="4846320"/>
            <a:ext cx="1371600" cy="228600"/>
          </a:xfrm>
          <a:prstGeom prst="rect">
            <a:avLst/>
          </a:prstGeom>
          <a:noFill/>
          <a:ln/>
        </p:spPr>
        <p:txBody>
          <a:bodyPr wrap="square" rtlCol="0" anchor="ctr"/>
          <a:lstStyle/>
          <a:p>
            <a:pPr marL="0" indent="0">
              <a:buNone/>
            </a:pPr>
            <a:r>
              <a:rPr lang="en-US" sz="900" dirty="0">
                <a:solidFill>
                  <a:srgbClr val="545454"/>
                </a:solidFill>
                <a:latin typeface="Calibri" pitchFamily="34" charset="0"/>
                <a:ea typeface="Calibri" pitchFamily="34" charset="-122"/>
                <a:cs typeface="Calibri" pitchFamily="34" charset="-120"/>
              </a:rPr>
              <a:t>&lt; softtech</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marL="0" indent="0">
              <a:buNone/>
            </a:pPr>
            <a:r>
              <a:rPr lang="en-US" sz="3600" b="1" dirty="0">
                <a:solidFill>
                  <a:srgbClr val="393939"/>
                </a:solidFill>
                <a:latin typeface="Consolas" pitchFamily="34" charset="0"/>
                <a:ea typeface="Consolas" pitchFamily="34" charset="-122"/>
                <a:cs typeface="Consolas" pitchFamily="34" charset="-120"/>
              </a:rPr>
              <a:t>&lt;/ Identity /&gt;</a:t>
            </a:r>
            <a:endParaRPr lang="en-US" sz="3600" dirty="0"/>
          </a:p>
        </p:txBody>
      </p:sp>
      <p:sp>
        <p:nvSpPr>
          <p:cNvPr id="3" name="Text 1"/>
          <p:cNvSpPr/>
          <p:nvPr/>
        </p:nvSpPr>
        <p:spPr>
          <a:xfrm>
            <a:off x="548640" y="1051560"/>
            <a:ext cx="3657600" cy="274320"/>
          </a:xfrm>
          <a:prstGeom prst="rect">
            <a:avLst/>
          </a:prstGeom>
          <a:noFill/>
          <a:ln/>
        </p:spPr>
        <p:txBody>
          <a:bodyPr wrap="square" rtlCol="0" anchor="ctr"/>
          <a:lstStyle/>
          <a:p>
            <a:pPr marL="0" indent="0">
              <a:buNone/>
            </a:pPr>
            <a:r>
              <a:rPr lang="en-US" sz="1100" kern="0" spc="400" dirty="0">
                <a:solidFill>
                  <a:srgbClr val="2D9BA3"/>
                </a:solidFill>
                <a:latin typeface="Calibri" pitchFamily="34" charset="0"/>
                <a:ea typeface="Calibri" pitchFamily="34" charset="-122"/>
                <a:cs typeface="Calibri" pitchFamily="34" charset="-120"/>
              </a:rPr>
              <a:t>Harness Bileşeni  1 / 10</a:t>
            </a:r>
            <a:endParaRPr lang="en-US" sz="1100" dirty="0"/>
          </a:p>
        </p:txBody>
      </p:sp>
      <p:sp>
        <p:nvSpPr>
          <p:cNvPr id="4" name="Shape 2"/>
          <p:cNvSpPr/>
          <p:nvPr/>
        </p:nvSpPr>
        <p:spPr>
          <a:xfrm>
            <a:off x="548640" y="1828800"/>
            <a:ext cx="2560320" cy="2560320"/>
          </a:xfrm>
          <a:prstGeom prst="ellipse">
            <a:avLst/>
          </a:prstGeom>
          <a:solidFill>
            <a:srgbClr val="65D7DE"/>
          </a:solidFill>
          <a:ln w="12700">
            <a:solidFill>
              <a:srgbClr val="65D7DE"/>
            </a:solidFill>
            <a:prstDash val="solid"/>
          </a:ln>
        </p:spPr>
        <p:txBody>
          <a:bodyPr/>
          <a:lstStyle/>
          <a:p>
            <a:endParaRPr lang="en-TR"/>
          </a:p>
        </p:txBody>
      </p:sp>
      <p:sp>
        <p:nvSpPr>
          <p:cNvPr id="5" name="Text 3"/>
          <p:cNvSpPr/>
          <p:nvPr/>
        </p:nvSpPr>
        <p:spPr>
          <a:xfrm>
            <a:off x="548640" y="1828800"/>
            <a:ext cx="2560320" cy="2560320"/>
          </a:xfrm>
          <a:prstGeom prst="rect">
            <a:avLst/>
          </a:prstGeom>
          <a:noFill/>
          <a:ln/>
        </p:spPr>
        <p:txBody>
          <a:bodyPr wrap="square" rtlCol="0" anchor="ctr"/>
          <a:lstStyle/>
          <a:p>
            <a:pPr marL="0" indent="0" algn="ctr">
              <a:buNone/>
            </a:pPr>
            <a:r>
              <a:rPr lang="en-US" sz="10000" b="1" dirty="0">
                <a:solidFill>
                  <a:srgbClr val="FFFFFF"/>
                </a:solidFill>
                <a:latin typeface="Calibri" pitchFamily="34" charset="0"/>
                <a:ea typeface="Calibri" pitchFamily="34" charset="-122"/>
                <a:cs typeface="Calibri" pitchFamily="34" charset="-120"/>
              </a:rPr>
              <a:t>ID</a:t>
            </a:r>
            <a:endParaRPr lang="en-US" sz="10000" dirty="0"/>
          </a:p>
        </p:txBody>
      </p:sp>
      <p:sp>
        <p:nvSpPr>
          <p:cNvPr id="6" name="Text 4"/>
          <p:cNvSpPr/>
          <p:nvPr/>
        </p:nvSpPr>
        <p:spPr>
          <a:xfrm>
            <a:off x="3657600" y="1783080"/>
            <a:ext cx="5029200" cy="548640"/>
          </a:xfrm>
          <a:prstGeom prst="rect">
            <a:avLst/>
          </a:prstGeom>
          <a:noFill/>
          <a:ln/>
        </p:spPr>
        <p:txBody>
          <a:bodyPr wrap="square" rtlCol="0" anchor="ctr"/>
          <a:lstStyle/>
          <a:p>
            <a:pPr marL="0" indent="0">
              <a:buNone/>
            </a:pPr>
            <a:r>
              <a:rPr lang="en-US" sz="1800" b="1" dirty="0">
                <a:solidFill>
                  <a:srgbClr val="393939"/>
                </a:solidFill>
                <a:latin typeface="Calibri" pitchFamily="34" charset="0"/>
                <a:ea typeface="Calibri" pitchFamily="34" charset="-122"/>
                <a:cs typeface="Calibri" pitchFamily="34" charset="-120"/>
              </a:rPr>
              <a:t>Agent sistemde kim olarak hareket eder?</a:t>
            </a:r>
            <a:endParaRPr lang="en-US" sz="1800" dirty="0"/>
          </a:p>
        </p:txBody>
      </p:sp>
      <p:sp>
        <p:nvSpPr>
          <p:cNvPr id="7" name="Shape 5"/>
          <p:cNvSpPr/>
          <p:nvPr/>
        </p:nvSpPr>
        <p:spPr>
          <a:xfrm>
            <a:off x="3657600" y="2468880"/>
            <a:ext cx="5029200" cy="777240"/>
          </a:xfrm>
          <a:prstGeom prst="roundRect">
            <a:avLst>
              <a:gd name="adj" fmla="val 5882"/>
            </a:avLst>
          </a:prstGeom>
          <a:solidFill>
            <a:srgbClr val="8AF7FB">
              <a:alpha val="40000"/>
            </a:srgbClr>
          </a:solidFill>
          <a:ln w="12700">
            <a:solidFill>
              <a:srgbClr val="65D7DE"/>
            </a:solidFill>
            <a:prstDash val="solid"/>
          </a:ln>
        </p:spPr>
        <p:txBody>
          <a:bodyPr/>
          <a:lstStyle/>
          <a:p>
            <a:endParaRPr lang="en-TR"/>
          </a:p>
        </p:txBody>
      </p:sp>
      <p:sp>
        <p:nvSpPr>
          <p:cNvPr id="8" name="Text 6"/>
          <p:cNvSpPr/>
          <p:nvPr/>
        </p:nvSpPr>
        <p:spPr>
          <a:xfrm>
            <a:off x="3794760" y="2514600"/>
            <a:ext cx="4754880" cy="685800"/>
          </a:xfrm>
          <a:prstGeom prst="rect">
            <a:avLst/>
          </a:prstGeom>
          <a:noFill/>
          <a:ln/>
        </p:spPr>
        <p:txBody>
          <a:bodyPr wrap="square" rtlCol="0" anchor="ctr"/>
          <a:lstStyle/>
          <a:p>
            <a:pPr marL="0" indent="0">
              <a:buNone/>
            </a:pPr>
            <a:r>
              <a:rPr lang="en-US" sz="1200" b="1" dirty="0">
                <a:solidFill>
                  <a:srgbClr val="2D9BA3"/>
                </a:solidFill>
                <a:latin typeface="Calibri" pitchFamily="34" charset="0"/>
                <a:ea typeface="Calibri" pitchFamily="34" charset="-122"/>
                <a:cs typeface="Calibri" pitchFamily="34" charset="-120"/>
              </a:rPr>
              <a:t>Kritik soru:  </a:t>
            </a:r>
            <a:r>
              <a:rPr lang="en-US" sz="1200" i="1" dirty="0">
                <a:solidFill>
                  <a:srgbClr val="393939"/>
                </a:solidFill>
                <a:latin typeface="Calibri" pitchFamily="34" charset="0"/>
                <a:ea typeface="Calibri" pitchFamily="34" charset="-122"/>
                <a:cs typeface="Calibri" pitchFamily="34" charset="-120"/>
              </a:rPr>
              <a:t>Service identity mi, user on-behalf-of mu, delegated mi?</a:t>
            </a:r>
            <a:endParaRPr lang="en-US" sz="1200" dirty="0"/>
          </a:p>
        </p:txBody>
      </p:sp>
      <p:sp>
        <p:nvSpPr>
          <p:cNvPr id="9" name="Shape 7"/>
          <p:cNvSpPr/>
          <p:nvPr/>
        </p:nvSpPr>
        <p:spPr>
          <a:xfrm>
            <a:off x="3657600" y="3383280"/>
            <a:ext cx="5029200" cy="868680"/>
          </a:xfrm>
          <a:prstGeom prst="rect">
            <a:avLst/>
          </a:prstGeom>
          <a:solidFill>
            <a:srgbClr val="393939"/>
          </a:solidFill>
          <a:ln w="12700">
            <a:solidFill>
              <a:srgbClr val="393939"/>
            </a:solidFill>
            <a:prstDash val="solid"/>
          </a:ln>
        </p:spPr>
        <p:txBody>
          <a:bodyPr/>
          <a:lstStyle/>
          <a:p>
            <a:endParaRPr lang="en-TR"/>
          </a:p>
        </p:txBody>
      </p:sp>
      <p:sp>
        <p:nvSpPr>
          <p:cNvPr id="10" name="Text 8"/>
          <p:cNvSpPr/>
          <p:nvPr/>
        </p:nvSpPr>
        <p:spPr>
          <a:xfrm>
            <a:off x="3794760" y="3429000"/>
            <a:ext cx="4754880" cy="777240"/>
          </a:xfrm>
          <a:prstGeom prst="rect">
            <a:avLst/>
          </a:prstGeom>
          <a:noFill/>
          <a:ln/>
        </p:spPr>
        <p:txBody>
          <a:bodyPr wrap="square" rtlCol="0" anchor="ctr"/>
          <a:lstStyle/>
          <a:p>
            <a:pPr marL="0" indent="0">
              <a:buNone/>
            </a:pPr>
            <a:r>
              <a:rPr lang="en-US" sz="1300" b="1" dirty="0">
                <a:solidFill>
                  <a:srgbClr val="65D7DE"/>
                </a:solidFill>
                <a:latin typeface="Calibri" pitchFamily="34" charset="0"/>
                <a:ea typeface="Calibri" pitchFamily="34" charset="-122"/>
                <a:cs typeface="Calibri" pitchFamily="34" charset="-120"/>
              </a:rPr>
              <a:t>Agent kimliği, kullanıcı kimliği kadar ciddi tasarlanmalıdır.</a:t>
            </a:r>
            <a:endParaRPr lang="en-US" sz="1300" dirty="0"/>
          </a:p>
        </p:txBody>
      </p:sp>
      <p:sp>
        <p:nvSpPr>
          <p:cNvPr id="11" name="Text 9"/>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545454"/>
                </a:solidFill>
                <a:latin typeface="Calibri" pitchFamily="34" charset="0"/>
                <a:ea typeface="Calibri" pitchFamily="34" charset="-122"/>
                <a:cs typeface="Calibri" pitchFamily="34" charset="-120"/>
              </a:rPr>
              <a:t>10 / 29  •  Bileşen</a:t>
            </a:r>
            <a:endParaRPr lang="en-US" sz="900" dirty="0"/>
          </a:p>
        </p:txBody>
      </p:sp>
      <p:sp>
        <p:nvSpPr>
          <p:cNvPr id="12" name="Text 10"/>
          <p:cNvSpPr/>
          <p:nvPr/>
        </p:nvSpPr>
        <p:spPr>
          <a:xfrm>
            <a:off x="274320" y="4846320"/>
            <a:ext cx="1371600" cy="228600"/>
          </a:xfrm>
          <a:prstGeom prst="rect">
            <a:avLst/>
          </a:prstGeom>
          <a:noFill/>
          <a:ln/>
        </p:spPr>
        <p:txBody>
          <a:bodyPr wrap="square" rtlCol="0" anchor="ctr"/>
          <a:lstStyle/>
          <a:p>
            <a:pPr marL="0" indent="0">
              <a:buNone/>
            </a:pPr>
            <a:r>
              <a:rPr lang="en-US" sz="900" dirty="0">
                <a:solidFill>
                  <a:srgbClr val="545454"/>
                </a:solidFill>
                <a:latin typeface="Calibri" pitchFamily="34" charset="0"/>
                <a:ea typeface="Calibri" pitchFamily="34" charset="-122"/>
                <a:cs typeface="Calibri" pitchFamily="34" charset="-120"/>
              </a:rPr>
              <a:t>&lt; softtech</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2F2F5"/>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marL="0" indent="0">
              <a:buNone/>
            </a:pPr>
            <a:r>
              <a:rPr lang="en-US" sz="3600" b="1" dirty="0">
                <a:solidFill>
                  <a:srgbClr val="393939"/>
                </a:solidFill>
                <a:latin typeface="Consolas" pitchFamily="34" charset="0"/>
                <a:ea typeface="Consolas" pitchFamily="34" charset="-122"/>
                <a:cs typeface="Consolas" pitchFamily="34" charset="-120"/>
              </a:rPr>
              <a:t>&lt;/ Authorization /&gt;</a:t>
            </a:r>
            <a:endParaRPr lang="en-US" sz="3600" dirty="0"/>
          </a:p>
        </p:txBody>
      </p:sp>
      <p:sp>
        <p:nvSpPr>
          <p:cNvPr id="3" name="Text 1"/>
          <p:cNvSpPr/>
          <p:nvPr/>
        </p:nvSpPr>
        <p:spPr>
          <a:xfrm>
            <a:off x="548640" y="1051560"/>
            <a:ext cx="3657600" cy="274320"/>
          </a:xfrm>
          <a:prstGeom prst="rect">
            <a:avLst/>
          </a:prstGeom>
          <a:noFill/>
          <a:ln/>
        </p:spPr>
        <p:txBody>
          <a:bodyPr wrap="square" rtlCol="0" anchor="ctr"/>
          <a:lstStyle/>
          <a:p>
            <a:pPr marL="0" indent="0">
              <a:buNone/>
            </a:pPr>
            <a:r>
              <a:rPr lang="en-US" sz="1100" kern="0" spc="400" dirty="0">
                <a:solidFill>
                  <a:srgbClr val="2D9BA3"/>
                </a:solidFill>
                <a:latin typeface="Calibri" pitchFamily="34" charset="0"/>
                <a:ea typeface="Calibri" pitchFamily="34" charset="-122"/>
                <a:cs typeface="Calibri" pitchFamily="34" charset="-120"/>
              </a:rPr>
              <a:t>Harness Bileşeni  2 / 10</a:t>
            </a:r>
            <a:endParaRPr lang="en-US" sz="1100" dirty="0"/>
          </a:p>
        </p:txBody>
      </p:sp>
      <p:sp>
        <p:nvSpPr>
          <p:cNvPr id="4" name="Shape 2"/>
          <p:cNvSpPr/>
          <p:nvPr/>
        </p:nvSpPr>
        <p:spPr>
          <a:xfrm>
            <a:off x="548640" y="1828800"/>
            <a:ext cx="2560320" cy="2560320"/>
          </a:xfrm>
          <a:prstGeom prst="ellipse">
            <a:avLst/>
          </a:prstGeom>
          <a:solidFill>
            <a:srgbClr val="AB80AD"/>
          </a:solidFill>
          <a:ln w="12700">
            <a:solidFill>
              <a:srgbClr val="AB80AD"/>
            </a:solidFill>
            <a:prstDash val="solid"/>
          </a:ln>
        </p:spPr>
        <p:txBody>
          <a:bodyPr/>
          <a:lstStyle/>
          <a:p>
            <a:endParaRPr lang="en-TR"/>
          </a:p>
        </p:txBody>
      </p:sp>
      <p:sp>
        <p:nvSpPr>
          <p:cNvPr id="5" name="Text 3"/>
          <p:cNvSpPr/>
          <p:nvPr/>
        </p:nvSpPr>
        <p:spPr>
          <a:xfrm>
            <a:off x="548640" y="1828800"/>
            <a:ext cx="2560320" cy="2560320"/>
          </a:xfrm>
          <a:prstGeom prst="rect">
            <a:avLst/>
          </a:prstGeom>
          <a:noFill/>
          <a:ln/>
        </p:spPr>
        <p:txBody>
          <a:bodyPr wrap="square" rtlCol="0" anchor="ctr"/>
          <a:lstStyle/>
          <a:p>
            <a:pPr marL="0" indent="0" algn="ctr">
              <a:buNone/>
            </a:pPr>
            <a:r>
              <a:rPr lang="en-US" sz="10000" b="1" dirty="0">
                <a:solidFill>
                  <a:srgbClr val="FFFFFF"/>
                </a:solidFill>
                <a:latin typeface="Calibri" pitchFamily="34" charset="0"/>
                <a:ea typeface="Calibri" pitchFamily="34" charset="-122"/>
                <a:cs typeface="Calibri" pitchFamily="34" charset="-120"/>
              </a:rPr>
              <a:t>🔐</a:t>
            </a:r>
            <a:endParaRPr lang="en-US" sz="10000" dirty="0"/>
          </a:p>
        </p:txBody>
      </p:sp>
      <p:sp>
        <p:nvSpPr>
          <p:cNvPr id="6" name="Text 4"/>
          <p:cNvSpPr/>
          <p:nvPr/>
        </p:nvSpPr>
        <p:spPr>
          <a:xfrm>
            <a:off x="3657600" y="1783080"/>
            <a:ext cx="5029200" cy="548640"/>
          </a:xfrm>
          <a:prstGeom prst="rect">
            <a:avLst/>
          </a:prstGeom>
          <a:noFill/>
          <a:ln/>
        </p:spPr>
        <p:txBody>
          <a:bodyPr wrap="square" rtlCol="0" anchor="ctr"/>
          <a:lstStyle/>
          <a:p>
            <a:pPr marL="0" indent="0">
              <a:buNone/>
            </a:pPr>
            <a:r>
              <a:rPr lang="en-US" sz="1800" b="1" dirty="0">
                <a:solidFill>
                  <a:srgbClr val="393939"/>
                </a:solidFill>
                <a:latin typeface="Calibri" pitchFamily="34" charset="0"/>
                <a:ea typeface="Calibri" pitchFamily="34" charset="-122"/>
                <a:cs typeface="Calibri" pitchFamily="34" charset="-120"/>
              </a:rPr>
              <a:t>Çok-boyutlu yetki — RBAC tek başına yetersiz</a:t>
            </a:r>
            <a:endParaRPr lang="en-US" sz="1800" dirty="0"/>
          </a:p>
        </p:txBody>
      </p:sp>
      <p:sp>
        <p:nvSpPr>
          <p:cNvPr id="7" name="Shape 5"/>
          <p:cNvSpPr/>
          <p:nvPr/>
        </p:nvSpPr>
        <p:spPr>
          <a:xfrm>
            <a:off x="3657600" y="2468880"/>
            <a:ext cx="5029200" cy="777240"/>
          </a:xfrm>
          <a:prstGeom prst="roundRect">
            <a:avLst>
              <a:gd name="adj" fmla="val 5882"/>
            </a:avLst>
          </a:prstGeom>
          <a:solidFill>
            <a:srgbClr val="8AF7FB">
              <a:alpha val="40000"/>
            </a:srgbClr>
          </a:solidFill>
          <a:ln w="12700">
            <a:solidFill>
              <a:srgbClr val="65D7DE"/>
            </a:solidFill>
            <a:prstDash val="solid"/>
          </a:ln>
        </p:spPr>
        <p:txBody>
          <a:bodyPr/>
          <a:lstStyle/>
          <a:p>
            <a:endParaRPr lang="en-TR"/>
          </a:p>
        </p:txBody>
      </p:sp>
      <p:sp>
        <p:nvSpPr>
          <p:cNvPr id="8" name="Text 6"/>
          <p:cNvSpPr/>
          <p:nvPr/>
        </p:nvSpPr>
        <p:spPr>
          <a:xfrm>
            <a:off x="3794760" y="2514600"/>
            <a:ext cx="4754880" cy="685800"/>
          </a:xfrm>
          <a:prstGeom prst="rect">
            <a:avLst/>
          </a:prstGeom>
          <a:noFill/>
          <a:ln/>
        </p:spPr>
        <p:txBody>
          <a:bodyPr wrap="square" rtlCol="0" anchor="ctr"/>
          <a:lstStyle/>
          <a:p>
            <a:pPr marL="0" indent="0">
              <a:buNone/>
            </a:pPr>
            <a:r>
              <a:rPr lang="en-US" sz="1200" b="1" dirty="0">
                <a:solidFill>
                  <a:srgbClr val="2D9BA3"/>
                </a:solidFill>
                <a:latin typeface="Calibri" pitchFamily="34" charset="0"/>
                <a:ea typeface="Calibri" pitchFamily="34" charset="-122"/>
                <a:cs typeface="Calibri" pitchFamily="34" charset="-120"/>
              </a:rPr>
              <a:t>Kritik soru:  </a:t>
            </a:r>
            <a:r>
              <a:rPr lang="en-US" sz="1200" i="1" dirty="0">
                <a:solidFill>
                  <a:srgbClr val="393939"/>
                </a:solidFill>
                <a:latin typeface="Calibri" pitchFamily="34" charset="0"/>
                <a:ea typeface="Calibri" pitchFamily="34" charset="-122"/>
                <a:cs typeface="Calibri" pitchFamily="34" charset="-120"/>
              </a:rPr>
              <a:t>Bu agent bu kullanıcı adına bu tool'u bu veriyle çağırabilir mi?</a:t>
            </a:r>
            <a:endParaRPr lang="en-US" sz="1200" dirty="0"/>
          </a:p>
        </p:txBody>
      </p:sp>
      <p:sp>
        <p:nvSpPr>
          <p:cNvPr id="9" name="Shape 7"/>
          <p:cNvSpPr/>
          <p:nvPr/>
        </p:nvSpPr>
        <p:spPr>
          <a:xfrm>
            <a:off x="3657600" y="3383280"/>
            <a:ext cx="5029200" cy="868680"/>
          </a:xfrm>
          <a:prstGeom prst="rect">
            <a:avLst/>
          </a:prstGeom>
          <a:solidFill>
            <a:srgbClr val="393939"/>
          </a:solidFill>
          <a:ln w="12700">
            <a:solidFill>
              <a:srgbClr val="393939"/>
            </a:solidFill>
            <a:prstDash val="solid"/>
          </a:ln>
        </p:spPr>
        <p:txBody>
          <a:bodyPr/>
          <a:lstStyle/>
          <a:p>
            <a:endParaRPr lang="en-TR"/>
          </a:p>
        </p:txBody>
      </p:sp>
      <p:sp>
        <p:nvSpPr>
          <p:cNvPr id="10" name="Text 8"/>
          <p:cNvSpPr/>
          <p:nvPr/>
        </p:nvSpPr>
        <p:spPr>
          <a:xfrm>
            <a:off x="3794760" y="3429000"/>
            <a:ext cx="4754880" cy="777240"/>
          </a:xfrm>
          <a:prstGeom prst="rect">
            <a:avLst/>
          </a:prstGeom>
          <a:noFill/>
          <a:ln/>
        </p:spPr>
        <p:txBody>
          <a:bodyPr wrap="square" rtlCol="0" anchor="ctr"/>
          <a:lstStyle/>
          <a:p>
            <a:pPr marL="0" indent="0">
              <a:buNone/>
            </a:pPr>
            <a:r>
              <a:rPr lang="en-US" sz="1300" b="1" dirty="0">
                <a:solidFill>
                  <a:srgbClr val="65D7DE"/>
                </a:solidFill>
                <a:latin typeface="Calibri" pitchFamily="34" charset="0"/>
                <a:ea typeface="Calibri" pitchFamily="34" charset="-122"/>
                <a:cs typeface="Calibri" pitchFamily="34" charset="-120"/>
              </a:rPr>
              <a:t>Yetki tek boyutlu değil; production'da en az beş eksen var.</a:t>
            </a:r>
            <a:endParaRPr lang="en-US" sz="1300" dirty="0"/>
          </a:p>
        </p:txBody>
      </p:sp>
      <p:sp>
        <p:nvSpPr>
          <p:cNvPr id="11" name="Text 9"/>
          <p:cNvSpPr/>
          <p:nvPr/>
        </p:nvSpPr>
        <p:spPr>
          <a:xfrm>
            <a:off x="3657600" y="4343400"/>
            <a:ext cx="5029200" cy="365760"/>
          </a:xfrm>
          <a:prstGeom prst="rect">
            <a:avLst/>
          </a:prstGeom>
          <a:noFill/>
          <a:ln/>
        </p:spPr>
        <p:txBody>
          <a:bodyPr wrap="square" rtlCol="0" anchor="ctr"/>
          <a:lstStyle/>
          <a:p>
            <a:pPr marL="0" indent="0">
              <a:buNone/>
            </a:pPr>
            <a:r>
              <a:rPr lang="en-US" sz="1000" i="1" dirty="0">
                <a:solidFill>
                  <a:srgbClr val="545454"/>
                </a:solidFill>
                <a:latin typeface="Calibri" pitchFamily="34" charset="0"/>
                <a:ea typeface="Calibri" pitchFamily="34" charset="-122"/>
                <a:cs typeface="Calibri" pitchFamily="34" charset="-120"/>
              </a:rPr>
              <a:t>User × Agent × Tool × Data × Action level</a:t>
            </a:r>
            <a:endParaRPr lang="en-US" sz="1000" dirty="0"/>
          </a:p>
        </p:txBody>
      </p:sp>
      <p:sp>
        <p:nvSpPr>
          <p:cNvPr id="12" name="Text 10"/>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CCCCCC"/>
                </a:solidFill>
                <a:latin typeface="Calibri" pitchFamily="34" charset="0"/>
                <a:ea typeface="Calibri" pitchFamily="34" charset="-122"/>
                <a:cs typeface="Calibri" pitchFamily="34" charset="-120"/>
              </a:rPr>
              <a:t>11 / 29  •  Bileşen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49643"/>
            <a:ext cx="8229600" cy="640080"/>
          </a:xfrm>
          <a:prstGeom prst="rect">
            <a:avLst/>
          </a:prstGeom>
          <a:noFill/>
          <a:ln/>
        </p:spPr>
        <p:txBody>
          <a:bodyPr wrap="square" rtlCol="0" anchor="ctr"/>
          <a:lstStyle/>
          <a:p>
            <a:pPr marL="0" indent="0">
              <a:buNone/>
            </a:pPr>
            <a:r>
              <a:rPr lang="en-US" sz="3600" b="1" dirty="0">
                <a:solidFill>
                  <a:srgbClr val="393939"/>
                </a:solidFill>
                <a:latin typeface="Consolas" pitchFamily="34" charset="0"/>
                <a:ea typeface="Consolas" pitchFamily="34" charset="-122"/>
                <a:cs typeface="Consolas" pitchFamily="34" charset="-120"/>
              </a:rPr>
              <a:t>&lt;/ Tool Governance /&gt;</a:t>
            </a:r>
            <a:endParaRPr lang="en-US" sz="3600" dirty="0"/>
          </a:p>
        </p:txBody>
      </p:sp>
      <p:sp>
        <p:nvSpPr>
          <p:cNvPr id="3" name="Text 1"/>
          <p:cNvSpPr/>
          <p:nvPr/>
        </p:nvSpPr>
        <p:spPr>
          <a:xfrm>
            <a:off x="548640" y="1051560"/>
            <a:ext cx="3657600" cy="274320"/>
          </a:xfrm>
          <a:prstGeom prst="rect">
            <a:avLst/>
          </a:prstGeom>
          <a:noFill/>
          <a:ln/>
        </p:spPr>
        <p:txBody>
          <a:bodyPr wrap="square" rtlCol="0" anchor="ctr"/>
          <a:lstStyle/>
          <a:p>
            <a:pPr marL="0" indent="0">
              <a:buNone/>
            </a:pPr>
            <a:r>
              <a:rPr lang="en-US" sz="1100" kern="0" spc="400" dirty="0">
                <a:solidFill>
                  <a:srgbClr val="2D9BA3"/>
                </a:solidFill>
                <a:latin typeface="Calibri" pitchFamily="34" charset="0"/>
                <a:ea typeface="Calibri" pitchFamily="34" charset="-122"/>
                <a:cs typeface="Calibri" pitchFamily="34" charset="-120"/>
              </a:rPr>
              <a:t>Harness Bileşeni  3 / 10</a:t>
            </a:r>
            <a:endParaRPr lang="en-US" sz="1100" dirty="0"/>
          </a:p>
        </p:txBody>
      </p:sp>
      <p:sp>
        <p:nvSpPr>
          <p:cNvPr id="4" name="Shape 2"/>
          <p:cNvSpPr/>
          <p:nvPr/>
        </p:nvSpPr>
        <p:spPr>
          <a:xfrm>
            <a:off x="548640" y="1828800"/>
            <a:ext cx="2560320" cy="2560320"/>
          </a:xfrm>
          <a:prstGeom prst="ellipse">
            <a:avLst/>
          </a:prstGeom>
          <a:solidFill>
            <a:srgbClr val="FFCC4F"/>
          </a:solidFill>
          <a:ln w="12700">
            <a:solidFill>
              <a:srgbClr val="FFCC4F"/>
            </a:solidFill>
            <a:prstDash val="solid"/>
          </a:ln>
        </p:spPr>
        <p:txBody>
          <a:bodyPr/>
          <a:lstStyle/>
          <a:p>
            <a:endParaRPr lang="en-TR"/>
          </a:p>
        </p:txBody>
      </p:sp>
      <p:sp>
        <p:nvSpPr>
          <p:cNvPr id="5" name="Text 3"/>
          <p:cNvSpPr/>
          <p:nvPr/>
        </p:nvSpPr>
        <p:spPr>
          <a:xfrm>
            <a:off x="548640" y="1828800"/>
            <a:ext cx="2560320" cy="2560320"/>
          </a:xfrm>
          <a:prstGeom prst="rect">
            <a:avLst/>
          </a:prstGeom>
          <a:noFill/>
          <a:ln/>
        </p:spPr>
        <p:txBody>
          <a:bodyPr wrap="square" rtlCol="0" anchor="ctr"/>
          <a:lstStyle/>
          <a:p>
            <a:pPr marL="0" indent="0" algn="ctr">
              <a:buNone/>
            </a:pPr>
            <a:r>
              <a:rPr lang="en-US" sz="10000" b="1" dirty="0">
                <a:solidFill>
                  <a:srgbClr val="FFFFFF"/>
                </a:solidFill>
                <a:latin typeface="Calibri" pitchFamily="34" charset="0"/>
                <a:ea typeface="Calibri" pitchFamily="34" charset="-122"/>
                <a:cs typeface="Calibri" pitchFamily="34" charset="-120"/>
              </a:rPr>
              <a:t>⚙</a:t>
            </a:r>
            <a:endParaRPr lang="en-US" sz="10000" dirty="0"/>
          </a:p>
        </p:txBody>
      </p:sp>
      <p:sp>
        <p:nvSpPr>
          <p:cNvPr id="6" name="Text 4"/>
          <p:cNvSpPr/>
          <p:nvPr/>
        </p:nvSpPr>
        <p:spPr>
          <a:xfrm>
            <a:off x="3657600" y="1783080"/>
            <a:ext cx="5029200" cy="548640"/>
          </a:xfrm>
          <a:prstGeom prst="rect">
            <a:avLst/>
          </a:prstGeom>
          <a:noFill/>
          <a:ln/>
        </p:spPr>
        <p:txBody>
          <a:bodyPr wrap="square" rtlCol="0" anchor="ctr"/>
          <a:lstStyle/>
          <a:p>
            <a:pPr marL="0" indent="0">
              <a:buNone/>
            </a:pPr>
            <a:r>
              <a:rPr lang="en-US" sz="1800" b="1" dirty="0">
                <a:solidFill>
                  <a:srgbClr val="393939"/>
                </a:solidFill>
                <a:latin typeface="Calibri" pitchFamily="34" charset="0"/>
                <a:ea typeface="Calibri" pitchFamily="34" charset="-122"/>
                <a:cs typeface="Calibri" pitchFamily="34" charset="-120"/>
              </a:rPr>
              <a:t>Tool, sistemin elidir; her el aynı riski taşımaz</a:t>
            </a:r>
            <a:endParaRPr lang="en-US" sz="1800" dirty="0"/>
          </a:p>
        </p:txBody>
      </p:sp>
      <p:sp>
        <p:nvSpPr>
          <p:cNvPr id="7" name="Shape 5"/>
          <p:cNvSpPr/>
          <p:nvPr/>
        </p:nvSpPr>
        <p:spPr>
          <a:xfrm>
            <a:off x="3657600" y="2468880"/>
            <a:ext cx="5029200" cy="777240"/>
          </a:xfrm>
          <a:prstGeom prst="roundRect">
            <a:avLst>
              <a:gd name="adj" fmla="val 5882"/>
            </a:avLst>
          </a:prstGeom>
          <a:solidFill>
            <a:srgbClr val="8AF7FB">
              <a:alpha val="40000"/>
            </a:srgbClr>
          </a:solidFill>
          <a:ln w="12700">
            <a:solidFill>
              <a:srgbClr val="65D7DE"/>
            </a:solidFill>
            <a:prstDash val="solid"/>
          </a:ln>
        </p:spPr>
        <p:txBody>
          <a:bodyPr/>
          <a:lstStyle/>
          <a:p>
            <a:endParaRPr lang="en-TR"/>
          </a:p>
        </p:txBody>
      </p:sp>
      <p:sp>
        <p:nvSpPr>
          <p:cNvPr id="8" name="Text 6"/>
          <p:cNvSpPr/>
          <p:nvPr/>
        </p:nvSpPr>
        <p:spPr>
          <a:xfrm>
            <a:off x="3794760" y="2514600"/>
            <a:ext cx="4754880" cy="685800"/>
          </a:xfrm>
          <a:prstGeom prst="rect">
            <a:avLst/>
          </a:prstGeom>
          <a:noFill/>
          <a:ln/>
        </p:spPr>
        <p:txBody>
          <a:bodyPr wrap="square" rtlCol="0" anchor="ctr"/>
          <a:lstStyle/>
          <a:p>
            <a:pPr marL="0" indent="0">
              <a:buNone/>
            </a:pPr>
            <a:r>
              <a:rPr lang="en-US" sz="1200" b="1" dirty="0">
                <a:solidFill>
                  <a:srgbClr val="2D9BA3"/>
                </a:solidFill>
                <a:latin typeface="Calibri" pitchFamily="34" charset="0"/>
                <a:ea typeface="Calibri" pitchFamily="34" charset="-122"/>
                <a:cs typeface="Calibri" pitchFamily="34" charset="-120"/>
              </a:rPr>
              <a:t>Kritik soru:  </a:t>
            </a:r>
            <a:r>
              <a:rPr lang="en-US" sz="1200" i="1" dirty="0">
                <a:solidFill>
                  <a:srgbClr val="393939"/>
                </a:solidFill>
                <a:latin typeface="Calibri" pitchFamily="34" charset="0"/>
                <a:ea typeface="Calibri" pitchFamily="34" charset="-122"/>
                <a:cs typeface="Calibri" pitchFamily="34" charset="-120"/>
              </a:rPr>
              <a:t>Web arama vs müşteri verisi update vs </a:t>
            </a:r>
            <a:r>
              <a:rPr lang="en-US" sz="1200" i="1" dirty="0" err="1">
                <a:solidFill>
                  <a:srgbClr val="393939"/>
                </a:solidFill>
                <a:latin typeface="Calibri" pitchFamily="34" charset="0"/>
                <a:ea typeface="Calibri" pitchFamily="34" charset="-122"/>
                <a:cs typeface="Calibri" pitchFamily="34" charset="-120"/>
              </a:rPr>
              <a:t>ödeme</a:t>
            </a:r>
            <a:r>
              <a:rPr lang="en-US" sz="1200" i="1" dirty="0">
                <a:solidFill>
                  <a:srgbClr val="393939"/>
                </a:solidFill>
                <a:latin typeface="Calibri" pitchFamily="34" charset="0"/>
                <a:ea typeface="Calibri" pitchFamily="34" charset="-122"/>
                <a:cs typeface="Calibri" pitchFamily="34" charset="-120"/>
              </a:rPr>
              <a:t> —&gt; aynı yetki modeli mi?</a:t>
            </a:r>
            <a:endParaRPr lang="en-US" sz="1200" dirty="0"/>
          </a:p>
        </p:txBody>
      </p:sp>
      <p:sp>
        <p:nvSpPr>
          <p:cNvPr id="9" name="Shape 7"/>
          <p:cNvSpPr/>
          <p:nvPr/>
        </p:nvSpPr>
        <p:spPr>
          <a:xfrm>
            <a:off x="3657600" y="3383280"/>
            <a:ext cx="5029200" cy="868680"/>
          </a:xfrm>
          <a:prstGeom prst="rect">
            <a:avLst/>
          </a:prstGeom>
          <a:solidFill>
            <a:srgbClr val="393939"/>
          </a:solidFill>
          <a:ln w="12700">
            <a:solidFill>
              <a:srgbClr val="393939"/>
            </a:solidFill>
            <a:prstDash val="solid"/>
          </a:ln>
        </p:spPr>
        <p:txBody>
          <a:bodyPr/>
          <a:lstStyle/>
          <a:p>
            <a:endParaRPr lang="en-TR"/>
          </a:p>
        </p:txBody>
      </p:sp>
      <p:sp>
        <p:nvSpPr>
          <p:cNvPr id="10" name="Text 8"/>
          <p:cNvSpPr/>
          <p:nvPr/>
        </p:nvSpPr>
        <p:spPr>
          <a:xfrm>
            <a:off x="3794760" y="3429000"/>
            <a:ext cx="4754880" cy="777240"/>
          </a:xfrm>
          <a:prstGeom prst="rect">
            <a:avLst/>
          </a:prstGeom>
          <a:noFill/>
          <a:ln/>
        </p:spPr>
        <p:txBody>
          <a:bodyPr wrap="square" rtlCol="0" anchor="ctr"/>
          <a:lstStyle/>
          <a:p>
            <a:pPr marL="0" indent="0">
              <a:buNone/>
            </a:pPr>
            <a:r>
              <a:rPr lang="en-US" sz="1300" b="1" dirty="0">
                <a:solidFill>
                  <a:srgbClr val="65D7DE"/>
                </a:solidFill>
                <a:latin typeface="Calibri" pitchFamily="34" charset="0"/>
                <a:ea typeface="Calibri" pitchFamily="34" charset="-122"/>
                <a:cs typeface="Calibri" pitchFamily="34" charset="-120"/>
              </a:rPr>
              <a:t>Agent'a tool vermek, agent'a yetki vermektir.</a:t>
            </a:r>
            <a:endParaRPr lang="en-US" sz="1300" dirty="0"/>
          </a:p>
        </p:txBody>
      </p:sp>
      <p:sp>
        <p:nvSpPr>
          <p:cNvPr id="11" name="Text 9"/>
          <p:cNvSpPr/>
          <p:nvPr/>
        </p:nvSpPr>
        <p:spPr>
          <a:xfrm>
            <a:off x="3657600" y="4343400"/>
            <a:ext cx="5029200" cy="365760"/>
          </a:xfrm>
          <a:prstGeom prst="rect">
            <a:avLst/>
          </a:prstGeom>
          <a:noFill/>
          <a:ln/>
        </p:spPr>
        <p:txBody>
          <a:bodyPr wrap="square" rtlCol="0" anchor="ctr"/>
          <a:lstStyle/>
          <a:p>
            <a:pPr marL="0" indent="0">
              <a:buNone/>
            </a:pPr>
            <a:r>
              <a:rPr lang="en-US" sz="1000" i="1" dirty="0">
                <a:solidFill>
                  <a:srgbClr val="545454"/>
                </a:solidFill>
                <a:latin typeface="Calibri" pitchFamily="34" charset="0"/>
                <a:ea typeface="Calibri" pitchFamily="34" charset="-122"/>
                <a:cs typeface="Calibri" pitchFamily="34" charset="-120"/>
              </a:rPr>
              <a:t>Düşük risk: arama/okuma  •  Orta: DB sorgu/ticket  •  Yüksek: e-posta, ödeme, silme</a:t>
            </a:r>
            <a:endParaRPr lang="en-US" sz="1000" dirty="0"/>
          </a:p>
        </p:txBody>
      </p:sp>
      <p:sp>
        <p:nvSpPr>
          <p:cNvPr id="12" name="Text 10"/>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545454"/>
                </a:solidFill>
                <a:latin typeface="Calibri" pitchFamily="34" charset="0"/>
                <a:ea typeface="Calibri" pitchFamily="34" charset="-122"/>
                <a:cs typeface="Calibri" pitchFamily="34" charset="-120"/>
              </a:rPr>
              <a:t>12 / 29  •  Bileşen</a:t>
            </a:r>
            <a:endParaRPr lang="en-US" sz="900" dirty="0"/>
          </a:p>
        </p:txBody>
      </p:sp>
      <p:sp>
        <p:nvSpPr>
          <p:cNvPr id="13" name="Text 11"/>
          <p:cNvSpPr/>
          <p:nvPr/>
        </p:nvSpPr>
        <p:spPr>
          <a:xfrm>
            <a:off x="274320" y="4846320"/>
            <a:ext cx="1371600" cy="228600"/>
          </a:xfrm>
          <a:prstGeom prst="rect">
            <a:avLst/>
          </a:prstGeom>
          <a:noFill/>
          <a:ln/>
        </p:spPr>
        <p:txBody>
          <a:bodyPr wrap="square" rtlCol="0" anchor="ctr"/>
          <a:lstStyle/>
          <a:p>
            <a:pPr marL="0" indent="0">
              <a:buNone/>
            </a:pPr>
            <a:r>
              <a:rPr lang="en-US" sz="900" dirty="0">
                <a:solidFill>
                  <a:srgbClr val="545454"/>
                </a:solidFill>
                <a:latin typeface="Calibri" pitchFamily="34" charset="0"/>
                <a:ea typeface="Calibri" pitchFamily="34" charset="-122"/>
                <a:cs typeface="Calibri" pitchFamily="34" charset="-120"/>
              </a:rPr>
              <a:t>&lt; softtech</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2F2F5"/>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marL="0" indent="0">
              <a:buNone/>
            </a:pPr>
            <a:r>
              <a:rPr lang="en-US" sz="3600" b="1" dirty="0">
                <a:solidFill>
                  <a:srgbClr val="393939"/>
                </a:solidFill>
                <a:latin typeface="Consolas" pitchFamily="34" charset="0"/>
                <a:ea typeface="Consolas" pitchFamily="34" charset="-122"/>
                <a:cs typeface="Consolas" pitchFamily="34" charset="-120"/>
              </a:rPr>
              <a:t>&lt;/ State Management /&gt;</a:t>
            </a:r>
            <a:endParaRPr lang="en-US" sz="3600" dirty="0"/>
          </a:p>
        </p:txBody>
      </p:sp>
      <p:sp>
        <p:nvSpPr>
          <p:cNvPr id="3" name="Text 1"/>
          <p:cNvSpPr/>
          <p:nvPr/>
        </p:nvSpPr>
        <p:spPr>
          <a:xfrm>
            <a:off x="548640" y="1051560"/>
            <a:ext cx="3657600" cy="274320"/>
          </a:xfrm>
          <a:prstGeom prst="rect">
            <a:avLst/>
          </a:prstGeom>
          <a:noFill/>
          <a:ln/>
        </p:spPr>
        <p:txBody>
          <a:bodyPr wrap="square" rtlCol="0" anchor="ctr"/>
          <a:lstStyle/>
          <a:p>
            <a:pPr marL="0" indent="0">
              <a:buNone/>
            </a:pPr>
            <a:r>
              <a:rPr lang="en-US" sz="1100" kern="0" spc="400" dirty="0">
                <a:solidFill>
                  <a:srgbClr val="2D9BA3"/>
                </a:solidFill>
                <a:latin typeface="Calibri" pitchFamily="34" charset="0"/>
                <a:ea typeface="Calibri" pitchFamily="34" charset="-122"/>
                <a:cs typeface="Calibri" pitchFamily="34" charset="-120"/>
              </a:rPr>
              <a:t>Harness Bileşeni  4 / 10</a:t>
            </a:r>
            <a:endParaRPr lang="en-US" sz="1100" dirty="0"/>
          </a:p>
        </p:txBody>
      </p:sp>
      <p:sp>
        <p:nvSpPr>
          <p:cNvPr id="4" name="Shape 2"/>
          <p:cNvSpPr/>
          <p:nvPr/>
        </p:nvSpPr>
        <p:spPr>
          <a:xfrm>
            <a:off x="548640" y="1828800"/>
            <a:ext cx="2560320" cy="2560320"/>
          </a:xfrm>
          <a:prstGeom prst="ellipse">
            <a:avLst/>
          </a:prstGeom>
          <a:solidFill>
            <a:srgbClr val="65D7DE"/>
          </a:solidFill>
          <a:ln w="12700">
            <a:solidFill>
              <a:srgbClr val="65D7DE"/>
            </a:solidFill>
            <a:prstDash val="solid"/>
          </a:ln>
        </p:spPr>
        <p:txBody>
          <a:bodyPr/>
          <a:lstStyle/>
          <a:p>
            <a:endParaRPr lang="en-TR"/>
          </a:p>
        </p:txBody>
      </p:sp>
      <p:sp>
        <p:nvSpPr>
          <p:cNvPr id="5" name="Text 3"/>
          <p:cNvSpPr/>
          <p:nvPr/>
        </p:nvSpPr>
        <p:spPr>
          <a:xfrm>
            <a:off x="548640" y="1828800"/>
            <a:ext cx="2560320" cy="2560320"/>
          </a:xfrm>
          <a:prstGeom prst="rect">
            <a:avLst/>
          </a:prstGeom>
          <a:noFill/>
          <a:ln/>
        </p:spPr>
        <p:txBody>
          <a:bodyPr wrap="square" rtlCol="0" anchor="ctr"/>
          <a:lstStyle/>
          <a:p>
            <a:pPr marL="0" indent="0" algn="ctr">
              <a:buNone/>
            </a:pPr>
            <a:r>
              <a:rPr lang="en-US" sz="10000" b="1" dirty="0">
                <a:solidFill>
                  <a:srgbClr val="FFFFFF"/>
                </a:solidFill>
                <a:latin typeface="Calibri" pitchFamily="34" charset="0"/>
                <a:ea typeface="Calibri" pitchFamily="34" charset="-122"/>
                <a:cs typeface="Calibri" pitchFamily="34" charset="-120"/>
              </a:rPr>
              <a:t>S</a:t>
            </a:r>
            <a:endParaRPr lang="en-US" sz="10000" dirty="0"/>
          </a:p>
        </p:txBody>
      </p:sp>
      <p:sp>
        <p:nvSpPr>
          <p:cNvPr id="6" name="Text 4"/>
          <p:cNvSpPr/>
          <p:nvPr/>
        </p:nvSpPr>
        <p:spPr>
          <a:xfrm>
            <a:off x="3657600" y="1783080"/>
            <a:ext cx="5029200" cy="548640"/>
          </a:xfrm>
          <a:prstGeom prst="rect">
            <a:avLst/>
          </a:prstGeom>
          <a:noFill/>
          <a:ln/>
        </p:spPr>
        <p:txBody>
          <a:bodyPr wrap="square" rtlCol="0" anchor="ctr"/>
          <a:lstStyle/>
          <a:p>
            <a:pPr marL="0" indent="0">
              <a:buNone/>
            </a:pPr>
            <a:r>
              <a:rPr lang="en-US" sz="1800" b="1" dirty="0">
                <a:solidFill>
                  <a:srgbClr val="393939"/>
                </a:solidFill>
                <a:latin typeface="Calibri" pitchFamily="34" charset="0"/>
                <a:ea typeface="Calibri" pitchFamily="34" charset="-122"/>
                <a:cs typeface="Calibri" pitchFamily="34" charset="-120"/>
              </a:rPr>
              <a:t>Agent işi nerede bıraktığını biliyor mu?</a:t>
            </a:r>
            <a:endParaRPr lang="en-US" sz="1800" dirty="0"/>
          </a:p>
        </p:txBody>
      </p:sp>
      <p:sp>
        <p:nvSpPr>
          <p:cNvPr id="7" name="Shape 5"/>
          <p:cNvSpPr/>
          <p:nvPr/>
        </p:nvSpPr>
        <p:spPr>
          <a:xfrm>
            <a:off x="3657600" y="2468880"/>
            <a:ext cx="5029200" cy="777240"/>
          </a:xfrm>
          <a:prstGeom prst="roundRect">
            <a:avLst>
              <a:gd name="adj" fmla="val 5882"/>
            </a:avLst>
          </a:prstGeom>
          <a:solidFill>
            <a:srgbClr val="8AF7FB">
              <a:alpha val="40000"/>
            </a:srgbClr>
          </a:solidFill>
          <a:ln w="12700">
            <a:solidFill>
              <a:srgbClr val="65D7DE"/>
            </a:solidFill>
            <a:prstDash val="solid"/>
          </a:ln>
        </p:spPr>
        <p:txBody>
          <a:bodyPr/>
          <a:lstStyle/>
          <a:p>
            <a:endParaRPr lang="en-TR"/>
          </a:p>
        </p:txBody>
      </p:sp>
      <p:sp>
        <p:nvSpPr>
          <p:cNvPr id="8" name="Text 6"/>
          <p:cNvSpPr/>
          <p:nvPr/>
        </p:nvSpPr>
        <p:spPr>
          <a:xfrm>
            <a:off x="3794760" y="2514600"/>
            <a:ext cx="4754880" cy="685800"/>
          </a:xfrm>
          <a:prstGeom prst="rect">
            <a:avLst/>
          </a:prstGeom>
          <a:noFill/>
          <a:ln/>
        </p:spPr>
        <p:txBody>
          <a:bodyPr wrap="square" rtlCol="0" anchor="ctr"/>
          <a:lstStyle/>
          <a:p>
            <a:pPr marL="0" indent="0">
              <a:buNone/>
            </a:pPr>
            <a:r>
              <a:rPr lang="en-US" sz="1200" b="1" dirty="0">
                <a:solidFill>
                  <a:srgbClr val="2D9BA3"/>
                </a:solidFill>
                <a:latin typeface="Calibri" pitchFamily="34" charset="0"/>
                <a:ea typeface="Calibri" pitchFamily="34" charset="-122"/>
                <a:cs typeface="Calibri" pitchFamily="34" charset="-120"/>
              </a:rPr>
              <a:t>Kritik soru:  </a:t>
            </a:r>
            <a:r>
              <a:rPr lang="en-US" sz="1200" i="1" dirty="0">
                <a:solidFill>
                  <a:srgbClr val="393939"/>
                </a:solidFill>
                <a:latin typeface="Calibri" pitchFamily="34" charset="0"/>
                <a:ea typeface="Calibri" pitchFamily="34" charset="-122"/>
                <a:cs typeface="Calibri" pitchFamily="34" charset="-120"/>
              </a:rPr>
              <a:t>Uzun bir görevde retry, resume, checkpoint var mı?</a:t>
            </a:r>
            <a:endParaRPr lang="en-US" sz="1200" dirty="0"/>
          </a:p>
        </p:txBody>
      </p:sp>
      <p:sp>
        <p:nvSpPr>
          <p:cNvPr id="9" name="Shape 7"/>
          <p:cNvSpPr/>
          <p:nvPr/>
        </p:nvSpPr>
        <p:spPr>
          <a:xfrm>
            <a:off x="3657600" y="3383280"/>
            <a:ext cx="5029200" cy="868680"/>
          </a:xfrm>
          <a:prstGeom prst="rect">
            <a:avLst/>
          </a:prstGeom>
          <a:solidFill>
            <a:srgbClr val="393939"/>
          </a:solidFill>
          <a:ln w="12700">
            <a:solidFill>
              <a:srgbClr val="393939"/>
            </a:solidFill>
            <a:prstDash val="solid"/>
          </a:ln>
        </p:spPr>
        <p:txBody>
          <a:bodyPr/>
          <a:lstStyle/>
          <a:p>
            <a:endParaRPr lang="en-TR"/>
          </a:p>
        </p:txBody>
      </p:sp>
      <p:sp>
        <p:nvSpPr>
          <p:cNvPr id="10" name="Text 8"/>
          <p:cNvSpPr/>
          <p:nvPr/>
        </p:nvSpPr>
        <p:spPr>
          <a:xfrm>
            <a:off x="3794760" y="3429000"/>
            <a:ext cx="4754880" cy="777240"/>
          </a:xfrm>
          <a:prstGeom prst="rect">
            <a:avLst/>
          </a:prstGeom>
          <a:noFill/>
          <a:ln/>
        </p:spPr>
        <p:txBody>
          <a:bodyPr wrap="square" rtlCol="0" anchor="ctr"/>
          <a:lstStyle/>
          <a:p>
            <a:pPr marL="0" indent="0">
              <a:buNone/>
            </a:pPr>
            <a:r>
              <a:rPr lang="en-US" sz="1300" b="1" dirty="0">
                <a:solidFill>
                  <a:srgbClr val="65D7DE"/>
                </a:solidFill>
                <a:latin typeface="Calibri" pitchFamily="34" charset="0"/>
                <a:ea typeface="Calibri" pitchFamily="34" charset="-122"/>
                <a:cs typeface="Calibri" pitchFamily="34" charset="-120"/>
              </a:rPr>
              <a:t>State yönetimi olmayan agent, her seferinde yeniden başlayan bir demo'dur.</a:t>
            </a:r>
            <a:endParaRPr lang="en-US" sz="1300" dirty="0"/>
          </a:p>
        </p:txBody>
      </p:sp>
      <p:sp>
        <p:nvSpPr>
          <p:cNvPr id="11" name="Text 9"/>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CCCCCC"/>
                </a:solidFill>
                <a:latin typeface="Calibri" pitchFamily="34" charset="0"/>
                <a:ea typeface="Calibri" pitchFamily="34" charset="-122"/>
                <a:cs typeface="Calibri" pitchFamily="34" charset="-120"/>
              </a:rPr>
              <a:t>13 / 29  •  Bileşen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marL="0" indent="0">
              <a:buNone/>
            </a:pPr>
            <a:r>
              <a:rPr lang="en-US" sz="3600" b="1" dirty="0">
                <a:solidFill>
                  <a:srgbClr val="393939"/>
                </a:solidFill>
                <a:latin typeface="Consolas" pitchFamily="34" charset="0"/>
                <a:ea typeface="Consolas" pitchFamily="34" charset="-122"/>
                <a:cs typeface="Consolas" pitchFamily="34" charset="-120"/>
              </a:rPr>
              <a:t>&lt;/ Memory /&gt;</a:t>
            </a:r>
            <a:endParaRPr lang="en-US" sz="3600" dirty="0"/>
          </a:p>
        </p:txBody>
      </p:sp>
      <p:sp>
        <p:nvSpPr>
          <p:cNvPr id="3" name="Text 1"/>
          <p:cNvSpPr/>
          <p:nvPr/>
        </p:nvSpPr>
        <p:spPr>
          <a:xfrm>
            <a:off x="548640" y="1051560"/>
            <a:ext cx="3657600" cy="274320"/>
          </a:xfrm>
          <a:prstGeom prst="rect">
            <a:avLst/>
          </a:prstGeom>
          <a:noFill/>
          <a:ln/>
        </p:spPr>
        <p:txBody>
          <a:bodyPr wrap="square" rtlCol="0" anchor="ctr"/>
          <a:lstStyle/>
          <a:p>
            <a:pPr marL="0" indent="0">
              <a:buNone/>
            </a:pPr>
            <a:r>
              <a:rPr lang="en-US" sz="1100" kern="0" spc="400" dirty="0">
                <a:solidFill>
                  <a:srgbClr val="2D9BA3"/>
                </a:solidFill>
                <a:latin typeface="Calibri" pitchFamily="34" charset="0"/>
                <a:ea typeface="Calibri" pitchFamily="34" charset="-122"/>
                <a:cs typeface="Calibri" pitchFamily="34" charset="-120"/>
              </a:rPr>
              <a:t>Harness Bileşeni  5 / 10</a:t>
            </a:r>
            <a:endParaRPr lang="en-US" sz="1100" dirty="0"/>
          </a:p>
        </p:txBody>
      </p:sp>
      <p:sp>
        <p:nvSpPr>
          <p:cNvPr id="4" name="Shape 2"/>
          <p:cNvSpPr/>
          <p:nvPr/>
        </p:nvSpPr>
        <p:spPr>
          <a:xfrm>
            <a:off x="548640" y="1828800"/>
            <a:ext cx="2560320" cy="2560320"/>
          </a:xfrm>
          <a:prstGeom prst="ellipse">
            <a:avLst/>
          </a:prstGeom>
          <a:solidFill>
            <a:srgbClr val="AB80AD"/>
          </a:solidFill>
          <a:ln w="12700">
            <a:solidFill>
              <a:srgbClr val="AB80AD"/>
            </a:solidFill>
            <a:prstDash val="solid"/>
          </a:ln>
        </p:spPr>
        <p:txBody>
          <a:bodyPr/>
          <a:lstStyle/>
          <a:p>
            <a:endParaRPr lang="en-TR"/>
          </a:p>
        </p:txBody>
      </p:sp>
      <p:sp>
        <p:nvSpPr>
          <p:cNvPr id="5" name="Text 3"/>
          <p:cNvSpPr/>
          <p:nvPr/>
        </p:nvSpPr>
        <p:spPr>
          <a:xfrm>
            <a:off x="548640" y="1828800"/>
            <a:ext cx="2560320" cy="2560320"/>
          </a:xfrm>
          <a:prstGeom prst="rect">
            <a:avLst/>
          </a:prstGeom>
          <a:noFill/>
          <a:ln/>
        </p:spPr>
        <p:txBody>
          <a:bodyPr wrap="square" rtlCol="0" anchor="ctr"/>
          <a:lstStyle/>
          <a:p>
            <a:pPr marL="0" indent="0" algn="ctr">
              <a:buNone/>
            </a:pPr>
            <a:r>
              <a:rPr lang="en-US" sz="10000" b="1" dirty="0">
                <a:solidFill>
                  <a:srgbClr val="FFFFFF"/>
                </a:solidFill>
                <a:latin typeface="Calibri" pitchFamily="34" charset="0"/>
                <a:ea typeface="Calibri" pitchFamily="34" charset="-122"/>
                <a:cs typeface="Calibri" pitchFamily="34" charset="-120"/>
              </a:rPr>
              <a:t>M</a:t>
            </a:r>
            <a:endParaRPr lang="en-US" sz="10000" dirty="0"/>
          </a:p>
        </p:txBody>
      </p:sp>
      <p:sp>
        <p:nvSpPr>
          <p:cNvPr id="6" name="Text 4"/>
          <p:cNvSpPr/>
          <p:nvPr/>
        </p:nvSpPr>
        <p:spPr>
          <a:xfrm>
            <a:off x="3657600" y="1783080"/>
            <a:ext cx="5029200" cy="548640"/>
          </a:xfrm>
          <a:prstGeom prst="rect">
            <a:avLst/>
          </a:prstGeom>
          <a:noFill/>
          <a:ln/>
        </p:spPr>
        <p:txBody>
          <a:bodyPr wrap="square" rtlCol="0" anchor="ctr"/>
          <a:lstStyle/>
          <a:p>
            <a:pPr marL="0" indent="0">
              <a:buNone/>
            </a:pPr>
            <a:r>
              <a:rPr lang="en-US" sz="1800" b="1" dirty="0">
                <a:solidFill>
                  <a:srgbClr val="393939"/>
                </a:solidFill>
                <a:latin typeface="Calibri" pitchFamily="34" charset="0"/>
                <a:ea typeface="Calibri" pitchFamily="34" charset="-122"/>
                <a:cs typeface="Calibri" pitchFamily="34" charset="-120"/>
              </a:rPr>
              <a:t>Hatırlama kabiliyeti mi, yönetişim riski mi?</a:t>
            </a:r>
            <a:endParaRPr lang="en-US" sz="1800" dirty="0"/>
          </a:p>
        </p:txBody>
      </p:sp>
      <p:sp>
        <p:nvSpPr>
          <p:cNvPr id="7" name="Shape 5"/>
          <p:cNvSpPr/>
          <p:nvPr/>
        </p:nvSpPr>
        <p:spPr>
          <a:xfrm>
            <a:off x="3657600" y="2468880"/>
            <a:ext cx="5029200" cy="777240"/>
          </a:xfrm>
          <a:prstGeom prst="roundRect">
            <a:avLst>
              <a:gd name="adj" fmla="val 5882"/>
            </a:avLst>
          </a:prstGeom>
          <a:solidFill>
            <a:srgbClr val="8AF7FB">
              <a:alpha val="40000"/>
            </a:srgbClr>
          </a:solidFill>
          <a:ln w="12700">
            <a:solidFill>
              <a:srgbClr val="65D7DE"/>
            </a:solidFill>
            <a:prstDash val="solid"/>
          </a:ln>
        </p:spPr>
        <p:txBody>
          <a:bodyPr/>
          <a:lstStyle/>
          <a:p>
            <a:endParaRPr lang="en-TR"/>
          </a:p>
        </p:txBody>
      </p:sp>
      <p:sp>
        <p:nvSpPr>
          <p:cNvPr id="8" name="Text 6"/>
          <p:cNvSpPr/>
          <p:nvPr/>
        </p:nvSpPr>
        <p:spPr>
          <a:xfrm>
            <a:off x="3794760" y="2514600"/>
            <a:ext cx="4754880" cy="685800"/>
          </a:xfrm>
          <a:prstGeom prst="rect">
            <a:avLst/>
          </a:prstGeom>
          <a:noFill/>
          <a:ln/>
        </p:spPr>
        <p:txBody>
          <a:bodyPr wrap="square" rtlCol="0" anchor="ctr"/>
          <a:lstStyle/>
          <a:p>
            <a:pPr marL="0" indent="0">
              <a:buNone/>
            </a:pPr>
            <a:r>
              <a:rPr lang="en-US" sz="1200" b="1" dirty="0">
                <a:solidFill>
                  <a:srgbClr val="2D9BA3"/>
                </a:solidFill>
                <a:latin typeface="Calibri" pitchFamily="34" charset="0"/>
                <a:ea typeface="Calibri" pitchFamily="34" charset="-122"/>
                <a:cs typeface="Calibri" pitchFamily="34" charset="-120"/>
              </a:rPr>
              <a:t>Kritik soru:  </a:t>
            </a:r>
            <a:r>
              <a:rPr lang="en-US" sz="1200" i="1" dirty="0">
                <a:solidFill>
                  <a:srgbClr val="393939"/>
                </a:solidFill>
                <a:latin typeface="Calibri" pitchFamily="34" charset="0"/>
                <a:ea typeface="Calibri" pitchFamily="34" charset="-122"/>
                <a:cs typeface="Calibri" pitchFamily="34" charset="-120"/>
              </a:rPr>
              <a:t>Memory write/read policy, retention, forget mekanizması var mı?</a:t>
            </a:r>
            <a:endParaRPr lang="en-US" sz="1200" dirty="0"/>
          </a:p>
        </p:txBody>
      </p:sp>
      <p:sp>
        <p:nvSpPr>
          <p:cNvPr id="9" name="Shape 7"/>
          <p:cNvSpPr/>
          <p:nvPr/>
        </p:nvSpPr>
        <p:spPr>
          <a:xfrm>
            <a:off x="3657600" y="3383280"/>
            <a:ext cx="5029200" cy="868680"/>
          </a:xfrm>
          <a:prstGeom prst="rect">
            <a:avLst/>
          </a:prstGeom>
          <a:solidFill>
            <a:srgbClr val="393939"/>
          </a:solidFill>
          <a:ln w="12700">
            <a:solidFill>
              <a:srgbClr val="393939"/>
            </a:solidFill>
            <a:prstDash val="solid"/>
          </a:ln>
        </p:spPr>
        <p:txBody>
          <a:bodyPr/>
          <a:lstStyle/>
          <a:p>
            <a:endParaRPr lang="en-TR"/>
          </a:p>
        </p:txBody>
      </p:sp>
      <p:sp>
        <p:nvSpPr>
          <p:cNvPr id="10" name="Text 8"/>
          <p:cNvSpPr/>
          <p:nvPr/>
        </p:nvSpPr>
        <p:spPr>
          <a:xfrm>
            <a:off x="3794760" y="3429000"/>
            <a:ext cx="4754880" cy="777240"/>
          </a:xfrm>
          <a:prstGeom prst="rect">
            <a:avLst/>
          </a:prstGeom>
          <a:noFill/>
          <a:ln/>
        </p:spPr>
        <p:txBody>
          <a:bodyPr wrap="square" rtlCol="0" anchor="ctr"/>
          <a:lstStyle/>
          <a:p>
            <a:pPr marL="0" indent="0">
              <a:buNone/>
            </a:pPr>
            <a:r>
              <a:rPr lang="en-US" sz="1300" b="1" dirty="0">
                <a:solidFill>
                  <a:srgbClr val="65D7DE"/>
                </a:solidFill>
                <a:latin typeface="Calibri" pitchFamily="34" charset="0"/>
                <a:ea typeface="Calibri" pitchFamily="34" charset="-122"/>
                <a:cs typeface="Calibri" pitchFamily="34" charset="-120"/>
              </a:rPr>
              <a:t>Memory agent'ı kişiselleştirir; governance memory'i güvenilir kılar.</a:t>
            </a:r>
            <a:endParaRPr lang="en-US" sz="1300" dirty="0"/>
          </a:p>
        </p:txBody>
      </p:sp>
      <p:sp>
        <p:nvSpPr>
          <p:cNvPr id="11" name="Text 9"/>
          <p:cNvSpPr/>
          <p:nvPr/>
        </p:nvSpPr>
        <p:spPr>
          <a:xfrm>
            <a:off x="3657600" y="4343400"/>
            <a:ext cx="5029200" cy="365760"/>
          </a:xfrm>
          <a:prstGeom prst="rect">
            <a:avLst/>
          </a:prstGeom>
          <a:noFill/>
          <a:ln/>
        </p:spPr>
        <p:txBody>
          <a:bodyPr wrap="square" rtlCol="0" anchor="ctr"/>
          <a:lstStyle/>
          <a:p>
            <a:pPr marL="0" indent="0">
              <a:buNone/>
            </a:pPr>
            <a:r>
              <a:rPr lang="en-US" sz="1000" i="1" dirty="0">
                <a:solidFill>
                  <a:srgbClr val="545454"/>
                </a:solidFill>
                <a:latin typeface="Calibri" pitchFamily="34" charset="0"/>
                <a:ea typeface="Calibri" pitchFamily="34" charset="-122"/>
                <a:cs typeface="Calibri" pitchFamily="34" charset="-120"/>
              </a:rPr>
              <a:t>Faydalı: kişiselleştirme, bağlam  •  Riskli: PII sızıntı, poisoning, cross-tenant leak</a:t>
            </a:r>
            <a:endParaRPr lang="en-US" sz="1000" dirty="0"/>
          </a:p>
        </p:txBody>
      </p:sp>
      <p:sp>
        <p:nvSpPr>
          <p:cNvPr id="12" name="Text 10"/>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545454"/>
                </a:solidFill>
                <a:latin typeface="Calibri" pitchFamily="34" charset="0"/>
                <a:ea typeface="Calibri" pitchFamily="34" charset="-122"/>
                <a:cs typeface="Calibri" pitchFamily="34" charset="-120"/>
              </a:rPr>
              <a:t>14 / 29  •  Bileşen</a:t>
            </a:r>
            <a:endParaRPr lang="en-US" sz="900" dirty="0"/>
          </a:p>
        </p:txBody>
      </p:sp>
      <p:sp>
        <p:nvSpPr>
          <p:cNvPr id="13" name="Text 11"/>
          <p:cNvSpPr/>
          <p:nvPr/>
        </p:nvSpPr>
        <p:spPr>
          <a:xfrm>
            <a:off x="274320" y="4846320"/>
            <a:ext cx="1371600" cy="228600"/>
          </a:xfrm>
          <a:prstGeom prst="rect">
            <a:avLst/>
          </a:prstGeom>
          <a:noFill/>
          <a:ln/>
        </p:spPr>
        <p:txBody>
          <a:bodyPr wrap="square" rtlCol="0" anchor="ctr"/>
          <a:lstStyle/>
          <a:p>
            <a:pPr marL="0" indent="0">
              <a:buNone/>
            </a:pPr>
            <a:r>
              <a:rPr lang="en-US" sz="900" dirty="0">
                <a:solidFill>
                  <a:srgbClr val="545454"/>
                </a:solidFill>
                <a:latin typeface="Calibri" pitchFamily="34" charset="0"/>
                <a:ea typeface="Calibri" pitchFamily="34" charset="-122"/>
                <a:cs typeface="Calibri" pitchFamily="34" charset="-120"/>
              </a:rPr>
              <a:t>&lt; softtech</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2F2F5"/>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marL="0" indent="0">
              <a:buNone/>
            </a:pPr>
            <a:r>
              <a:rPr lang="en-US" sz="3600" b="1" dirty="0">
                <a:solidFill>
                  <a:srgbClr val="393939"/>
                </a:solidFill>
                <a:latin typeface="Consolas" pitchFamily="34" charset="0"/>
                <a:ea typeface="Consolas" pitchFamily="34" charset="-122"/>
                <a:cs typeface="Consolas" pitchFamily="34" charset="-120"/>
              </a:rPr>
              <a:t>&lt;/ Guardrails /&gt;</a:t>
            </a:r>
            <a:endParaRPr lang="en-US" sz="3600" dirty="0"/>
          </a:p>
        </p:txBody>
      </p:sp>
      <p:sp>
        <p:nvSpPr>
          <p:cNvPr id="3" name="Text 1"/>
          <p:cNvSpPr/>
          <p:nvPr/>
        </p:nvSpPr>
        <p:spPr>
          <a:xfrm>
            <a:off x="548640" y="1051560"/>
            <a:ext cx="3657600" cy="274320"/>
          </a:xfrm>
          <a:prstGeom prst="rect">
            <a:avLst/>
          </a:prstGeom>
          <a:noFill/>
          <a:ln/>
        </p:spPr>
        <p:txBody>
          <a:bodyPr wrap="square" rtlCol="0" anchor="ctr"/>
          <a:lstStyle/>
          <a:p>
            <a:pPr marL="0" indent="0">
              <a:buNone/>
            </a:pPr>
            <a:r>
              <a:rPr lang="en-US" sz="1100" kern="0" spc="400" dirty="0">
                <a:solidFill>
                  <a:srgbClr val="2D9BA3"/>
                </a:solidFill>
                <a:latin typeface="Calibri" pitchFamily="34" charset="0"/>
                <a:ea typeface="Calibri" pitchFamily="34" charset="-122"/>
                <a:cs typeface="Calibri" pitchFamily="34" charset="-120"/>
              </a:rPr>
              <a:t>Harness Bileşeni  6 / 10</a:t>
            </a:r>
            <a:endParaRPr lang="en-US" sz="1100" dirty="0"/>
          </a:p>
        </p:txBody>
      </p:sp>
      <p:sp>
        <p:nvSpPr>
          <p:cNvPr id="4" name="Shape 2"/>
          <p:cNvSpPr/>
          <p:nvPr/>
        </p:nvSpPr>
        <p:spPr>
          <a:xfrm>
            <a:off x="548640" y="1828800"/>
            <a:ext cx="2560320" cy="2560320"/>
          </a:xfrm>
          <a:prstGeom prst="ellipse">
            <a:avLst/>
          </a:prstGeom>
          <a:solidFill>
            <a:srgbClr val="2D9BA3"/>
          </a:solidFill>
          <a:ln w="12700">
            <a:solidFill>
              <a:srgbClr val="2D9BA3"/>
            </a:solidFill>
            <a:prstDash val="solid"/>
          </a:ln>
        </p:spPr>
        <p:txBody>
          <a:bodyPr/>
          <a:lstStyle/>
          <a:p>
            <a:endParaRPr lang="en-TR"/>
          </a:p>
        </p:txBody>
      </p:sp>
      <p:sp>
        <p:nvSpPr>
          <p:cNvPr id="5" name="Text 3"/>
          <p:cNvSpPr/>
          <p:nvPr/>
        </p:nvSpPr>
        <p:spPr>
          <a:xfrm>
            <a:off x="548640" y="1828800"/>
            <a:ext cx="2560320" cy="2560320"/>
          </a:xfrm>
          <a:prstGeom prst="rect">
            <a:avLst/>
          </a:prstGeom>
          <a:noFill/>
          <a:ln/>
        </p:spPr>
        <p:txBody>
          <a:bodyPr wrap="square" rtlCol="0" anchor="ctr"/>
          <a:lstStyle/>
          <a:p>
            <a:pPr marL="0" indent="0" algn="ctr">
              <a:buNone/>
            </a:pPr>
            <a:r>
              <a:rPr lang="en-US" sz="10000" b="1" dirty="0">
                <a:solidFill>
                  <a:srgbClr val="FFFFFF"/>
                </a:solidFill>
                <a:latin typeface="Calibri" pitchFamily="34" charset="0"/>
                <a:ea typeface="Calibri" pitchFamily="34" charset="-122"/>
                <a:cs typeface="Calibri" pitchFamily="34" charset="-120"/>
              </a:rPr>
              <a:t>║</a:t>
            </a:r>
            <a:endParaRPr lang="en-US" sz="10000" dirty="0"/>
          </a:p>
        </p:txBody>
      </p:sp>
      <p:sp>
        <p:nvSpPr>
          <p:cNvPr id="6" name="Text 4"/>
          <p:cNvSpPr/>
          <p:nvPr/>
        </p:nvSpPr>
        <p:spPr>
          <a:xfrm>
            <a:off x="3657600" y="1783080"/>
            <a:ext cx="5029200" cy="548640"/>
          </a:xfrm>
          <a:prstGeom prst="rect">
            <a:avLst/>
          </a:prstGeom>
          <a:noFill/>
          <a:ln/>
        </p:spPr>
        <p:txBody>
          <a:bodyPr wrap="square" rtlCol="0" anchor="ctr"/>
          <a:lstStyle/>
          <a:p>
            <a:pPr marL="0" indent="0">
              <a:buNone/>
            </a:pPr>
            <a:r>
              <a:rPr lang="en-US" sz="1800" b="1" dirty="0">
                <a:solidFill>
                  <a:srgbClr val="393939"/>
                </a:solidFill>
                <a:latin typeface="Calibri" pitchFamily="34" charset="0"/>
                <a:ea typeface="Calibri" pitchFamily="34" charset="-122"/>
                <a:cs typeface="Calibri" pitchFamily="34" charset="-120"/>
              </a:rPr>
              <a:t>Sınır çizgileri 7 noktada çalışır</a:t>
            </a:r>
            <a:endParaRPr lang="en-US" sz="1800" dirty="0"/>
          </a:p>
        </p:txBody>
      </p:sp>
      <p:sp>
        <p:nvSpPr>
          <p:cNvPr id="7" name="Shape 5"/>
          <p:cNvSpPr/>
          <p:nvPr/>
        </p:nvSpPr>
        <p:spPr>
          <a:xfrm>
            <a:off x="3657600" y="2468880"/>
            <a:ext cx="5029200" cy="777240"/>
          </a:xfrm>
          <a:prstGeom prst="roundRect">
            <a:avLst>
              <a:gd name="adj" fmla="val 5882"/>
            </a:avLst>
          </a:prstGeom>
          <a:solidFill>
            <a:srgbClr val="8AF7FB">
              <a:alpha val="40000"/>
            </a:srgbClr>
          </a:solidFill>
          <a:ln w="12700">
            <a:solidFill>
              <a:srgbClr val="65D7DE"/>
            </a:solidFill>
            <a:prstDash val="solid"/>
          </a:ln>
        </p:spPr>
        <p:txBody>
          <a:bodyPr/>
          <a:lstStyle/>
          <a:p>
            <a:endParaRPr lang="en-TR"/>
          </a:p>
        </p:txBody>
      </p:sp>
      <p:sp>
        <p:nvSpPr>
          <p:cNvPr id="8" name="Text 6"/>
          <p:cNvSpPr/>
          <p:nvPr/>
        </p:nvSpPr>
        <p:spPr>
          <a:xfrm>
            <a:off x="3794760" y="2514600"/>
            <a:ext cx="4754880" cy="685800"/>
          </a:xfrm>
          <a:prstGeom prst="rect">
            <a:avLst/>
          </a:prstGeom>
          <a:noFill/>
          <a:ln/>
        </p:spPr>
        <p:txBody>
          <a:bodyPr wrap="square" rtlCol="0" anchor="ctr"/>
          <a:lstStyle/>
          <a:p>
            <a:pPr marL="0" indent="0">
              <a:buNone/>
            </a:pPr>
            <a:r>
              <a:rPr lang="en-US" sz="1200" b="1" dirty="0">
                <a:solidFill>
                  <a:srgbClr val="2D9BA3"/>
                </a:solidFill>
                <a:latin typeface="Calibri" pitchFamily="34" charset="0"/>
                <a:ea typeface="Calibri" pitchFamily="34" charset="-122"/>
                <a:cs typeface="Calibri" pitchFamily="34" charset="-120"/>
              </a:rPr>
              <a:t>Kritik soru:  </a:t>
            </a:r>
            <a:r>
              <a:rPr lang="en-US" sz="1200" i="1" dirty="0">
                <a:solidFill>
                  <a:srgbClr val="393939"/>
                </a:solidFill>
                <a:latin typeface="Calibri" pitchFamily="34" charset="0"/>
                <a:ea typeface="Calibri" pitchFamily="34" charset="-122"/>
                <a:cs typeface="Calibri" pitchFamily="34" charset="-120"/>
              </a:rPr>
              <a:t>Output filtre yeterli mi?</a:t>
            </a:r>
            <a:endParaRPr lang="en-US" sz="1200" dirty="0"/>
          </a:p>
        </p:txBody>
      </p:sp>
      <p:sp>
        <p:nvSpPr>
          <p:cNvPr id="9" name="Shape 7"/>
          <p:cNvSpPr/>
          <p:nvPr/>
        </p:nvSpPr>
        <p:spPr>
          <a:xfrm>
            <a:off x="3657600" y="3383280"/>
            <a:ext cx="5029200" cy="868680"/>
          </a:xfrm>
          <a:prstGeom prst="rect">
            <a:avLst/>
          </a:prstGeom>
          <a:solidFill>
            <a:srgbClr val="393939"/>
          </a:solidFill>
          <a:ln w="12700">
            <a:solidFill>
              <a:srgbClr val="393939"/>
            </a:solidFill>
            <a:prstDash val="solid"/>
          </a:ln>
        </p:spPr>
        <p:txBody>
          <a:bodyPr/>
          <a:lstStyle/>
          <a:p>
            <a:endParaRPr lang="en-TR"/>
          </a:p>
        </p:txBody>
      </p:sp>
      <p:sp>
        <p:nvSpPr>
          <p:cNvPr id="10" name="Text 8"/>
          <p:cNvSpPr/>
          <p:nvPr/>
        </p:nvSpPr>
        <p:spPr>
          <a:xfrm>
            <a:off x="3794760" y="3429000"/>
            <a:ext cx="4754880" cy="777240"/>
          </a:xfrm>
          <a:prstGeom prst="rect">
            <a:avLst/>
          </a:prstGeom>
          <a:noFill/>
          <a:ln/>
        </p:spPr>
        <p:txBody>
          <a:bodyPr wrap="square" rtlCol="0" anchor="ctr"/>
          <a:lstStyle/>
          <a:p>
            <a:pPr marL="0" indent="0">
              <a:buNone/>
            </a:pPr>
            <a:r>
              <a:rPr lang="en-US" sz="1300" b="1" dirty="0">
                <a:solidFill>
                  <a:srgbClr val="65D7DE"/>
                </a:solidFill>
                <a:latin typeface="Calibri" pitchFamily="34" charset="0"/>
                <a:ea typeface="Calibri" pitchFamily="34" charset="-122"/>
                <a:cs typeface="Calibri" pitchFamily="34" charset="-120"/>
              </a:rPr>
              <a:t>Guardrail, sansür değil; davranışı kurum sınırları içinde tutmaktır.</a:t>
            </a:r>
            <a:endParaRPr lang="en-US" sz="1300" dirty="0"/>
          </a:p>
        </p:txBody>
      </p:sp>
      <p:sp>
        <p:nvSpPr>
          <p:cNvPr id="11" name="Text 9"/>
          <p:cNvSpPr/>
          <p:nvPr/>
        </p:nvSpPr>
        <p:spPr>
          <a:xfrm>
            <a:off x="3657600" y="4343400"/>
            <a:ext cx="5029200" cy="365760"/>
          </a:xfrm>
          <a:prstGeom prst="rect">
            <a:avLst/>
          </a:prstGeom>
          <a:noFill/>
          <a:ln/>
        </p:spPr>
        <p:txBody>
          <a:bodyPr wrap="square" rtlCol="0" anchor="ctr"/>
          <a:lstStyle/>
          <a:p>
            <a:pPr marL="0" indent="0">
              <a:buNone/>
            </a:pPr>
            <a:r>
              <a:rPr lang="en-US" sz="1000" i="1" dirty="0">
                <a:solidFill>
                  <a:srgbClr val="545454"/>
                </a:solidFill>
                <a:latin typeface="Calibri" pitchFamily="34" charset="0"/>
                <a:ea typeface="Calibri" pitchFamily="34" charset="-122"/>
                <a:cs typeface="Calibri" pitchFamily="34" charset="-120"/>
              </a:rPr>
              <a:t>Input  •  Retrieval  •  Tool  •  Output  •  Cost  •  Policy  •  HITL</a:t>
            </a:r>
            <a:endParaRPr lang="en-US" sz="1000" dirty="0"/>
          </a:p>
        </p:txBody>
      </p:sp>
      <p:sp>
        <p:nvSpPr>
          <p:cNvPr id="12" name="Text 10"/>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CCCCCC"/>
                </a:solidFill>
                <a:latin typeface="Calibri" pitchFamily="34" charset="0"/>
                <a:ea typeface="Calibri" pitchFamily="34" charset="-122"/>
                <a:cs typeface="Calibri" pitchFamily="34" charset="-120"/>
              </a:rPr>
              <a:t>15 / 29  •  Bileşen</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marL="0" indent="0">
              <a:buNone/>
            </a:pPr>
            <a:r>
              <a:rPr lang="en-US" sz="3600" b="1" dirty="0">
                <a:solidFill>
                  <a:srgbClr val="393939"/>
                </a:solidFill>
                <a:latin typeface="Consolas" pitchFamily="34" charset="0"/>
                <a:ea typeface="Consolas" pitchFamily="34" charset="-122"/>
                <a:cs typeface="Consolas" pitchFamily="34" charset="-120"/>
              </a:rPr>
              <a:t>&lt;/ Sandbox /&gt;</a:t>
            </a:r>
            <a:endParaRPr lang="en-US" sz="3600" dirty="0"/>
          </a:p>
        </p:txBody>
      </p:sp>
      <p:sp>
        <p:nvSpPr>
          <p:cNvPr id="3" name="Text 1"/>
          <p:cNvSpPr/>
          <p:nvPr/>
        </p:nvSpPr>
        <p:spPr>
          <a:xfrm>
            <a:off x="548640" y="1051560"/>
            <a:ext cx="3657600" cy="274320"/>
          </a:xfrm>
          <a:prstGeom prst="rect">
            <a:avLst/>
          </a:prstGeom>
          <a:noFill/>
          <a:ln/>
        </p:spPr>
        <p:txBody>
          <a:bodyPr wrap="square" rtlCol="0" anchor="ctr"/>
          <a:lstStyle/>
          <a:p>
            <a:pPr marL="0" indent="0">
              <a:buNone/>
            </a:pPr>
            <a:r>
              <a:rPr lang="en-US" sz="1100" kern="0" spc="400" dirty="0">
                <a:solidFill>
                  <a:srgbClr val="2D9BA3"/>
                </a:solidFill>
                <a:latin typeface="Calibri" pitchFamily="34" charset="0"/>
                <a:ea typeface="Calibri" pitchFamily="34" charset="-122"/>
                <a:cs typeface="Calibri" pitchFamily="34" charset="-120"/>
              </a:rPr>
              <a:t>Harness Bileşeni  7 / 10</a:t>
            </a:r>
            <a:endParaRPr lang="en-US" sz="1100" dirty="0"/>
          </a:p>
        </p:txBody>
      </p:sp>
      <p:sp>
        <p:nvSpPr>
          <p:cNvPr id="4" name="Shape 2"/>
          <p:cNvSpPr/>
          <p:nvPr/>
        </p:nvSpPr>
        <p:spPr>
          <a:xfrm>
            <a:off x="548640" y="1828800"/>
            <a:ext cx="2560320" cy="2560320"/>
          </a:xfrm>
          <a:prstGeom prst="ellipse">
            <a:avLst/>
          </a:prstGeom>
          <a:solidFill>
            <a:srgbClr val="393939"/>
          </a:solidFill>
          <a:ln w="12700">
            <a:solidFill>
              <a:srgbClr val="393939"/>
            </a:solidFill>
            <a:prstDash val="solid"/>
          </a:ln>
        </p:spPr>
        <p:txBody>
          <a:bodyPr/>
          <a:lstStyle/>
          <a:p>
            <a:endParaRPr lang="en-TR"/>
          </a:p>
        </p:txBody>
      </p:sp>
      <p:sp>
        <p:nvSpPr>
          <p:cNvPr id="5" name="Text 3"/>
          <p:cNvSpPr/>
          <p:nvPr/>
        </p:nvSpPr>
        <p:spPr>
          <a:xfrm>
            <a:off x="548640" y="1828800"/>
            <a:ext cx="2560320" cy="2560320"/>
          </a:xfrm>
          <a:prstGeom prst="rect">
            <a:avLst/>
          </a:prstGeom>
          <a:noFill/>
          <a:ln/>
        </p:spPr>
        <p:txBody>
          <a:bodyPr wrap="square" rtlCol="0" anchor="ctr"/>
          <a:lstStyle/>
          <a:p>
            <a:pPr marL="0" indent="0" algn="ctr">
              <a:buNone/>
            </a:pPr>
            <a:r>
              <a:rPr lang="en-US" sz="10000" b="1" dirty="0">
                <a:solidFill>
                  <a:srgbClr val="FFFFFF"/>
                </a:solidFill>
                <a:latin typeface="Calibri" pitchFamily="34" charset="0"/>
                <a:ea typeface="Calibri" pitchFamily="34" charset="-122"/>
                <a:cs typeface="Calibri" pitchFamily="34" charset="-120"/>
              </a:rPr>
              <a:t>□</a:t>
            </a:r>
            <a:endParaRPr lang="en-US" sz="10000" dirty="0"/>
          </a:p>
        </p:txBody>
      </p:sp>
      <p:sp>
        <p:nvSpPr>
          <p:cNvPr id="6" name="Text 4"/>
          <p:cNvSpPr/>
          <p:nvPr/>
        </p:nvSpPr>
        <p:spPr>
          <a:xfrm>
            <a:off x="3657600" y="1783080"/>
            <a:ext cx="5029200" cy="548640"/>
          </a:xfrm>
          <a:prstGeom prst="rect">
            <a:avLst/>
          </a:prstGeom>
          <a:noFill/>
          <a:ln/>
        </p:spPr>
        <p:txBody>
          <a:bodyPr wrap="square" rtlCol="0" anchor="ctr"/>
          <a:lstStyle/>
          <a:p>
            <a:pPr marL="0" indent="0">
              <a:buNone/>
            </a:pPr>
            <a:r>
              <a:rPr lang="en-US" sz="1800" b="1" dirty="0">
                <a:solidFill>
                  <a:srgbClr val="393939"/>
                </a:solidFill>
                <a:latin typeface="Calibri" pitchFamily="34" charset="0"/>
                <a:ea typeface="Calibri" pitchFamily="34" charset="-122"/>
                <a:cs typeface="Calibri" pitchFamily="34" charset="-120"/>
              </a:rPr>
              <a:t>Agent neye </a:t>
            </a:r>
            <a:r>
              <a:rPr lang="en-US" sz="1800" b="1" dirty="0" err="1">
                <a:solidFill>
                  <a:srgbClr val="393939"/>
                </a:solidFill>
                <a:latin typeface="Calibri" pitchFamily="34" charset="0"/>
                <a:ea typeface="Calibri" pitchFamily="34" charset="-122"/>
                <a:cs typeface="Calibri" pitchFamily="34" charset="-120"/>
              </a:rPr>
              <a:t>dokunabilir</a:t>
            </a:r>
            <a:r>
              <a:rPr lang="en-US" sz="1800" b="1" dirty="0">
                <a:solidFill>
                  <a:srgbClr val="393939"/>
                </a:solidFill>
                <a:latin typeface="Calibri" pitchFamily="34" charset="0"/>
                <a:ea typeface="Calibri" pitchFamily="34" charset="-122"/>
                <a:cs typeface="Calibri" pitchFamily="34" charset="-120"/>
              </a:rPr>
              <a:t>? Egress control</a:t>
            </a:r>
            <a:endParaRPr lang="en-US" sz="1800" dirty="0"/>
          </a:p>
        </p:txBody>
      </p:sp>
      <p:sp>
        <p:nvSpPr>
          <p:cNvPr id="7" name="Shape 5"/>
          <p:cNvSpPr/>
          <p:nvPr/>
        </p:nvSpPr>
        <p:spPr>
          <a:xfrm>
            <a:off x="3657600" y="2468880"/>
            <a:ext cx="5029200" cy="777240"/>
          </a:xfrm>
          <a:prstGeom prst="roundRect">
            <a:avLst>
              <a:gd name="adj" fmla="val 5882"/>
            </a:avLst>
          </a:prstGeom>
          <a:solidFill>
            <a:srgbClr val="8AF7FB">
              <a:alpha val="40000"/>
            </a:srgbClr>
          </a:solidFill>
          <a:ln w="12700">
            <a:solidFill>
              <a:srgbClr val="65D7DE"/>
            </a:solidFill>
            <a:prstDash val="solid"/>
          </a:ln>
        </p:spPr>
        <p:txBody>
          <a:bodyPr/>
          <a:lstStyle/>
          <a:p>
            <a:endParaRPr lang="en-TR"/>
          </a:p>
        </p:txBody>
      </p:sp>
      <p:sp>
        <p:nvSpPr>
          <p:cNvPr id="8" name="Text 6"/>
          <p:cNvSpPr/>
          <p:nvPr/>
        </p:nvSpPr>
        <p:spPr>
          <a:xfrm>
            <a:off x="3794760" y="2514600"/>
            <a:ext cx="4754880" cy="685800"/>
          </a:xfrm>
          <a:prstGeom prst="rect">
            <a:avLst/>
          </a:prstGeom>
          <a:noFill/>
          <a:ln/>
        </p:spPr>
        <p:txBody>
          <a:bodyPr wrap="square" rtlCol="0" anchor="ctr"/>
          <a:lstStyle/>
          <a:p>
            <a:pPr marL="0" indent="0">
              <a:buNone/>
            </a:pPr>
            <a:r>
              <a:rPr lang="en-US" sz="1200" b="1" dirty="0">
                <a:solidFill>
                  <a:srgbClr val="2D9BA3"/>
                </a:solidFill>
                <a:latin typeface="Calibri" pitchFamily="34" charset="0"/>
                <a:ea typeface="Calibri" pitchFamily="34" charset="-122"/>
                <a:cs typeface="Calibri" pitchFamily="34" charset="-120"/>
              </a:rPr>
              <a:t>Kritik soru:  </a:t>
            </a:r>
            <a:r>
              <a:rPr lang="en-US" sz="1200" i="1" dirty="0">
                <a:solidFill>
                  <a:srgbClr val="393939"/>
                </a:solidFill>
                <a:latin typeface="Calibri" pitchFamily="34" charset="0"/>
                <a:ea typeface="Calibri" pitchFamily="34" charset="-122"/>
                <a:cs typeface="Calibri" pitchFamily="34" charset="-120"/>
              </a:rPr>
              <a:t>Browser, kod yürütme, file system erişimi nasıl kısıtlanmalı?</a:t>
            </a:r>
            <a:endParaRPr lang="en-US" sz="1200" dirty="0"/>
          </a:p>
        </p:txBody>
      </p:sp>
      <p:sp>
        <p:nvSpPr>
          <p:cNvPr id="9" name="Shape 7"/>
          <p:cNvSpPr/>
          <p:nvPr/>
        </p:nvSpPr>
        <p:spPr>
          <a:xfrm>
            <a:off x="3657600" y="3383280"/>
            <a:ext cx="5029200" cy="868680"/>
          </a:xfrm>
          <a:prstGeom prst="rect">
            <a:avLst/>
          </a:prstGeom>
          <a:solidFill>
            <a:srgbClr val="393939"/>
          </a:solidFill>
          <a:ln w="12700">
            <a:solidFill>
              <a:srgbClr val="393939"/>
            </a:solidFill>
            <a:prstDash val="solid"/>
          </a:ln>
        </p:spPr>
        <p:txBody>
          <a:bodyPr/>
          <a:lstStyle/>
          <a:p>
            <a:endParaRPr lang="en-TR"/>
          </a:p>
        </p:txBody>
      </p:sp>
      <p:sp>
        <p:nvSpPr>
          <p:cNvPr id="10" name="Text 8"/>
          <p:cNvSpPr/>
          <p:nvPr/>
        </p:nvSpPr>
        <p:spPr>
          <a:xfrm>
            <a:off x="3794760" y="3429000"/>
            <a:ext cx="4754880" cy="777240"/>
          </a:xfrm>
          <a:prstGeom prst="rect">
            <a:avLst/>
          </a:prstGeom>
          <a:noFill/>
          <a:ln/>
        </p:spPr>
        <p:txBody>
          <a:bodyPr wrap="square" rtlCol="0" anchor="ctr"/>
          <a:lstStyle/>
          <a:p>
            <a:pPr marL="0" indent="0">
              <a:buNone/>
            </a:pPr>
            <a:r>
              <a:rPr lang="en-US" sz="1300" b="1" dirty="0">
                <a:solidFill>
                  <a:srgbClr val="65D7DE"/>
                </a:solidFill>
                <a:latin typeface="Calibri" pitchFamily="34" charset="0"/>
                <a:ea typeface="Calibri" pitchFamily="34" charset="-122"/>
                <a:cs typeface="Calibri" pitchFamily="34" charset="-120"/>
              </a:rPr>
              <a:t>Sandbox, agent zekası ile sistem kaynakları arasındaki güvenlik tamponudur.</a:t>
            </a:r>
            <a:endParaRPr lang="en-US" sz="1300" dirty="0"/>
          </a:p>
        </p:txBody>
      </p:sp>
      <p:sp>
        <p:nvSpPr>
          <p:cNvPr id="11" name="Text 9"/>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545454"/>
                </a:solidFill>
                <a:latin typeface="Calibri" pitchFamily="34" charset="0"/>
                <a:ea typeface="Calibri" pitchFamily="34" charset="-122"/>
                <a:cs typeface="Calibri" pitchFamily="34" charset="-120"/>
              </a:rPr>
              <a:t>16 / 29  •  Bileşen</a:t>
            </a:r>
            <a:endParaRPr lang="en-US" sz="900" dirty="0"/>
          </a:p>
        </p:txBody>
      </p:sp>
      <p:sp>
        <p:nvSpPr>
          <p:cNvPr id="12" name="Text 10"/>
          <p:cNvSpPr/>
          <p:nvPr/>
        </p:nvSpPr>
        <p:spPr>
          <a:xfrm>
            <a:off x="274320" y="4846320"/>
            <a:ext cx="1371600" cy="228600"/>
          </a:xfrm>
          <a:prstGeom prst="rect">
            <a:avLst/>
          </a:prstGeom>
          <a:noFill/>
          <a:ln/>
        </p:spPr>
        <p:txBody>
          <a:bodyPr wrap="square" rtlCol="0" anchor="ctr"/>
          <a:lstStyle/>
          <a:p>
            <a:pPr marL="0" indent="0">
              <a:buNone/>
            </a:pPr>
            <a:r>
              <a:rPr lang="en-US" sz="900" dirty="0">
                <a:solidFill>
                  <a:srgbClr val="545454"/>
                </a:solidFill>
                <a:latin typeface="Calibri" pitchFamily="34" charset="0"/>
                <a:ea typeface="Calibri" pitchFamily="34" charset="-122"/>
                <a:cs typeface="Calibri" pitchFamily="34" charset="-120"/>
              </a:rPr>
              <a:t>&lt; softtech</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2F2F5"/>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marL="0" indent="0">
              <a:buNone/>
            </a:pPr>
            <a:r>
              <a:rPr lang="en-US" sz="3600" b="1" dirty="0">
                <a:solidFill>
                  <a:srgbClr val="393939"/>
                </a:solidFill>
                <a:latin typeface="Consolas" pitchFamily="34" charset="0"/>
                <a:ea typeface="Consolas" pitchFamily="34" charset="-122"/>
                <a:cs typeface="Consolas" pitchFamily="34" charset="-120"/>
              </a:rPr>
              <a:t>&lt;/ HITL /&gt;</a:t>
            </a:r>
            <a:endParaRPr lang="en-US" sz="3600" dirty="0"/>
          </a:p>
        </p:txBody>
      </p:sp>
      <p:sp>
        <p:nvSpPr>
          <p:cNvPr id="3" name="Text 1"/>
          <p:cNvSpPr/>
          <p:nvPr/>
        </p:nvSpPr>
        <p:spPr>
          <a:xfrm>
            <a:off x="548640" y="1051560"/>
            <a:ext cx="3657600" cy="274320"/>
          </a:xfrm>
          <a:prstGeom prst="rect">
            <a:avLst/>
          </a:prstGeom>
          <a:noFill/>
          <a:ln/>
        </p:spPr>
        <p:txBody>
          <a:bodyPr wrap="square" rtlCol="0" anchor="ctr"/>
          <a:lstStyle/>
          <a:p>
            <a:pPr marL="0" indent="0">
              <a:buNone/>
            </a:pPr>
            <a:r>
              <a:rPr lang="en-US" sz="1100" kern="0" spc="400" dirty="0">
                <a:solidFill>
                  <a:srgbClr val="2D9BA3"/>
                </a:solidFill>
                <a:latin typeface="Calibri" pitchFamily="34" charset="0"/>
                <a:ea typeface="Calibri" pitchFamily="34" charset="-122"/>
                <a:cs typeface="Calibri" pitchFamily="34" charset="-120"/>
              </a:rPr>
              <a:t>Harness Bileşeni  8 / 10</a:t>
            </a:r>
            <a:endParaRPr lang="en-US" sz="1100" dirty="0"/>
          </a:p>
        </p:txBody>
      </p:sp>
      <p:sp>
        <p:nvSpPr>
          <p:cNvPr id="4" name="Shape 2"/>
          <p:cNvSpPr/>
          <p:nvPr/>
        </p:nvSpPr>
        <p:spPr>
          <a:xfrm>
            <a:off x="548640" y="1828800"/>
            <a:ext cx="2560320" cy="2560320"/>
          </a:xfrm>
          <a:prstGeom prst="ellipse">
            <a:avLst/>
          </a:prstGeom>
          <a:solidFill>
            <a:srgbClr val="FFCC4F"/>
          </a:solidFill>
          <a:ln w="12700">
            <a:solidFill>
              <a:srgbClr val="FFCC4F"/>
            </a:solidFill>
            <a:prstDash val="solid"/>
          </a:ln>
        </p:spPr>
        <p:txBody>
          <a:bodyPr/>
          <a:lstStyle/>
          <a:p>
            <a:endParaRPr lang="en-TR"/>
          </a:p>
        </p:txBody>
      </p:sp>
      <p:sp>
        <p:nvSpPr>
          <p:cNvPr id="5" name="Text 3"/>
          <p:cNvSpPr/>
          <p:nvPr/>
        </p:nvSpPr>
        <p:spPr>
          <a:xfrm>
            <a:off x="548640" y="1828800"/>
            <a:ext cx="2560320" cy="2560320"/>
          </a:xfrm>
          <a:prstGeom prst="rect">
            <a:avLst/>
          </a:prstGeom>
          <a:noFill/>
          <a:ln/>
        </p:spPr>
        <p:txBody>
          <a:bodyPr wrap="square" rtlCol="0" anchor="ctr"/>
          <a:lstStyle/>
          <a:p>
            <a:pPr marL="0" indent="0" algn="ctr">
              <a:buNone/>
            </a:pPr>
            <a:r>
              <a:rPr lang="en-US" sz="10000" b="1" dirty="0">
                <a:solidFill>
                  <a:srgbClr val="FFFFFF"/>
                </a:solidFill>
                <a:latin typeface="Calibri" pitchFamily="34" charset="0"/>
                <a:ea typeface="Calibri" pitchFamily="34" charset="-122"/>
                <a:cs typeface="Calibri" pitchFamily="34" charset="-120"/>
              </a:rPr>
              <a:t>✓</a:t>
            </a:r>
            <a:endParaRPr lang="en-US" sz="10000" dirty="0"/>
          </a:p>
        </p:txBody>
      </p:sp>
      <p:sp>
        <p:nvSpPr>
          <p:cNvPr id="6" name="Text 4"/>
          <p:cNvSpPr/>
          <p:nvPr/>
        </p:nvSpPr>
        <p:spPr>
          <a:xfrm>
            <a:off x="3657600" y="1783080"/>
            <a:ext cx="5029200" cy="548640"/>
          </a:xfrm>
          <a:prstGeom prst="rect">
            <a:avLst/>
          </a:prstGeom>
          <a:noFill/>
          <a:ln/>
        </p:spPr>
        <p:txBody>
          <a:bodyPr wrap="square" rtlCol="0" anchor="ctr"/>
          <a:lstStyle/>
          <a:p>
            <a:pPr marL="0" indent="0">
              <a:buNone/>
            </a:pPr>
            <a:r>
              <a:rPr lang="en-US" sz="1800" b="1" dirty="0">
                <a:solidFill>
                  <a:srgbClr val="393939"/>
                </a:solidFill>
                <a:latin typeface="Calibri" pitchFamily="34" charset="0"/>
                <a:ea typeface="Calibri" pitchFamily="34" charset="-122"/>
                <a:cs typeface="Calibri" pitchFamily="34" charset="-120"/>
              </a:rPr>
              <a:t>Yüksek riskli aksiyonlarda insan onayı</a:t>
            </a:r>
            <a:endParaRPr lang="en-US" sz="1800" dirty="0"/>
          </a:p>
        </p:txBody>
      </p:sp>
      <p:sp>
        <p:nvSpPr>
          <p:cNvPr id="7" name="Shape 5"/>
          <p:cNvSpPr/>
          <p:nvPr/>
        </p:nvSpPr>
        <p:spPr>
          <a:xfrm>
            <a:off x="3657600" y="2468880"/>
            <a:ext cx="5029200" cy="777240"/>
          </a:xfrm>
          <a:prstGeom prst="roundRect">
            <a:avLst>
              <a:gd name="adj" fmla="val 5882"/>
            </a:avLst>
          </a:prstGeom>
          <a:solidFill>
            <a:srgbClr val="8AF7FB">
              <a:alpha val="40000"/>
            </a:srgbClr>
          </a:solidFill>
          <a:ln w="12700">
            <a:solidFill>
              <a:srgbClr val="65D7DE"/>
            </a:solidFill>
            <a:prstDash val="solid"/>
          </a:ln>
        </p:spPr>
        <p:txBody>
          <a:bodyPr/>
          <a:lstStyle/>
          <a:p>
            <a:endParaRPr lang="en-TR"/>
          </a:p>
        </p:txBody>
      </p:sp>
      <p:sp>
        <p:nvSpPr>
          <p:cNvPr id="8" name="Text 6"/>
          <p:cNvSpPr/>
          <p:nvPr/>
        </p:nvSpPr>
        <p:spPr>
          <a:xfrm>
            <a:off x="3794760" y="2514600"/>
            <a:ext cx="4754880" cy="685800"/>
          </a:xfrm>
          <a:prstGeom prst="rect">
            <a:avLst/>
          </a:prstGeom>
          <a:noFill/>
          <a:ln/>
        </p:spPr>
        <p:txBody>
          <a:bodyPr wrap="square" rtlCol="0" anchor="ctr"/>
          <a:lstStyle/>
          <a:p>
            <a:pPr marL="0" indent="0">
              <a:buNone/>
            </a:pPr>
            <a:r>
              <a:rPr lang="en-US" sz="1200" b="1" dirty="0">
                <a:solidFill>
                  <a:srgbClr val="2D9BA3"/>
                </a:solidFill>
                <a:latin typeface="Calibri" pitchFamily="34" charset="0"/>
                <a:ea typeface="Calibri" pitchFamily="34" charset="-122"/>
                <a:cs typeface="Calibri" pitchFamily="34" charset="-120"/>
              </a:rPr>
              <a:t>Kritik soru:  </a:t>
            </a:r>
            <a:r>
              <a:rPr lang="en-US" sz="1200" i="1" dirty="0">
                <a:solidFill>
                  <a:srgbClr val="393939"/>
                </a:solidFill>
                <a:latin typeface="Calibri" pitchFamily="34" charset="0"/>
                <a:ea typeface="Calibri" pitchFamily="34" charset="-122"/>
                <a:cs typeface="Calibri" pitchFamily="34" charset="-120"/>
              </a:rPr>
              <a:t>E-posta, ödeme, dosya </a:t>
            </a:r>
            <a:r>
              <a:rPr lang="en-US" sz="1200" i="1" dirty="0" err="1">
                <a:solidFill>
                  <a:srgbClr val="393939"/>
                </a:solidFill>
                <a:latin typeface="Calibri" pitchFamily="34" charset="0"/>
                <a:ea typeface="Calibri" pitchFamily="34" charset="-122"/>
                <a:cs typeface="Calibri" pitchFamily="34" charset="-120"/>
              </a:rPr>
              <a:t>silme</a:t>
            </a:r>
            <a:r>
              <a:rPr lang="en-US" sz="1200" i="1" dirty="0">
                <a:solidFill>
                  <a:srgbClr val="393939"/>
                </a:solidFill>
                <a:latin typeface="Calibri" pitchFamily="34" charset="0"/>
                <a:ea typeface="Calibri" pitchFamily="34" charset="-122"/>
                <a:cs typeface="Calibri" pitchFamily="34" charset="-120"/>
              </a:rPr>
              <a:t> —&gt; agent'a tek başına bırakılabilir mi?</a:t>
            </a:r>
            <a:endParaRPr lang="en-US" sz="1200" dirty="0"/>
          </a:p>
        </p:txBody>
      </p:sp>
      <p:sp>
        <p:nvSpPr>
          <p:cNvPr id="9" name="Shape 7"/>
          <p:cNvSpPr/>
          <p:nvPr/>
        </p:nvSpPr>
        <p:spPr>
          <a:xfrm>
            <a:off x="3657600" y="3383280"/>
            <a:ext cx="5029200" cy="868680"/>
          </a:xfrm>
          <a:prstGeom prst="rect">
            <a:avLst/>
          </a:prstGeom>
          <a:solidFill>
            <a:srgbClr val="393939"/>
          </a:solidFill>
          <a:ln w="12700">
            <a:solidFill>
              <a:srgbClr val="393939"/>
            </a:solidFill>
            <a:prstDash val="solid"/>
          </a:ln>
        </p:spPr>
        <p:txBody>
          <a:bodyPr/>
          <a:lstStyle/>
          <a:p>
            <a:endParaRPr lang="en-TR"/>
          </a:p>
        </p:txBody>
      </p:sp>
      <p:sp>
        <p:nvSpPr>
          <p:cNvPr id="10" name="Text 8"/>
          <p:cNvSpPr/>
          <p:nvPr/>
        </p:nvSpPr>
        <p:spPr>
          <a:xfrm>
            <a:off x="3794760" y="3429000"/>
            <a:ext cx="4754880" cy="777240"/>
          </a:xfrm>
          <a:prstGeom prst="rect">
            <a:avLst/>
          </a:prstGeom>
          <a:noFill/>
          <a:ln/>
        </p:spPr>
        <p:txBody>
          <a:bodyPr wrap="square" rtlCol="0" anchor="ctr"/>
          <a:lstStyle/>
          <a:p>
            <a:pPr marL="0" indent="0">
              <a:buNone/>
            </a:pPr>
            <a:r>
              <a:rPr lang="en-US" sz="1300" b="1" dirty="0">
                <a:solidFill>
                  <a:srgbClr val="65D7DE"/>
                </a:solidFill>
                <a:latin typeface="Calibri" pitchFamily="34" charset="0"/>
                <a:ea typeface="Calibri" pitchFamily="34" charset="-122"/>
                <a:cs typeface="Calibri" pitchFamily="34" charset="-120"/>
              </a:rPr>
              <a:t>HITL agent'ın yeteneksiz olduğunu göstermez; sorumluluğun yerini gösterir.</a:t>
            </a:r>
            <a:endParaRPr lang="en-US" sz="1300" dirty="0"/>
          </a:p>
        </p:txBody>
      </p:sp>
      <p:sp>
        <p:nvSpPr>
          <p:cNvPr id="11" name="Text 9"/>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CCCCCC"/>
                </a:solidFill>
                <a:latin typeface="Calibri" pitchFamily="34" charset="0"/>
                <a:ea typeface="Calibri" pitchFamily="34" charset="-122"/>
                <a:cs typeface="Calibri" pitchFamily="34" charset="-120"/>
              </a:rPr>
              <a:t>17 / 29  •  Bileşen</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marL="0" indent="0">
              <a:buNone/>
            </a:pPr>
            <a:r>
              <a:rPr lang="en-US" sz="3600" b="1" dirty="0">
                <a:solidFill>
                  <a:srgbClr val="393939"/>
                </a:solidFill>
                <a:latin typeface="Consolas" pitchFamily="34" charset="0"/>
                <a:ea typeface="Consolas" pitchFamily="34" charset="-122"/>
                <a:cs typeface="Consolas" pitchFamily="34" charset="-120"/>
              </a:rPr>
              <a:t>&lt;/ Observability /&gt;</a:t>
            </a:r>
            <a:endParaRPr lang="en-US" sz="3600" dirty="0"/>
          </a:p>
        </p:txBody>
      </p:sp>
      <p:sp>
        <p:nvSpPr>
          <p:cNvPr id="3" name="Text 1"/>
          <p:cNvSpPr/>
          <p:nvPr/>
        </p:nvSpPr>
        <p:spPr>
          <a:xfrm>
            <a:off x="548640" y="1051560"/>
            <a:ext cx="3657600" cy="274320"/>
          </a:xfrm>
          <a:prstGeom prst="rect">
            <a:avLst/>
          </a:prstGeom>
          <a:noFill/>
          <a:ln/>
        </p:spPr>
        <p:txBody>
          <a:bodyPr wrap="square" rtlCol="0" anchor="ctr"/>
          <a:lstStyle/>
          <a:p>
            <a:pPr marL="0" indent="0">
              <a:buNone/>
            </a:pPr>
            <a:r>
              <a:rPr lang="en-US" sz="1100" kern="0" spc="400" dirty="0">
                <a:solidFill>
                  <a:srgbClr val="2D9BA3"/>
                </a:solidFill>
                <a:latin typeface="Calibri" pitchFamily="34" charset="0"/>
                <a:ea typeface="Calibri" pitchFamily="34" charset="-122"/>
                <a:cs typeface="Calibri" pitchFamily="34" charset="-120"/>
              </a:rPr>
              <a:t>Harness Bileşeni  9 / 10</a:t>
            </a:r>
            <a:endParaRPr lang="en-US" sz="1100" dirty="0"/>
          </a:p>
        </p:txBody>
      </p:sp>
      <p:sp>
        <p:nvSpPr>
          <p:cNvPr id="4" name="Shape 2"/>
          <p:cNvSpPr/>
          <p:nvPr/>
        </p:nvSpPr>
        <p:spPr>
          <a:xfrm>
            <a:off x="548640" y="1828800"/>
            <a:ext cx="2560320" cy="2560320"/>
          </a:xfrm>
          <a:prstGeom prst="ellipse">
            <a:avLst/>
          </a:prstGeom>
          <a:solidFill>
            <a:srgbClr val="65D7DE"/>
          </a:solidFill>
          <a:ln w="12700">
            <a:solidFill>
              <a:srgbClr val="65D7DE"/>
            </a:solidFill>
            <a:prstDash val="solid"/>
          </a:ln>
        </p:spPr>
        <p:txBody>
          <a:bodyPr/>
          <a:lstStyle/>
          <a:p>
            <a:endParaRPr lang="en-TR"/>
          </a:p>
        </p:txBody>
      </p:sp>
      <p:sp>
        <p:nvSpPr>
          <p:cNvPr id="5" name="Text 3"/>
          <p:cNvSpPr/>
          <p:nvPr/>
        </p:nvSpPr>
        <p:spPr>
          <a:xfrm>
            <a:off x="548640" y="1828800"/>
            <a:ext cx="2560320" cy="2560320"/>
          </a:xfrm>
          <a:prstGeom prst="rect">
            <a:avLst/>
          </a:prstGeom>
          <a:noFill/>
          <a:ln/>
        </p:spPr>
        <p:txBody>
          <a:bodyPr wrap="square" rtlCol="0" anchor="ctr"/>
          <a:lstStyle/>
          <a:p>
            <a:pPr marL="0" indent="0" algn="ctr">
              <a:buNone/>
            </a:pPr>
            <a:r>
              <a:rPr lang="en-US" sz="10000" b="1" dirty="0">
                <a:solidFill>
                  <a:srgbClr val="FFFFFF"/>
                </a:solidFill>
                <a:latin typeface="Calibri" pitchFamily="34" charset="0"/>
                <a:ea typeface="Calibri" pitchFamily="34" charset="-122"/>
                <a:cs typeface="Calibri" pitchFamily="34" charset="-120"/>
              </a:rPr>
              <a:t>◎</a:t>
            </a:r>
            <a:endParaRPr lang="en-US" sz="10000" dirty="0"/>
          </a:p>
        </p:txBody>
      </p:sp>
      <p:sp>
        <p:nvSpPr>
          <p:cNvPr id="6" name="Text 4"/>
          <p:cNvSpPr/>
          <p:nvPr/>
        </p:nvSpPr>
        <p:spPr>
          <a:xfrm>
            <a:off x="3657600" y="1783080"/>
            <a:ext cx="5029200" cy="548640"/>
          </a:xfrm>
          <a:prstGeom prst="rect">
            <a:avLst/>
          </a:prstGeom>
          <a:noFill/>
          <a:ln/>
        </p:spPr>
        <p:txBody>
          <a:bodyPr wrap="square" rtlCol="0" anchor="ctr"/>
          <a:lstStyle/>
          <a:p>
            <a:pPr marL="0" indent="0">
              <a:buNone/>
            </a:pPr>
            <a:r>
              <a:rPr lang="en-US" sz="1800" b="1" dirty="0">
                <a:solidFill>
                  <a:srgbClr val="393939"/>
                </a:solidFill>
                <a:latin typeface="Calibri" pitchFamily="34" charset="0"/>
                <a:ea typeface="Calibri" pitchFamily="34" charset="-122"/>
                <a:cs typeface="Calibri" pitchFamily="34" charset="-120"/>
              </a:rPr>
              <a:t>Agent çalıştı bilgisi yetersizdir</a:t>
            </a:r>
            <a:endParaRPr lang="en-US" sz="1800" dirty="0"/>
          </a:p>
        </p:txBody>
      </p:sp>
      <p:sp>
        <p:nvSpPr>
          <p:cNvPr id="7" name="Shape 5"/>
          <p:cNvSpPr/>
          <p:nvPr/>
        </p:nvSpPr>
        <p:spPr>
          <a:xfrm>
            <a:off x="3657600" y="2468880"/>
            <a:ext cx="5029200" cy="777240"/>
          </a:xfrm>
          <a:prstGeom prst="roundRect">
            <a:avLst>
              <a:gd name="adj" fmla="val 5882"/>
            </a:avLst>
          </a:prstGeom>
          <a:solidFill>
            <a:srgbClr val="8AF7FB">
              <a:alpha val="40000"/>
            </a:srgbClr>
          </a:solidFill>
          <a:ln w="12700">
            <a:solidFill>
              <a:srgbClr val="65D7DE"/>
            </a:solidFill>
            <a:prstDash val="solid"/>
          </a:ln>
        </p:spPr>
        <p:txBody>
          <a:bodyPr/>
          <a:lstStyle/>
          <a:p>
            <a:endParaRPr lang="en-TR"/>
          </a:p>
        </p:txBody>
      </p:sp>
      <p:sp>
        <p:nvSpPr>
          <p:cNvPr id="8" name="Text 6"/>
          <p:cNvSpPr/>
          <p:nvPr/>
        </p:nvSpPr>
        <p:spPr>
          <a:xfrm>
            <a:off x="3794760" y="2514600"/>
            <a:ext cx="4754880" cy="685800"/>
          </a:xfrm>
          <a:prstGeom prst="rect">
            <a:avLst/>
          </a:prstGeom>
          <a:noFill/>
          <a:ln/>
        </p:spPr>
        <p:txBody>
          <a:bodyPr wrap="square" rtlCol="0" anchor="ctr"/>
          <a:lstStyle/>
          <a:p>
            <a:pPr marL="0" indent="0">
              <a:buNone/>
            </a:pPr>
            <a:r>
              <a:rPr lang="en-US" sz="1200" b="1" dirty="0">
                <a:solidFill>
                  <a:srgbClr val="2D9BA3"/>
                </a:solidFill>
                <a:latin typeface="Calibri" pitchFamily="34" charset="0"/>
                <a:ea typeface="Calibri" pitchFamily="34" charset="-122"/>
                <a:cs typeface="Calibri" pitchFamily="34" charset="-120"/>
              </a:rPr>
              <a:t>Kritik soru:  </a:t>
            </a:r>
            <a:r>
              <a:rPr lang="en-US" sz="1200" i="1" dirty="0">
                <a:solidFill>
                  <a:srgbClr val="393939"/>
                </a:solidFill>
                <a:latin typeface="Calibri" pitchFamily="34" charset="0"/>
                <a:ea typeface="Calibri" pitchFamily="34" charset="-122"/>
                <a:cs typeface="Calibri" pitchFamily="34" charset="-120"/>
              </a:rPr>
              <a:t>Niyet, plan, tool seçimi, retrieval, prompt versiyonu, token, retry —&gt; izleniyor mu?</a:t>
            </a:r>
            <a:endParaRPr lang="en-US" sz="1200" dirty="0"/>
          </a:p>
        </p:txBody>
      </p:sp>
      <p:sp>
        <p:nvSpPr>
          <p:cNvPr id="9" name="Shape 7"/>
          <p:cNvSpPr/>
          <p:nvPr/>
        </p:nvSpPr>
        <p:spPr>
          <a:xfrm>
            <a:off x="3657600" y="3383280"/>
            <a:ext cx="5029200" cy="868680"/>
          </a:xfrm>
          <a:prstGeom prst="rect">
            <a:avLst/>
          </a:prstGeom>
          <a:solidFill>
            <a:srgbClr val="393939"/>
          </a:solidFill>
          <a:ln w="12700">
            <a:solidFill>
              <a:srgbClr val="393939"/>
            </a:solidFill>
            <a:prstDash val="solid"/>
          </a:ln>
        </p:spPr>
        <p:txBody>
          <a:bodyPr/>
          <a:lstStyle/>
          <a:p>
            <a:endParaRPr lang="en-TR"/>
          </a:p>
        </p:txBody>
      </p:sp>
      <p:sp>
        <p:nvSpPr>
          <p:cNvPr id="10" name="Text 8"/>
          <p:cNvSpPr/>
          <p:nvPr/>
        </p:nvSpPr>
        <p:spPr>
          <a:xfrm>
            <a:off x="3794760" y="3429000"/>
            <a:ext cx="4754880" cy="777240"/>
          </a:xfrm>
          <a:prstGeom prst="rect">
            <a:avLst/>
          </a:prstGeom>
          <a:noFill/>
          <a:ln/>
        </p:spPr>
        <p:txBody>
          <a:bodyPr wrap="square" rtlCol="0" anchor="ctr"/>
          <a:lstStyle/>
          <a:p>
            <a:pPr marL="0" indent="0">
              <a:buNone/>
            </a:pPr>
            <a:r>
              <a:rPr lang="en-US" sz="1300" b="1" dirty="0">
                <a:solidFill>
                  <a:srgbClr val="65D7DE"/>
                </a:solidFill>
                <a:latin typeface="Calibri" pitchFamily="34" charset="0"/>
                <a:ea typeface="Calibri" pitchFamily="34" charset="-122"/>
                <a:cs typeface="Calibri" pitchFamily="34" charset="-120"/>
              </a:rPr>
              <a:t>Observability performans metriği değil, hesap verebilirlik mekanizmasıdır.</a:t>
            </a:r>
            <a:endParaRPr lang="en-US" sz="1300" dirty="0"/>
          </a:p>
        </p:txBody>
      </p:sp>
      <p:sp>
        <p:nvSpPr>
          <p:cNvPr id="11" name="Text 9"/>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545454"/>
                </a:solidFill>
                <a:latin typeface="Calibri" pitchFamily="34" charset="0"/>
                <a:ea typeface="Calibri" pitchFamily="34" charset="-122"/>
                <a:cs typeface="Calibri" pitchFamily="34" charset="-120"/>
              </a:rPr>
              <a:t>18 / 29  •  Bileşen</a:t>
            </a:r>
            <a:endParaRPr lang="en-US" sz="900" dirty="0"/>
          </a:p>
        </p:txBody>
      </p:sp>
      <p:sp>
        <p:nvSpPr>
          <p:cNvPr id="12" name="Text 10"/>
          <p:cNvSpPr/>
          <p:nvPr/>
        </p:nvSpPr>
        <p:spPr>
          <a:xfrm>
            <a:off x="274320" y="4846320"/>
            <a:ext cx="1371600" cy="228600"/>
          </a:xfrm>
          <a:prstGeom prst="rect">
            <a:avLst/>
          </a:prstGeom>
          <a:noFill/>
          <a:ln/>
        </p:spPr>
        <p:txBody>
          <a:bodyPr wrap="square" rtlCol="0" anchor="ctr"/>
          <a:lstStyle/>
          <a:p>
            <a:pPr marL="0" indent="0">
              <a:buNone/>
            </a:pPr>
            <a:r>
              <a:rPr lang="en-US" sz="900" dirty="0">
                <a:solidFill>
                  <a:srgbClr val="545454"/>
                </a:solidFill>
                <a:latin typeface="Calibri" pitchFamily="34" charset="0"/>
                <a:ea typeface="Calibri" pitchFamily="34" charset="-122"/>
                <a:cs typeface="Calibri" pitchFamily="34" charset="-120"/>
              </a:rPr>
              <a:t>&lt; softtech</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2F2F5"/>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marL="0" indent="0">
              <a:buNone/>
            </a:pPr>
            <a:r>
              <a:rPr lang="en-US" sz="3600" b="1" dirty="0">
                <a:solidFill>
                  <a:srgbClr val="393939"/>
                </a:solidFill>
                <a:latin typeface="Consolas" pitchFamily="34" charset="0"/>
                <a:ea typeface="Consolas" pitchFamily="34" charset="-122"/>
                <a:cs typeface="Consolas" pitchFamily="34" charset="-120"/>
              </a:rPr>
              <a:t>&lt;/ Evaluation /&gt;</a:t>
            </a:r>
            <a:endParaRPr lang="en-US" sz="3600" dirty="0"/>
          </a:p>
        </p:txBody>
      </p:sp>
      <p:sp>
        <p:nvSpPr>
          <p:cNvPr id="3" name="Text 1"/>
          <p:cNvSpPr/>
          <p:nvPr/>
        </p:nvSpPr>
        <p:spPr>
          <a:xfrm>
            <a:off x="548640" y="1051560"/>
            <a:ext cx="3657600" cy="274320"/>
          </a:xfrm>
          <a:prstGeom prst="rect">
            <a:avLst/>
          </a:prstGeom>
          <a:noFill/>
          <a:ln/>
        </p:spPr>
        <p:txBody>
          <a:bodyPr wrap="square" rtlCol="0" anchor="ctr"/>
          <a:lstStyle/>
          <a:p>
            <a:pPr marL="0" indent="0">
              <a:buNone/>
            </a:pPr>
            <a:r>
              <a:rPr lang="en-US" sz="1100" kern="0" spc="400" dirty="0">
                <a:solidFill>
                  <a:srgbClr val="2D9BA3"/>
                </a:solidFill>
                <a:latin typeface="Calibri" pitchFamily="34" charset="0"/>
                <a:ea typeface="Calibri" pitchFamily="34" charset="-122"/>
                <a:cs typeface="Calibri" pitchFamily="34" charset="-120"/>
              </a:rPr>
              <a:t>Harness Bileşeni  10 / 10</a:t>
            </a:r>
            <a:endParaRPr lang="en-US" sz="1100" dirty="0"/>
          </a:p>
        </p:txBody>
      </p:sp>
      <p:sp>
        <p:nvSpPr>
          <p:cNvPr id="4" name="Shape 2"/>
          <p:cNvSpPr/>
          <p:nvPr/>
        </p:nvSpPr>
        <p:spPr>
          <a:xfrm>
            <a:off x="548640" y="1828800"/>
            <a:ext cx="2560320" cy="2560320"/>
          </a:xfrm>
          <a:prstGeom prst="ellipse">
            <a:avLst/>
          </a:prstGeom>
          <a:solidFill>
            <a:srgbClr val="AB80AD"/>
          </a:solidFill>
          <a:ln w="12700">
            <a:solidFill>
              <a:srgbClr val="AB80AD"/>
            </a:solidFill>
            <a:prstDash val="solid"/>
          </a:ln>
        </p:spPr>
        <p:txBody>
          <a:bodyPr/>
          <a:lstStyle/>
          <a:p>
            <a:endParaRPr lang="en-TR"/>
          </a:p>
        </p:txBody>
      </p:sp>
      <p:sp>
        <p:nvSpPr>
          <p:cNvPr id="5" name="Text 3"/>
          <p:cNvSpPr/>
          <p:nvPr/>
        </p:nvSpPr>
        <p:spPr>
          <a:xfrm>
            <a:off x="548640" y="1828800"/>
            <a:ext cx="2560320" cy="2560320"/>
          </a:xfrm>
          <a:prstGeom prst="rect">
            <a:avLst/>
          </a:prstGeom>
          <a:noFill/>
          <a:ln/>
        </p:spPr>
        <p:txBody>
          <a:bodyPr wrap="square" rtlCol="0" anchor="ctr"/>
          <a:lstStyle/>
          <a:p>
            <a:pPr marL="0" indent="0" algn="ctr">
              <a:buNone/>
            </a:pPr>
            <a:r>
              <a:rPr lang="en-US" sz="10000" b="1" dirty="0">
                <a:solidFill>
                  <a:srgbClr val="FFFFFF"/>
                </a:solidFill>
                <a:latin typeface="Calibri" pitchFamily="34" charset="0"/>
                <a:ea typeface="Calibri" pitchFamily="34" charset="-122"/>
                <a:cs typeface="Calibri" pitchFamily="34" charset="-120"/>
              </a:rPr>
              <a:t>△</a:t>
            </a:r>
            <a:endParaRPr lang="en-US" sz="10000" dirty="0"/>
          </a:p>
        </p:txBody>
      </p:sp>
      <p:sp>
        <p:nvSpPr>
          <p:cNvPr id="6" name="Text 4"/>
          <p:cNvSpPr/>
          <p:nvPr/>
        </p:nvSpPr>
        <p:spPr>
          <a:xfrm>
            <a:off x="3657600" y="1783080"/>
            <a:ext cx="5029200" cy="548640"/>
          </a:xfrm>
          <a:prstGeom prst="rect">
            <a:avLst/>
          </a:prstGeom>
          <a:noFill/>
          <a:ln/>
        </p:spPr>
        <p:txBody>
          <a:bodyPr wrap="square" rtlCol="0" anchor="ctr"/>
          <a:lstStyle/>
          <a:p>
            <a:pPr marL="0" indent="0">
              <a:buNone/>
            </a:pPr>
            <a:r>
              <a:rPr lang="en-US" sz="1800" b="1" dirty="0">
                <a:solidFill>
                  <a:srgbClr val="393939"/>
                </a:solidFill>
                <a:latin typeface="Calibri" pitchFamily="34" charset="0"/>
                <a:ea typeface="Calibri" pitchFamily="34" charset="-122"/>
                <a:cs typeface="Calibri" pitchFamily="34" charset="-120"/>
              </a:rPr>
              <a:t>Final cevap kalitesi yetersizdir</a:t>
            </a:r>
            <a:endParaRPr lang="en-US" sz="1800" dirty="0"/>
          </a:p>
        </p:txBody>
      </p:sp>
      <p:sp>
        <p:nvSpPr>
          <p:cNvPr id="7" name="Shape 5"/>
          <p:cNvSpPr/>
          <p:nvPr/>
        </p:nvSpPr>
        <p:spPr>
          <a:xfrm>
            <a:off x="3657600" y="2468880"/>
            <a:ext cx="5029200" cy="777240"/>
          </a:xfrm>
          <a:prstGeom prst="roundRect">
            <a:avLst>
              <a:gd name="adj" fmla="val 5882"/>
            </a:avLst>
          </a:prstGeom>
          <a:solidFill>
            <a:srgbClr val="8AF7FB">
              <a:alpha val="40000"/>
            </a:srgbClr>
          </a:solidFill>
          <a:ln w="12700">
            <a:solidFill>
              <a:srgbClr val="65D7DE"/>
            </a:solidFill>
            <a:prstDash val="solid"/>
          </a:ln>
        </p:spPr>
        <p:txBody>
          <a:bodyPr/>
          <a:lstStyle/>
          <a:p>
            <a:endParaRPr lang="en-TR"/>
          </a:p>
        </p:txBody>
      </p:sp>
      <p:sp>
        <p:nvSpPr>
          <p:cNvPr id="8" name="Text 6"/>
          <p:cNvSpPr/>
          <p:nvPr/>
        </p:nvSpPr>
        <p:spPr>
          <a:xfrm>
            <a:off x="3794760" y="2514600"/>
            <a:ext cx="4754880" cy="685800"/>
          </a:xfrm>
          <a:prstGeom prst="rect">
            <a:avLst/>
          </a:prstGeom>
          <a:noFill/>
          <a:ln/>
        </p:spPr>
        <p:txBody>
          <a:bodyPr wrap="square" rtlCol="0" anchor="ctr"/>
          <a:lstStyle/>
          <a:p>
            <a:pPr marL="0" indent="0">
              <a:buNone/>
            </a:pPr>
            <a:r>
              <a:rPr lang="en-US" sz="1200" b="1" dirty="0">
                <a:solidFill>
                  <a:srgbClr val="2D9BA3"/>
                </a:solidFill>
                <a:latin typeface="Calibri" pitchFamily="34" charset="0"/>
                <a:ea typeface="Calibri" pitchFamily="34" charset="-122"/>
                <a:cs typeface="Calibri" pitchFamily="34" charset="-120"/>
              </a:rPr>
              <a:t>Kritik soru:  </a:t>
            </a:r>
            <a:r>
              <a:rPr lang="en-US" sz="1200" i="1" dirty="0">
                <a:solidFill>
                  <a:srgbClr val="393939"/>
                </a:solidFill>
                <a:latin typeface="Calibri" pitchFamily="34" charset="0"/>
                <a:ea typeface="Calibri" pitchFamily="34" charset="-122"/>
                <a:cs typeface="Calibri" pitchFamily="34" charset="-120"/>
              </a:rPr>
              <a:t>Niyet, plan, tool, retrieval, memory, policy —&gt; hepsi değerlendiriliyor mu?</a:t>
            </a:r>
            <a:endParaRPr lang="en-US" sz="1200" dirty="0"/>
          </a:p>
        </p:txBody>
      </p:sp>
      <p:sp>
        <p:nvSpPr>
          <p:cNvPr id="9" name="Shape 7"/>
          <p:cNvSpPr/>
          <p:nvPr/>
        </p:nvSpPr>
        <p:spPr>
          <a:xfrm>
            <a:off x="3657600" y="3383280"/>
            <a:ext cx="5029200" cy="868680"/>
          </a:xfrm>
          <a:prstGeom prst="rect">
            <a:avLst/>
          </a:prstGeom>
          <a:solidFill>
            <a:srgbClr val="393939"/>
          </a:solidFill>
          <a:ln w="12700">
            <a:solidFill>
              <a:srgbClr val="393939"/>
            </a:solidFill>
            <a:prstDash val="solid"/>
          </a:ln>
        </p:spPr>
        <p:txBody>
          <a:bodyPr/>
          <a:lstStyle/>
          <a:p>
            <a:endParaRPr lang="en-TR"/>
          </a:p>
        </p:txBody>
      </p:sp>
      <p:sp>
        <p:nvSpPr>
          <p:cNvPr id="10" name="Text 8"/>
          <p:cNvSpPr/>
          <p:nvPr/>
        </p:nvSpPr>
        <p:spPr>
          <a:xfrm>
            <a:off x="3794760" y="3429000"/>
            <a:ext cx="4754880" cy="777240"/>
          </a:xfrm>
          <a:prstGeom prst="rect">
            <a:avLst/>
          </a:prstGeom>
          <a:noFill/>
          <a:ln/>
        </p:spPr>
        <p:txBody>
          <a:bodyPr wrap="square" rtlCol="0" anchor="ctr"/>
          <a:lstStyle/>
          <a:p>
            <a:pPr marL="0" indent="0">
              <a:buNone/>
            </a:pPr>
            <a:r>
              <a:rPr lang="en-US" sz="1300" b="1" dirty="0">
                <a:solidFill>
                  <a:srgbClr val="65D7DE"/>
                </a:solidFill>
                <a:latin typeface="Calibri" pitchFamily="34" charset="0"/>
                <a:ea typeface="Calibri" pitchFamily="34" charset="-122"/>
                <a:cs typeface="Calibri" pitchFamily="34" charset="-120"/>
              </a:rPr>
              <a:t>Agent kalitesi, karar izinin kalitesidir.</a:t>
            </a:r>
            <a:endParaRPr lang="en-US" sz="1300" dirty="0"/>
          </a:p>
        </p:txBody>
      </p:sp>
      <p:sp>
        <p:nvSpPr>
          <p:cNvPr id="11" name="Text 9"/>
          <p:cNvSpPr/>
          <p:nvPr/>
        </p:nvSpPr>
        <p:spPr>
          <a:xfrm>
            <a:off x="3657600" y="4343400"/>
            <a:ext cx="5029200" cy="365760"/>
          </a:xfrm>
          <a:prstGeom prst="rect">
            <a:avLst/>
          </a:prstGeom>
          <a:noFill/>
          <a:ln/>
        </p:spPr>
        <p:txBody>
          <a:bodyPr wrap="square" rtlCol="0" anchor="ctr"/>
          <a:lstStyle/>
          <a:p>
            <a:pPr marL="0" indent="0">
              <a:buNone/>
            </a:pPr>
            <a:r>
              <a:rPr lang="en-US" sz="1000" i="1" dirty="0">
                <a:solidFill>
                  <a:srgbClr val="545454"/>
                </a:solidFill>
                <a:latin typeface="Calibri" pitchFamily="34" charset="0"/>
                <a:ea typeface="Calibri" pitchFamily="34" charset="-122"/>
                <a:cs typeface="Calibri" pitchFamily="34" charset="-120"/>
              </a:rPr>
              <a:t>Niyet → Plan → Tool seçimi → Retrieval → Policy → Çıktı</a:t>
            </a:r>
            <a:endParaRPr lang="en-US" sz="1000" dirty="0"/>
          </a:p>
        </p:txBody>
      </p:sp>
      <p:sp>
        <p:nvSpPr>
          <p:cNvPr id="12" name="Text 10"/>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CCCCCC"/>
                </a:solidFill>
                <a:latin typeface="Calibri" pitchFamily="34" charset="0"/>
                <a:ea typeface="Calibri" pitchFamily="34" charset="-122"/>
                <a:cs typeface="Calibri" pitchFamily="34" charset="-120"/>
              </a:rPr>
              <a:t>19 / 29  •  Bileşen</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marL="0" indent="0">
              <a:buNone/>
            </a:pPr>
            <a:r>
              <a:rPr lang="en-US" sz="2800" b="1" dirty="0">
                <a:solidFill>
                  <a:srgbClr val="393939"/>
                </a:solidFill>
                <a:latin typeface="Calibri" pitchFamily="34" charset="0"/>
                <a:ea typeface="Calibri" pitchFamily="34" charset="-122"/>
                <a:cs typeface="Calibri" pitchFamily="34" charset="-120"/>
              </a:rPr>
              <a:t>Skill Lifecycle ve 10 Versiyon Boyutu</a:t>
            </a:r>
            <a:endParaRPr lang="en-US" sz="2800" dirty="0"/>
          </a:p>
        </p:txBody>
      </p:sp>
      <p:sp>
        <p:nvSpPr>
          <p:cNvPr id="3" name="Text 1"/>
          <p:cNvSpPr/>
          <p:nvPr/>
        </p:nvSpPr>
        <p:spPr>
          <a:xfrm>
            <a:off x="548640" y="914400"/>
            <a:ext cx="8229600" cy="365760"/>
          </a:xfrm>
          <a:prstGeom prst="rect">
            <a:avLst/>
          </a:prstGeom>
          <a:noFill/>
          <a:ln/>
        </p:spPr>
        <p:txBody>
          <a:bodyPr wrap="square" rtlCol="0" anchor="ctr"/>
          <a:lstStyle/>
          <a:p>
            <a:pPr marL="0" indent="0">
              <a:buNone/>
            </a:pPr>
            <a:r>
              <a:rPr lang="en-US" sz="1300" i="1" dirty="0">
                <a:solidFill>
                  <a:srgbClr val="2D9BA3"/>
                </a:solidFill>
                <a:latin typeface="Calibri" pitchFamily="34" charset="0"/>
                <a:ea typeface="Calibri" pitchFamily="34" charset="-122"/>
                <a:cs typeface="Calibri" pitchFamily="34" charset="-120"/>
              </a:rPr>
              <a:t>Versiyonlanmayan agent davranışı, denetlenemeyen agent davranışıdır.</a:t>
            </a:r>
            <a:endParaRPr lang="en-US" sz="1300" dirty="0"/>
          </a:p>
        </p:txBody>
      </p:sp>
      <p:sp>
        <p:nvSpPr>
          <p:cNvPr id="4" name="Text 2"/>
          <p:cNvSpPr/>
          <p:nvPr/>
        </p:nvSpPr>
        <p:spPr>
          <a:xfrm>
            <a:off x="548640" y="1554480"/>
            <a:ext cx="4114800" cy="274320"/>
          </a:xfrm>
          <a:prstGeom prst="rect">
            <a:avLst/>
          </a:prstGeom>
          <a:noFill/>
          <a:ln/>
        </p:spPr>
        <p:txBody>
          <a:bodyPr wrap="square" rtlCol="0" anchor="ctr"/>
          <a:lstStyle/>
          <a:p>
            <a:pPr marL="0" indent="0">
              <a:buNone/>
            </a:pPr>
            <a:r>
              <a:rPr lang="en-US" sz="1100" b="1" kern="0" spc="400" dirty="0">
                <a:solidFill>
                  <a:srgbClr val="2D9BA3"/>
                </a:solidFill>
                <a:latin typeface="Calibri" pitchFamily="34" charset="0"/>
                <a:ea typeface="Calibri" pitchFamily="34" charset="-122"/>
                <a:cs typeface="Calibri" pitchFamily="34" charset="-120"/>
              </a:rPr>
              <a:t>SKILL LIFECYCLE</a:t>
            </a:r>
            <a:endParaRPr lang="en-US" sz="1100" dirty="0"/>
          </a:p>
        </p:txBody>
      </p:sp>
      <p:sp>
        <p:nvSpPr>
          <p:cNvPr id="5" name="Shape 3"/>
          <p:cNvSpPr/>
          <p:nvPr/>
        </p:nvSpPr>
        <p:spPr>
          <a:xfrm>
            <a:off x="640080" y="1920240"/>
            <a:ext cx="228600" cy="228600"/>
          </a:xfrm>
          <a:prstGeom prst="ellipse">
            <a:avLst/>
          </a:prstGeom>
          <a:solidFill>
            <a:srgbClr val="65D7DE"/>
          </a:solidFill>
          <a:ln w="12700">
            <a:solidFill>
              <a:srgbClr val="65D7DE"/>
            </a:solidFill>
            <a:prstDash val="solid"/>
          </a:ln>
        </p:spPr>
        <p:txBody>
          <a:bodyPr/>
          <a:lstStyle/>
          <a:p>
            <a:endParaRPr lang="en-TR"/>
          </a:p>
        </p:txBody>
      </p:sp>
      <p:sp>
        <p:nvSpPr>
          <p:cNvPr id="6" name="Text 4"/>
          <p:cNvSpPr/>
          <p:nvPr/>
        </p:nvSpPr>
        <p:spPr>
          <a:xfrm>
            <a:off x="960120" y="1901952"/>
            <a:ext cx="3200400" cy="274320"/>
          </a:xfrm>
          <a:prstGeom prst="rect">
            <a:avLst/>
          </a:prstGeom>
          <a:noFill/>
          <a:ln/>
        </p:spPr>
        <p:txBody>
          <a:bodyPr wrap="square" rtlCol="0" anchor="ctr"/>
          <a:lstStyle/>
          <a:p>
            <a:pPr marL="0" indent="0">
              <a:buNone/>
            </a:pPr>
            <a:r>
              <a:rPr lang="en-US" sz="1300" dirty="0">
                <a:solidFill>
                  <a:srgbClr val="393939"/>
                </a:solidFill>
                <a:latin typeface="Calibri" pitchFamily="34" charset="0"/>
                <a:ea typeface="Calibri" pitchFamily="34" charset="-122"/>
                <a:cs typeface="Calibri" pitchFamily="34" charset="-120"/>
              </a:rPr>
              <a:t>1. Discovery</a:t>
            </a:r>
            <a:endParaRPr lang="en-US" sz="1300" dirty="0"/>
          </a:p>
        </p:txBody>
      </p:sp>
      <p:sp>
        <p:nvSpPr>
          <p:cNvPr id="7" name="Shape 5"/>
          <p:cNvSpPr/>
          <p:nvPr/>
        </p:nvSpPr>
        <p:spPr>
          <a:xfrm>
            <a:off x="754380" y="2148840"/>
            <a:ext cx="0" cy="64008"/>
          </a:xfrm>
          <a:prstGeom prst="line">
            <a:avLst/>
          </a:prstGeom>
          <a:noFill/>
          <a:ln w="19050">
            <a:solidFill>
              <a:srgbClr val="65D7DE"/>
            </a:solidFill>
            <a:prstDash val="solid"/>
          </a:ln>
        </p:spPr>
        <p:txBody>
          <a:bodyPr/>
          <a:lstStyle/>
          <a:p>
            <a:endParaRPr lang="en-TR"/>
          </a:p>
        </p:txBody>
      </p:sp>
      <p:sp>
        <p:nvSpPr>
          <p:cNvPr id="8" name="Shape 6"/>
          <p:cNvSpPr/>
          <p:nvPr/>
        </p:nvSpPr>
        <p:spPr>
          <a:xfrm>
            <a:off x="640080" y="2212848"/>
            <a:ext cx="228600" cy="228600"/>
          </a:xfrm>
          <a:prstGeom prst="ellipse">
            <a:avLst/>
          </a:prstGeom>
          <a:solidFill>
            <a:srgbClr val="65D7DE"/>
          </a:solidFill>
          <a:ln w="12700">
            <a:solidFill>
              <a:srgbClr val="65D7DE"/>
            </a:solidFill>
            <a:prstDash val="solid"/>
          </a:ln>
        </p:spPr>
        <p:txBody>
          <a:bodyPr/>
          <a:lstStyle/>
          <a:p>
            <a:endParaRPr lang="en-TR"/>
          </a:p>
        </p:txBody>
      </p:sp>
      <p:sp>
        <p:nvSpPr>
          <p:cNvPr id="9" name="Text 7"/>
          <p:cNvSpPr/>
          <p:nvPr/>
        </p:nvSpPr>
        <p:spPr>
          <a:xfrm>
            <a:off x="960120" y="2194560"/>
            <a:ext cx="3200400" cy="274320"/>
          </a:xfrm>
          <a:prstGeom prst="rect">
            <a:avLst/>
          </a:prstGeom>
          <a:noFill/>
          <a:ln/>
        </p:spPr>
        <p:txBody>
          <a:bodyPr wrap="square" rtlCol="0" anchor="ctr"/>
          <a:lstStyle/>
          <a:p>
            <a:pPr marL="0" indent="0">
              <a:buNone/>
            </a:pPr>
            <a:r>
              <a:rPr lang="en-US" sz="1300" dirty="0">
                <a:solidFill>
                  <a:srgbClr val="393939"/>
                </a:solidFill>
                <a:latin typeface="Calibri" pitchFamily="34" charset="0"/>
                <a:ea typeface="Calibri" pitchFamily="34" charset="-122"/>
                <a:cs typeface="Calibri" pitchFamily="34" charset="-120"/>
              </a:rPr>
              <a:t>2. Design</a:t>
            </a:r>
            <a:endParaRPr lang="en-US" sz="1300" dirty="0"/>
          </a:p>
        </p:txBody>
      </p:sp>
      <p:sp>
        <p:nvSpPr>
          <p:cNvPr id="10" name="Shape 8"/>
          <p:cNvSpPr/>
          <p:nvPr/>
        </p:nvSpPr>
        <p:spPr>
          <a:xfrm>
            <a:off x="754380" y="2441448"/>
            <a:ext cx="0" cy="64008"/>
          </a:xfrm>
          <a:prstGeom prst="line">
            <a:avLst/>
          </a:prstGeom>
          <a:noFill/>
          <a:ln w="19050">
            <a:solidFill>
              <a:srgbClr val="65D7DE"/>
            </a:solidFill>
            <a:prstDash val="solid"/>
          </a:ln>
        </p:spPr>
        <p:txBody>
          <a:bodyPr/>
          <a:lstStyle/>
          <a:p>
            <a:endParaRPr lang="en-TR"/>
          </a:p>
        </p:txBody>
      </p:sp>
      <p:sp>
        <p:nvSpPr>
          <p:cNvPr id="11" name="Shape 9"/>
          <p:cNvSpPr/>
          <p:nvPr/>
        </p:nvSpPr>
        <p:spPr>
          <a:xfrm>
            <a:off x="640080" y="2505456"/>
            <a:ext cx="228600" cy="228600"/>
          </a:xfrm>
          <a:prstGeom prst="ellipse">
            <a:avLst/>
          </a:prstGeom>
          <a:solidFill>
            <a:srgbClr val="65D7DE"/>
          </a:solidFill>
          <a:ln w="12700">
            <a:solidFill>
              <a:srgbClr val="65D7DE"/>
            </a:solidFill>
            <a:prstDash val="solid"/>
          </a:ln>
        </p:spPr>
        <p:txBody>
          <a:bodyPr/>
          <a:lstStyle/>
          <a:p>
            <a:endParaRPr lang="en-TR"/>
          </a:p>
        </p:txBody>
      </p:sp>
      <p:sp>
        <p:nvSpPr>
          <p:cNvPr id="12" name="Text 10"/>
          <p:cNvSpPr/>
          <p:nvPr/>
        </p:nvSpPr>
        <p:spPr>
          <a:xfrm>
            <a:off x="960120" y="2487168"/>
            <a:ext cx="3200400" cy="274320"/>
          </a:xfrm>
          <a:prstGeom prst="rect">
            <a:avLst/>
          </a:prstGeom>
          <a:noFill/>
          <a:ln/>
        </p:spPr>
        <p:txBody>
          <a:bodyPr wrap="square" rtlCol="0" anchor="ctr"/>
          <a:lstStyle/>
          <a:p>
            <a:pPr marL="0" indent="0">
              <a:buNone/>
            </a:pPr>
            <a:r>
              <a:rPr lang="en-US" sz="1300" dirty="0">
                <a:solidFill>
                  <a:srgbClr val="393939"/>
                </a:solidFill>
                <a:latin typeface="Calibri" pitchFamily="34" charset="0"/>
                <a:ea typeface="Calibri" pitchFamily="34" charset="-122"/>
                <a:cs typeface="Calibri" pitchFamily="34" charset="-120"/>
              </a:rPr>
              <a:t>3. Validation</a:t>
            </a:r>
            <a:endParaRPr lang="en-US" sz="1300" dirty="0"/>
          </a:p>
        </p:txBody>
      </p:sp>
      <p:sp>
        <p:nvSpPr>
          <p:cNvPr id="13" name="Shape 11"/>
          <p:cNvSpPr/>
          <p:nvPr/>
        </p:nvSpPr>
        <p:spPr>
          <a:xfrm>
            <a:off x="754380" y="2734056"/>
            <a:ext cx="0" cy="64008"/>
          </a:xfrm>
          <a:prstGeom prst="line">
            <a:avLst/>
          </a:prstGeom>
          <a:noFill/>
          <a:ln w="19050">
            <a:solidFill>
              <a:srgbClr val="65D7DE"/>
            </a:solidFill>
            <a:prstDash val="solid"/>
          </a:ln>
        </p:spPr>
        <p:txBody>
          <a:bodyPr/>
          <a:lstStyle/>
          <a:p>
            <a:endParaRPr lang="en-TR"/>
          </a:p>
        </p:txBody>
      </p:sp>
      <p:sp>
        <p:nvSpPr>
          <p:cNvPr id="14" name="Shape 12"/>
          <p:cNvSpPr/>
          <p:nvPr/>
        </p:nvSpPr>
        <p:spPr>
          <a:xfrm>
            <a:off x="640080" y="2798064"/>
            <a:ext cx="228600" cy="228600"/>
          </a:xfrm>
          <a:prstGeom prst="ellipse">
            <a:avLst/>
          </a:prstGeom>
          <a:solidFill>
            <a:srgbClr val="65D7DE"/>
          </a:solidFill>
          <a:ln w="12700">
            <a:solidFill>
              <a:srgbClr val="65D7DE"/>
            </a:solidFill>
            <a:prstDash val="solid"/>
          </a:ln>
        </p:spPr>
        <p:txBody>
          <a:bodyPr/>
          <a:lstStyle/>
          <a:p>
            <a:endParaRPr lang="en-TR"/>
          </a:p>
        </p:txBody>
      </p:sp>
      <p:sp>
        <p:nvSpPr>
          <p:cNvPr id="15" name="Text 13"/>
          <p:cNvSpPr/>
          <p:nvPr/>
        </p:nvSpPr>
        <p:spPr>
          <a:xfrm>
            <a:off x="960120" y="2779776"/>
            <a:ext cx="3200400" cy="274320"/>
          </a:xfrm>
          <a:prstGeom prst="rect">
            <a:avLst/>
          </a:prstGeom>
          <a:noFill/>
          <a:ln/>
        </p:spPr>
        <p:txBody>
          <a:bodyPr wrap="square" rtlCol="0" anchor="ctr"/>
          <a:lstStyle/>
          <a:p>
            <a:pPr marL="0" indent="0">
              <a:buNone/>
            </a:pPr>
            <a:r>
              <a:rPr lang="en-US" sz="1300" dirty="0">
                <a:solidFill>
                  <a:srgbClr val="393939"/>
                </a:solidFill>
                <a:latin typeface="Calibri" pitchFamily="34" charset="0"/>
                <a:ea typeface="Calibri" pitchFamily="34" charset="-122"/>
                <a:cs typeface="Calibri" pitchFamily="34" charset="-120"/>
              </a:rPr>
              <a:t>4. Security</a:t>
            </a:r>
            <a:endParaRPr lang="en-US" sz="1300" dirty="0"/>
          </a:p>
        </p:txBody>
      </p:sp>
      <p:sp>
        <p:nvSpPr>
          <p:cNvPr id="16" name="Shape 14"/>
          <p:cNvSpPr/>
          <p:nvPr/>
        </p:nvSpPr>
        <p:spPr>
          <a:xfrm>
            <a:off x="754380" y="3026664"/>
            <a:ext cx="0" cy="64008"/>
          </a:xfrm>
          <a:prstGeom prst="line">
            <a:avLst/>
          </a:prstGeom>
          <a:noFill/>
          <a:ln w="19050">
            <a:solidFill>
              <a:srgbClr val="65D7DE"/>
            </a:solidFill>
            <a:prstDash val="solid"/>
          </a:ln>
        </p:spPr>
        <p:txBody>
          <a:bodyPr/>
          <a:lstStyle/>
          <a:p>
            <a:endParaRPr lang="en-TR"/>
          </a:p>
        </p:txBody>
      </p:sp>
      <p:sp>
        <p:nvSpPr>
          <p:cNvPr id="17" name="Shape 15"/>
          <p:cNvSpPr/>
          <p:nvPr/>
        </p:nvSpPr>
        <p:spPr>
          <a:xfrm>
            <a:off x="640080" y="3090672"/>
            <a:ext cx="228600" cy="228600"/>
          </a:xfrm>
          <a:prstGeom prst="ellipse">
            <a:avLst/>
          </a:prstGeom>
          <a:solidFill>
            <a:srgbClr val="65D7DE"/>
          </a:solidFill>
          <a:ln w="12700">
            <a:solidFill>
              <a:srgbClr val="65D7DE"/>
            </a:solidFill>
            <a:prstDash val="solid"/>
          </a:ln>
        </p:spPr>
        <p:txBody>
          <a:bodyPr/>
          <a:lstStyle/>
          <a:p>
            <a:endParaRPr lang="en-TR"/>
          </a:p>
        </p:txBody>
      </p:sp>
      <p:sp>
        <p:nvSpPr>
          <p:cNvPr id="18" name="Text 16"/>
          <p:cNvSpPr/>
          <p:nvPr/>
        </p:nvSpPr>
        <p:spPr>
          <a:xfrm>
            <a:off x="960120" y="3072384"/>
            <a:ext cx="3200400" cy="274320"/>
          </a:xfrm>
          <a:prstGeom prst="rect">
            <a:avLst/>
          </a:prstGeom>
          <a:noFill/>
          <a:ln/>
        </p:spPr>
        <p:txBody>
          <a:bodyPr wrap="square" rtlCol="0" anchor="ctr"/>
          <a:lstStyle/>
          <a:p>
            <a:pPr marL="0" indent="0">
              <a:buNone/>
            </a:pPr>
            <a:r>
              <a:rPr lang="en-US" sz="1300" dirty="0">
                <a:solidFill>
                  <a:srgbClr val="393939"/>
                </a:solidFill>
                <a:latin typeface="Calibri" pitchFamily="34" charset="0"/>
                <a:ea typeface="Calibri" pitchFamily="34" charset="-122"/>
                <a:cs typeface="Calibri" pitchFamily="34" charset="-120"/>
              </a:rPr>
              <a:t>5. Approval</a:t>
            </a:r>
            <a:endParaRPr lang="en-US" sz="1300" dirty="0"/>
          </a:p>
        </p:txBody>
      </p:sp>
      <p:sp>
        <p:nvSpPr>
          <p:cNvPr id="19" name="Shape 17"/>
          <p:cNvSpPr/>
          <p:nvPr/>
        </p:nvSpPr>
        <p:spPr>
          <a:xfrm>
            <a:off x="754380" y="3319272"/>
            <a:ext cx="0" cy="64008"/>
          </a:xfrm>
          <a:prstGeom prst="line">
            <a:avLst/>
          </a:prstGeom>
          <a:noFill/>
          <a:ln w="19050">
            <a:solidFill>
              <a:srgbClr val="65D7DE"/>
            </a:solidFill>
            <a:prstDash val="solid"/>
          </a:ln>
        </p:spPr>
        <p:txBody>
          <a:bodyPr/>
          <a:lstStyle/>
          <a:p>
            <a:endParaRPr lang="en-TR"/>
          </a:p>
        </p:txBody>
      </p:sp>
      <p:sp>
        <p:nvSpPr>
          <p:cNvPr id="20" name="Shape 18"/>
          <p:cNvSpPr/>
          <p:nvPr/>
        </p:nvSpPr>
        <p:spPr>
          <a:xfrm>
            <a:off x="640080" y="3383280"/>
            <a:ext cx="228600" cy="228600"/>
          </a:xfrm>
          <a:prstGeom prst="ellipse">
            <a:avLst/>
          </a:prstGeom>
          <a:solidFill>
            <a:srgbClr val="65D7DE"/>
          </a:solidFill>
          <a:ln w="12700">
            <a:solidFill>
              <a:srgbClr val="65D7DE"/>
            </a:solidFill>
            <a:prstDash val="solid"/>
          </a:ln>
        </p:spPr>
        <p:txBody>
          <a:bodyPr/>
          <a:lstStyle/>
          <a:p>
            <a:endParaRPr lang="en-TR"/>
          </a:p>
        </p:txBody>
      </p:sp>
      <p:sp>
        <p:nvSpPr>
          <p:cNvPr id="21" name="Text 19"/>
          <p:cNvSpPr/>
          <p:nvPr/>
        </p:nvSpPr>
        <p:spPr>
          <a:xfrm>
            <a:off x="960120" y="3364992"/>
            <a:ext cx="3200400" cy="274320"/>
          </a:xfrm>
          <a:prstGeom prst="rect">
            <a:avLst/>
          </a:prstGeom>
          <a:noFill/>
          <a:ln/>
        </p:spPr>
        <p:txBody>
          <a:bodyPr wrap="square" rtlCol="0" anchor="ctr"/>
          <a:lstStyle/>
          <a:p>
            <a:pPr marL="0" indent="0">
              <a:buNone/>
            </a:pPr>
            <a:r>
              <a:rPr lang="en-US" sz="1300" dirty="0">
                <a:solidFill>
                  <a:srgbClr val="393939"/>
                </a:solidFill>
                <a:latin typeface="Calibri" pitchFamily="34" charset="0"/>
                <a:ea typeface="Calibri" pitchFamily="34" charset="-122"/>
                <a:cs typeface="Calibri" pitchFamily="34" charset="-120"/>
              </a:rPr>
              <a:t>6. Versioning</a:t>
            </a:r>
            <a:endParaRPr lang="en-US" sz="1300" dirty="0"/>
          </a:p>
        </p:txBody>
      </p:sp>
      <p:sp>
        <p:nvSpPr>
          <p:cNvPr id="22" name="Shape 20"/>
          <p:cNvSpPr/>
          <p:nvPr/>
        </p:nvSpPr>
        <p:spPr>
          <a:xfrm>
            <a:off x="754380" y="3611880"/>
            <a:ext cx="0" cy="64008"/>
          </a:xfrm>
          <a:prstGeom prst="line">
            <a:avLst/>
          </a:prstGeom>
          <a:noFill/>
          <a:ln w="19050">
            <a:solidFill>
              <a:srgbClr val="65D7DE"/>
            </a:solidFill>
            <a:prstDash val="solid"/>
          </a:ln>
        </p:spPr>
        <p:txBody>
          <a:bodyPr/>
          <a:lstStyle/>
          <a:p>
            <a:endParaRPr lang="en-TR"/>
          </a:p>
        </p:txBody>
      </p:sp>
      <p:sp>
        <p:nvSpPr>
          <p:cNvPr id="23" name="Shape 21"/>
          <p:cNvSpPr/>
          <p:nvPr/>
        </p:nvSpPr>
        <p:spPr>
          <a:xfrm>
            <a:off x="640080" y="3675888"/>
            <a:ext cx="228600" cy="228600"/>
          </a:xfrm>
          <a:prstGeom prst="ellipse">
            <a:avLst/>
          </a:prstGeom>
          <a:solidFill>
            <a:srgbClr val="65D7DE"/>
          </a:solidFill>
          <a:ln w="12700">
            <a:solidFill>
              <a:srgbClr val="65D7DE"/>
            </a:solidFill>
            <a:prstDash val="solid"/>
          </a:ln>
        </p:spPr>
        <p:txBody>
          <a:bodyPr/>
          <a:lstStyle/>
          <a:p>
            <a:endParaRPr lang="en-TR"/>
          </a:p>
        </p:txBody>
      </p:sp>
      <p:sp>
        <p:nvSpPr>
          <p:cNvPr id="24" name="Text 22"/>
          <p:cNvSpPr/>
          <p:nvPr/>
        </p:nvSpPr>
        <p:spPr>
          <a:xfrm>
            <a:off x="960120" y="3657600"/>
            <a:ext cx="3200400" cy="274320"/>
          </a:xfrm>
          <a:prstGeom prst="rect">
            <a:avLst/>
          </a:prstGeom>
          <a:noFill/>
          <a:ln/>
        </p:spPr>
        <p:txBody>
          <a:bodyPr wrap="square" rtlCol="0" anchor="ctr"/>
          <a:lstStyle/>
          <a:p>
            <a:pPr marL="0" indent="0">
              <a:buNone/>
            </a:pPr>
            <a:r>
              <a:rPr lang="en-US" sz="1300" dirty="0">
                <a:solidFill>
                  <a:srgbClr val="393939"/>
                </a:solidFill>
                <a:latin typeface="Calibri" pitchFamily="34" charset="0"/>
                <a:ea typeface="Calibri" pitchFamily="34" charset="-122"/>
                <a:cs typeface="Calibri" pitchFamily="34" charset="-120"/>
              </a:rPr>
              <a:t>7. Deploy</a:t>
            </a:r>
            <a:endParaRPr lang="en-US" sz="1300" dirty="0"/>
          </a:p>
        </p:txBody>
      </p:sp>
      <p:sp>
        <p:nvSpPr>
          <p:cNvPr id="25" name="Shape 23"/>
          <p:cNvSpPr/>
          <p:nvPr/>
        </p:nvSpPr>
        <p:spPr>
          <a:xfrm>
            <a:off x="754380" y="3904488"/>
            <a:ext cx="0" cy="64008"/>
          </a:xfrm>
          <a:prstGeom prst="line">
            <a:avLst/>
          </a:prstGeom>
          <a:noFill/>
          <a:ln w="19050">
            <a:solidFill>
              <a:srgbClr val="65D7DE"/>
            </a:solidFill>
            <a:prstDash val="solid"/>
          </a:ln>
        </p:spPr>
        <p:txBody>
          <a:bodyPr/>
          <a:lstStyle/>
          <a:p>
            <a:endParaRPr lang="en-TR"/>
          </a:p>
        </p:txBody>
      </p:sp>
      <p:sp>
        <p:nvSpPr>
          <p:cNvPr id="26" name="Shape 24"/>
          <p:cNvSpPr/>
          <p:nvPr/>
        </p:nvSpPr>
        <p:spPr>
          <a:xfrm>
            <a:off x="640080" y="3968496"/>
            <a:ext cx="228600" cy="228600"/>
          </a:xfrm>
          <a:prstGeom prst="ellipse">
            <a:avLst/>
          </a:prstGeom>
          <a:solidFill>
            <a:srgbClr val="65D7DE"/>
          </a:solidFill>
          <a:ln w="12700">
            <a:solidFill>
              <a:srgbClr val="65D7DE"/>
            </a:solidFill>
            <a:prstDash val="solid"/>
          </a:ln>
        </p:spPr>
        <p:txBody>
          <a:bodyPr/>
          <a:lstStyle/>
          <a:p>
            <a:endParaRPr lang="en-TR"/>
          </a:p>
        </p:txBody>
      </p:sp>
      <p:sp>
        <p:nvSpPr>
          <p:cNvPr id="27" name="Text 25"/>
          <p:cNvSpPr/>
          <p:nvPr/>
        </p:nvSpPr>
        <p:spPr>
          <a:xfrm>
            <a:off x="960120" y="3950208"/>
            <a:ext cx="3200400" cy="274320"/>
          </a:xfrm>
          <a:prstGeom prst="rect">
            <a:avLst/>
          </a:prstGeom>
          <a:noFill/>
          <a:ln/>
        </p:spPr>
        <p:txBody>
          <a:bodyPr wrap="square" rtlCol="0" anchor="ctr"/>
          <a:lstStyle/>
          <a:p>
            <a:pPr marL="0" indent="0">
              <a:buNone/>
            </a:pPr>
            <a:r>
              <a:rPr lang="en-US" sz="1300" dirty="0">
                <a:solidFill>
                  <a:srgbClr val="393939"/>
                </a:solidFill>
                <a:latin typeface="Calibri" pitchFamily="34" charset="0"/>
                <a:ea typeface="Calibri" pitchFamily="34" charset="-122"/>
                <a:cs typeface="Calibri" pitchFamily="34" charset="-120"/>
              </a:rPr>
              <a:t>8. Monitor</a:t>
            </a:r>
            <a:endParaRPr lang="en-US" sz="1300" dirty="0"/>
          </a:p>
        </p:txBody>
      </p:sp>
      <p:sp>
        <p:nvSpPr>
          <p:cNvPr id="28" name="Shape 26"/>
          <p:cNvSpPr/>
          <p:nvPr/>
        </p:nvSpPr>
        <p:spPr>
          <a:xfrm>
            <a:off x="754380" y="4197096"/>
            <a:ext cx="0" cy="64008"/>
          </a:xfrm>
          <a:prstGeom prst="line">
            <a:avLst/>
          </a:prstGeom>
          <a:noFill/>
          <a:ln w="19050">
            <a:solidFill>
              <a:srgbClr val="65D7DE"/>
            </a:solidFill>
            <a:prstDash val="solid"/>
          </a:ln>
        </p:spPr>
        <p:txBody>
          <a:bodyPr/>
          <a:lstStyle/>
          <a:p>
            <a:endParaRPr lang="en-TR"/>
          </a:p>
        </p:txBody>
      </p:sp>
      <p:sp>
        <p:nvSpPr>
          <p:cNvPr id="29" name="Shape 27"/>
          <p:cNvSpPr/>
          <p:nvPr/>
        </p:nvSpPr>
        <p:spPr>
          <a:xfrm>
            <a:off x="640080" y="4261104"/>
            <a:ext cx="228600" cy="228600"/>
          </a:xfrm>
          <a:prstGeom prst="ellipse">
            <a:avLst/>
          </a:prstGeom>
          <a:solidFill>
            <a:srgbClr val="65D7DE"/>
          </a:solidFill>
          <a:ln w="12700">
            <a:solidFill>
              <a:srgbClr val="65D7DE"/>
            </a:solidFill>
            <a:prstDash val="solid"/>
          </a:ln>
        </p:spPr>
        <p:txBody>
          <a:bodyPr/>
          <a:lstStyle/>
          <a:p>
            <a:endParaRPr lang="en-TR"/>
          </a:p>
        </p:txBody>
      </p:sp>
      <p:sp>
        <p:nvSpPr>
          <p:cNvPr id="30" name="Text 28"/>
          <p:cNvSpPr/>
          <p:nvPr/>
        </p:nvSpPr>
        <p:spPr>
          <a:xfrm>
            <a:off x="960120" y="4242816"/>
            <a:ext cx="3200400" cy="274320"/>
          </a:xfrm>
          <a:prstGeom prst="rect">
            <a:avLst/>
          </a:prstGeom>
          <a:noFill/>
          <a:ln/>
        </p:spPr>
        <p:txBody>
          <a:bodyPr wrap="square" rtlCol="0" anchor="ctr"/>
          <a:lstStyle/>
          <a:p>
            <a:pPr marL="0" indent="0">
              <a:buNone/>
            </a:pPr>
            <a:r>
              <a:rPr lang="en-US" sz="1300" dirty="0">
                <a:solidFill>
                  <a:srgbClr val="393939"/>
                </a:solidFill>
                <a:latin typeface="Calibri" pitchFamily="34" charset="0"/>
                <a:ea typeface="Calibri" pitchFamily="34" charset="-122"/>
                <a:cs typeface="Calibri" pitchFamily="34" charset="-120"/>
              </a:rPr>
              <a:t>9. Retire</a:t>
            </a:r>
            <a:endParaRPr lang="en-US" sz="1300" dirty="0"/>
          </a:p>
        </p:txBody>
      </p:sp>
      <p:sp>
        <p:nvSpPr>
          <p:cNvPr id="31" name="Text 29"/>
          <p:cNvSpPr/>
          <p:nvPr/>
        </p:nvSpPr>
        <p:spPr>
          <a:xfrm>
            <a:off x="4846320" y="1554480"/>
            <a:ext cx="4114800" cy="274320"/>
          </a:xfrm>
          <a:prstGeom prst="rect">
            <a:avLst/>
          </a:prstGeom>
          <a:noFill/>
          <a:ln/>
        </p:spPr>
        <p:txBody>
          <a:bodyPr wrap="square" rtlCol="0" anchor="ctr"/>
          <a:lstStyle/>
          <a:p>
            <a:pPr marL="0" indent="0">
              <a:buNone/>
            </a:pPr>
            <a:r>
              <a:rPr lang="en-US" sz="1100" b="1" kern="0" spc="400" dirty="0">
                <a:solidFill>
                  <a:srgbClr val="AB80AD"/>
                </a:solidFill>
                <a:latin typeface="Calibri" pitchFamily="34" charset="0"/>
                <a:ea typeface="Calibri" pitchFamily="34" charset="-122"/>
                <a:cs typeface="Calibri" pitchFamily="34" charset="-120"/>
              </a:rPr>
              <a:t>10 VERSİYON BOYUTU</a:t>
            </a:r>
            <a:endParaRPr lang="en-US" sz="1100" dirty="0"/>
          </a:p>
        </p:txBody>
      </p:sp>
      <p:sp>
        <p:nvSpPr>
          <p:cNvPr id="32" name="Shape 30"/>
          <p:cNvSpPr/>
          <p:nvPr/>
        </p:nvSpPr>
        <p:spPr>
          <a:xfrm>
            <a:off x="4846320" y="1920240"/>
            <a:ext cx="1874520" cy="411480"/>
          </a:xfrm>
          <a:prstGeom prst="roundRect">
            <a:avLst>
              <a:gd name="adj" fmla="val 11111"/>
            </a:avLst>
          </a:prstGeom>
          <a:solidFill>
            <a:srgbClr val="FFFFFF"/>
          </a:solidFill>
          <a:ln w="19050">
            <a:solidFill>
              <a:srgbClr val="AB80AD"/>
            </a:solidFill>
            <a:prstDash val="solid"/>
          </a:ln>
        </p:spPr>
        <p:txBody>
          <a:bodyPr/>
          <a:lstStyle/>
          <a:p>
            <a:endParaRPr lang="en-TR"/>
          </a:p>
        </p:txBody>
      </p:sp>
      <p:sp>
        <p:nvSpPr>
          <p:cNvPr id="33" name="Text 31"/>
          <p:cNvSpPr/>
          <p:nvPr/>
        </p:nvSpPr>
        <p:spPr>
          <a:xfrm>
            <a:off x="4846320" y="1920240"/>
            <a:ext cx="1874520" cy="411480"/>
          </a:xfrm>
          <a:prstGeom prst="rect">
            <a:avLst/>
          </a:prstGeom>
          <a:noFill/>
          <a:ln/>
        </p:spPr>
        <p:txBody>
          <a:bodyPr wrap="square" rtlCol="0" anchor="ctr"/>
          <a:lstStyle/>
          <a:p>
            <a:pPr marL="0" indent="0" algn="ctr">
              <a:buNone/>
            </a:pPr>
            <a:r>
              <a:rPr lang="en-US" sz="1300" dirty="0">
                <a:solidFill>
                  <a:srgbClr val="393939"/>
                </a:solidFill>
                <a:latin typeface="Calibri" pitchFamily="34" charset="0"/>
                <a:ea typeface="Calibri" pitchFamily="34" charset="-122"/>
                <a:cs typeface="Calibri" pitchFamily="34" charset="-120"/>
              </a:rPr>
              <a:t>Agent</a:t>
            </a:r>
            <a:endParaRPr lang="en-US" sz="1300" dirty="0"/>
          </a:p>
        </p:txBody>
      </p:sp>
      <p:sp>
        <p:nvSpPr>
          <p:cNvPr id="34" name="Shape 32"/>
          <p:cNvSpPr/>
          <p:nvPr/>
        </p:nvSpPr>
        <p:spPr>
          <a:xfrm>
            <a:off x="6858000" y="1920240"/>
            <a:ext cx="1874520" cy="411480"/>
          </a:xfrm>
          <a:prstGeom prst="roundRect">
            <a:avLst>
              <a:gd name="adj" fmla="val 11111"/>
            </a:avLst>
          </a:prstGeom>
          <a:solidFill>
            <a:srgbClr val="FFFFFF"/>
          </a:solidFill>
          <a:ln w="19050">
            <a:solidFill>
              <a:srgbClr val="AB80AD"/>
            </a:solidFill>
            <a:prstDash val="solid"/>
          </a:ln>
        </p:spPr>
        <p:txBody>
          <a:bodyPr/>
          <a:lstStyle/>
          <a:p>
            <a:endParaRPr lang="en-TR"/>
          </a:p>
        </p:txBody>
      </p:sp>
      <p:sp>
        <p:nvSpPr>
          <p:cNvPr id="35" name="Text 33"/>
          <p:cNvSpPr/>
          <p:nvPr/>
        </p:nvSpPr>
        <p:spPr>
          <a:xfrm>
            <a:off x="6858000" y="1920240"/>
            <a:ext cx="1874520" cy="411480"/>
          </a:xfrm>
          <a:prstGeom prst="rect">
            <a:avLst/>
          </a:prstGeom>
          <a:noFill/>
          <a:ln/>
        </p:spPr>
        <p:txBody>
          <a:bodyPr wrap="square" rtlCol="0" anchor="ctr"/>
          <a:lstStyle/>
          <a:p>
            <a:pPr marL="0" indent="0" algn="ctr">
              <a:buNone/>
            </a:pPr>
            <a:r>
              <a:rPr lang="en-US" sz="1300" dirty="0">
                <a:solidFill>
                  <a:srgbClr val="393939"/>
                </a:solidFill>
                <a:latin typeface="Calibri" pitchFamily="34" charset="0"/>
                <a:ea typeface="Calibri" pitchFamily="34" charset="-122"/>
                <a:cs typeface="Calibri" pitchFamily="34" charset="-120"/>
              </a:rPr>
              <a:t>Prompt</a:t>
            </a:r>
            <a:endParaRPr lang="en-US" sz="1300" dirty="0"/>
          </a:p>
        </p:txBody>
      </p:sp>
      <p:sp>
        <p:nvSpPr>
          <p:cNvPr id="36" name="Shape 34"/>
          <p:cNvSpPr/>
          <p:nvPr/>
        </p:nvSpPr>
        <p:spPr>
          <a:xfrm>
            <a:off x="4846320" y="2423160"/>
            <a:ext cx="1874520" cy="411480"/>
          </a:xfrm>
          <a:prstGeom prst="roundRect">
            <a:avLst>
              <a:gd name="adj" fmla="val 11111"/>
            </a:avLst>
          </a:prstGeom>
          <a:solidFill>
            <a:srgbClr val="FFFFFF"/>
          </a:solidFill>
          <a:ln w="19050">
            <a:solidFill>
              <a:srgbClr val="AB80AD"/>
            </a:solidFill>
            <a:prstDash val="solid"/>
          </a:ln>
        </p:spPr>
        <p:txBody>
          <a:bodyPr/>
          <a:lstStyle/>
          <a:p>
            <a:endParaRPr lang="en-TR"/>
          </a:p>
        </p:txBody>
      </p:sp>
      <p:sp>
        <p:nvSpPr>
          <p:cNvPr id="37" name="Text 35"/>
          <p:cNvSpPr/>
          <p:nvPr/>
        </p:nvSpPr>
        <p:spPr>
          <a:xfrm>
            <a:off x="4846320" y="2423160"/>
            <a:ext cx="1874520" cy="411480"/>
          </a:xfrm>
          <a:prstGeom prst="rect">
            <a:avLst/>
          </a:prstGeom>
          <a:noFill/>
          <a:ln/>
        </p:spPr>
        <p:txBody>
          <a:bodyPr wrap="square" rtlCol="0" anchor="ctr"/>
          <a:lstStyle/>
          <a:p>
            <a:pPr marL="0" indent="0" algn="ctr">
              <a:buNone/>
            </a:pPr>
            <a:r>
              <a:rPr lang="en-US" sz="1300" dirty="0">
                <a:solidFill>
                  <a:srgbClr val="393939"/>
                </a:solidFill>
                <a:latin typeface="Calibri" pitchFamily="34" charset="0"/>
                <a:ea typeface="Calibri" pitchFamily="34" charset="-122"/>
                <a:cs typeface="Calibri" pitchFamily="34" charset="-120"/>
              </a:rPr>
              <a:t>Model</a:t>
            </a:r>
            <a:endParaRPr lang="en-US" sz="1300" dirty="0"/>
          </a:p>
        </p:txBody>
      </p:sp>
      <p:sp>
        <p:nvSpPr>
          <p:cNvPr id="38" name="Shape 36"/>
          <p:cNvSpPr/>
          <p:nvPr/>
        </p:nvSpPr>
        <p:spPr>
          <a:xfrm>
            <a:off x="6858000" y="2423160"/>
            <a:ext cx="1874520" cy="411480"/>
          </a:xfrm>
          <a:prstGeom prst="roundRect">
            <a:avLst>
              <a:gd name="adj" fmla="val 11111"/>
            </a:avLst>
          </a:prstGeom>
          <a:solidFill>
            <a:srgbClr val="FFFFFF"/>
          </a:solidFill>
          <a:ln w="19050">
            <a:solidFill>
              <a:srgbClr val="AB80AD"/>
            </a:solidFill>
            <a:prstDash val="solid"/>
          </a:ln>
        </p:spPr>
        <p:txBody>
          <a:bodyPr/>
          <a:lstStyle/>
          <a:p>
            <a:endParaRPr lang="en-TR"/>
          </a:p>
        </p:txBody>
      </p:sp>
      <p:sp>
        <p:nvSpPr>
          <p:cNvPr id="39" name="Text 37"/>
          <p:cNvSpPr/>
          <p:nvPr/>
        </p:nvSpPr>
        <p:spPr>
          <a:xfrm>
            <a:off x="6858000" y="2423160"/>
            <a:ext cx="1874520" cy="411480"/>
          </a:xfrm>
          <a:prstGeom prst="rect">
            <a:avLst/>
          </a:prstGeom>
          <a:noFill/>
          <a:ln/>
        </p:spPr>
        <p:txBody>
          <a:bodyPr wrap="square" rtlCol="0" anchor="ctr"/>
          <a:lstStyle/>
          <a:p>
            <a:pPr marL="0" indent="0" algn="ctr">
              <a:buNone/>
            </a:pPr>
            <a:r>
              <a:rPr lang="en-US" sz="1300" dirty="0">
                <a:solidFill>
                  <a:srgbClr val="393939"/>
                </a:solidFill>
                <a:latin typeface="Calibri" pitchFamily="34" charset="0"/>
                <a:ea typeface="Calibri" pitchFamily="34" charset="-122"/>
                <a:cs typeface="Calibri" pitchFamily="34" charset="-120"/>
              </a:rPr>
              <a:t>Tool</a:t>
            </a:r>
            <a:endParaRPr lang="en-US" sz="1300" dirty="0"/>
          </a:p>
        </p:txBody>
      </p:sp>
      <p:sp>
        <p:nvSpPr>
          <p:cNvPr id="40" name="Shape 38"/>
          <p:cNvSpPr/>
          <p:nvPr/>
        </p:nvSpPr>
        <p:spPr>
          <a:xfrm>
            <a:off x="4846320" y="2926080"/>
            <a:ext cx="1874520" cy="411480"/>
          </a:xfrm>
          <a:prstGeom prst="roundRect">
            <a:avLst>
              <a:gd name="adj" fmla="val 11111"/>
            </a:avLst>
          </a:prstGeom>
          <a:solidFill>
            <a:srgbClr val="FFFFFF"/>
          </a:solidFill>
          <a:ln w="19050">
            <a:solidFill>
              <a:srgbClr val="AB80AD"/>
            </a:solidFill>
            <a:prstDash val="solid"/>
          </a:ln>
        </p:spPr>
        <p:txBody>
          <a:bodyPr/>
          <a:lstStyle/>
          <a:p>
            <a:endParaRPr lang="en-TR"/>
          </a:p>
        </p:txBody>
      </p:sp>
      <p:sp>
        <p:nvSpPr>
          <p:cNvPr id="41" name="Text 39"/>
          <p:cNvSpPr/>
          <p:nvPr/>
        </p:nvSpPr>
        <p:spPr>
          <a:xfrm>
            <a:off x="4846320" y="2926080"/>
            <a:ext cx="1874520" cy="411480"/>
          </a:xfrm>
          <a:prstGeom prst="rect">
            <a:avLst/>
          </a:prstGeom>
          <a:noFill/>
          <a:ln/>
        </p:spPr>
        <p:txBody>
          <a:bodyPr wrap="square" rtlCol="0" anchor="ctr"/>
          <a:lstStyle/>
          <a:p>
            <a:pPr marL="0" indent="0" algn="ctr">
              <a:buNone/>
            </a:pPr>
            <a:r>
              <a:rPr lang="en-US" sz="1300" dirty="0">
                <a:solidFill>
                  <a:srgbClr val="393939"/>
                </a:solidFill>
                <a:latin typeface="Calibri" pitchFamily="34" charset="0"/>
                <a:ea typeface="Calibri" pitchFamily="34" charset="-122"/>
                <a:cs typeface="Calibri" pitchFamily="34" charset="-120"/>
              </a:rPr>
              <a:t>Skill</a:t>
            </a:r>
            <a:endParaRPr lang="en-US" sz="1300" dirty="0"/>
          </a:p>
        </p:txBody>
      </p:sp>
      <p:sp>
        <p:nvSpPr>
          <p:cNvPr id="42" name="Shape 40"/>
          <p:cNvSpPr/>
          <p:nvPr/>
        </p:nvSpPr>
        <p:spPr>
          <a:xfrm>
            <a:off x="6858000" y="2926080"/>
            <a:ext cx="1874520" cy="411480"/>
          </a:xfrm>
          <a:prstGeom prst="roundRect">
            <a:avLst>
              <a:gd name="adj" fmla="val 11111"/>
            </a:avLst>
          </a:prstGeom>
          <a:solidFill>
            <a:srgbClr val="FFFFFF"/>
          </a:solidFill>
          <a:ln w="19050">
            <a:solidFill>
              <a:srgbClr val="AB80AD"/>
            </a:solidFill>
            <a:prstDash val="solid"/>
          </a:ln>
        </p:spPr>
        <p:txBody>
          <a:bodyPr/>
          <a:lstStyle/>
          <a:p>
            <a:endParaRPr lang="en-TR"/>
          </a:p>
        </p:txBody>
      </p:sp>
      <p:sp>
        <p:nvSpPr>
          <p:cNvPr id="43" name="Text 41"/>
          <p:cNvSpPr/>
          <p:nvPr/>
        </p:nvSpPr>
        <p:spPr>
          <a:xfrm>
            <a:off x="6858000" y="2926080"/>
            <a:ext cx="1874520" cy="411480"/>
          </a:xfrm>
          <a:prstGeom prst="rect">
            <a:avLst/>
          </a:prstGeom>
          <a:noFill/>
          <a:ln/>
        </p:spPr>
        <p:txBody>
          <a:bodyPr wrap="square" rtlCol="0" anchor="ctr"/>
          <a:lstStyle/>
          <a:p>
            <a:pPr marL="0" indent="0" algn="ctr">
              <a:buNone/>
            </a:pPr>
            <a:r>
              <a:rPr lang="en-US" sz="1300" dirty="0">
                <a:solidFill>
                  <a:srgbClr val="393939"/>
                </a:solidFill>
                <a:latin typeface="Calibri" pitchFamily="34" charset="0"/>
                <a:ea typeface="Calibri" pitchFamily="34" charset="-122"/>
                <a:cs typeface="Calibri" pitchFamily="34" charset="-120"/>
              </a:rPr>
              <a:t>RAG index</a:t>
            </a:r>
            <a:endParaRPr lang="en-US" sz="1300" dirty="0"/>
          </a:p>
        </p:txBody>
      </p:sp>
      <p:sp>
        <p:nvSpPr>
          <p:cNvPr id="44" name="Shape 42"/>
          <p:cNvSpPr/>
          <p:nvPr/>
        </p:nvSpPr>
        <p:spPr>
          <a:xfrm>
            <a:off x="4846320" y="3429000"/>
            <a:ext cx="1874520" cy="411480"/>
          </a:xfrm>
          <a:prstGeom prst="roundRect">
            <a:avLst>
              <a:gd name="adj" fmla="val 11111"/>
            </a:avLst>
          </a:prstGeom>
          <a:solidFill>
            <a:srgbClr val="FFFFFF"/>
          </a:solidFill>
          <a:ln w="19050">
            <a:solidFill>
              <a:srgbClr val="AB80AD"/>
            </a:solidFill>
            <a:prstDash val="solid"/>
          </a:ln>
        </p:spPr>
        <p:txBody>
          <a:bodyPr/>
          <a:lstStyle/>
          <a:p>
            <a:endParaRPr lang="en-TR"/>
          </a:p>
        </p:txBody>
      </p:sp>
      <p:sp>
        <p:nvSpPr>
          <p:cNvPr id="45" name="Text 43"/>
          <p:cNvSpPr/>
          <p:nvPr/>
        </p:nvSpPr>
        <p:spPr>
          <a:xfrm>
            <a:off x="4846320" y="3429000"/>
            <a:ext cx="1874520" cy="411480"/>
          </a:xfrm>
          <a:prstGeom prst="rect">
            <a:avLst/>
          </a:prstGeom>
          <a:noFill/>
          <a:ln/>
        </p:spPr>
        <p:txBody>
          <a:bodyPr wrap="square" rtlCol="0" anchor="ctr"/>
          <a:lstStyle/>
          <a:p>
            <a:pPr marL="0" indent="0" algn="ctr">
              <a:buNone/>
            </a:pPr>
            <a:r>
              <a:rPr lang="en-US" sz="1300" dirty="0">
                <a:solidFill>
                  <a:srgbClr val="393939"/>
                </a:solidFill>
                <a:latin typeface="Calibri" pitchFamily="34" charset="0"/>
                <a:ea typeface="Calibri" pitchFamily="34" charset="-122"/>
                <a:cs typeface="Calibri" pitchFamily="34" charset="-120"/>
              </a:rPr>
              <a:t>Embedding</a:t>
            </a:r>
            <a:endParaRPr lang="en-US" sz="1300" dirty="0"/>
          </a:p>
        </p:txBody>
      </p:sp>
      <p:sp>
        <p:nvSpPr>
          <p:cNvPr id="46" name="Shape 44"/>
          <p:cNvSpPr/>
          <p:nvPr/>
        </p:nvSpPr>
        <p:spPr>
          <a:xfrm>
            <a:off x="6858000" y="3429000"/>
            <a:ext cx="1874520" cy="411480"/>
          </a:xfrm>
          <a:prstGeom prst="roundRect">
            <a:avLst>
              <a:gd name="adj" fmla="val 11111"/>
            </a:avLst>
          </a:prstGeom>
          <a:solidFill>
            <a:srgbClr val="FFFFFF"/>
          </a:solidFill>
          <a:ln w="19050">
            <a:solidFill>
              <a:srgbClr val="AB80AD"/>
            </a:solidFill>
            <a:prstDash val="solid"/>
          </a:ln>
        </p:spPr>
        <p:txBody>
          <a:bodyPr/>
          <a:lstStyle/>
          <a:p>
            <a:endParaRPr lang="en-TR"/>
          </a:p>
        </p:txBody>
      </p:sp>
      <p:sp>
        <p:nvSpPr>
          <p:cNvPr id="47" name="Text 45"/>
          <p:cNvSpPr/>
          <p:nvPr/>
        </p:nvSpPr>
        <p:spPr>
          <a:xfrm>
            <a:off x="6858000" y="3429000"/>
            <a:ext cx="1874520" cy="411480"/>
          </a:xfrm>
          <a:prstGeom prst="rect">
            <a:avLst/>
          </a:prstGeom>
          <a:noFill/>
          <a:ln/>
        </p:spPr>
        <p:txBody>
          <a:bodyPr wrap="square" rtlCol="0" anchor="ctr"/>
          <a:lstStyle/>
          <a:p>
            <a:pPr marL="0" indent="0" algn="ctr">
              <a:buNone/>
            </a:pPr>
            <a:r>
              <a:rPr lang="en-US" sz="1300" dirty="0">
                <a:solidFill>
                  <a:srgbClr val="393939"/>
                </a:solidFill>
                <a:latin typeface="Calibri" pitchFamily="34" charset="0"/>
                <a:ea typeface="Calibri" pitchFamily="34" charset="-122"/>
                <a:cs typeface="Calibri" pitchFamily="34" charset="-120"/>
              </a:rPr>
              <a:t>Policy</a:t>
            </a:r>
            <a:endParaRPr lang="en-US" sz="1300" dirty="0"/>
          </a:p>
        </p:txBody>
      </p:sp>
      <p:sp>
        <p:nvSpPr>
          <p:cNvPr id="48" name="Shape 46"/>
          <p:cNvSpPr/>
          <p:nvPr/>
        </p:nvSpPr>
        <p:spPr>
          <a:xfrm>
            <a:off x="4846320" y="3931920"/>
            <a:ext cx="1874520" cy="411480"/>
          </a:xfrm>
          <a:prstGeom prst="roundRect">
            <a:avLst>
              <a:gd name="adj" fmla="val 11111"/>
            </a:avLst>
          </a:prstGeom>
          <a:solidFill>
            <a:srgbClr val="FFFFFF"/>
          </a:solidFill>
          <a:ln w="19050">
            <a:solidFill>
              <a:srgbClr val="AB80AD"/>
            </a:solidFill>
            <a:prstDash val="solid"/>
          </a:ln>
        </p:spPr>
        <p:txBody>
          <a:bodyPr/>
          <a:lstStyle/>
          <a:p>
            <a:endParaRPr lang="en-TR"/>
          </a:p>
        </p:txBody>
      </p:sp>
      <p:sp>
        <p:nvSpPr>
          <p:cNvPr id="49" name="Text 47"/>
          <p:cNvSpPr/>
          <p:nvPr/>
        </p:nvSpPr>
        <p:spPr>
          <a:xfrm>
            <a:off x="4846320" y="3931920"/>
            <a:ext cx="1874520" cy="411480"/>
          </a:xfrm>
          <a:prstGeom prst="rect">
            <a:avLst/>
          </a:prstGeom>
          <a:noFill/>
          <a:ln/>
        </p:spPr>
        <p:txBody>
          <a:bodyPr wrap="square" rtlCol="0" anchor="ctr"/>
          <a:lstStyle/>
          <a:p>
            <a:pPr marL="0" indent="0" algn="ctr">
              <a:buNone/>
            </a:pPr>
            <a:r>
              <a:rPr lang="en-US" sz="1300" dirty="0">
                <a:solidFill>
                  <a:srgbClr val="393939"/>
                </a:solidFill>
                <a:latin typeface="Calibri" pitchFamily="34" charset="0"/>
                <a:ea typeface="Calibri" pitchFamily="34" charset="-122"/>
                <a:cs typeface="Calibri" pitchFamily="34" charset="-120"/>
              </a:rPr>
              <a:t>Guardrail</a:t>
            </a:r>
            <a:endParaRPr lang="en-US" sz="1300" dirty="0"/>
          </a:p>
        </p:txBody>
      </p:sp>
      <p:sp>
        <p:nvSpPr>
          <p:cNvPr id="50" name="Shape 48"/>
          <p:cNvSpPr/>
          <p:nvPr/>
        </p:nvSpPr>
        <p:spPr>
          <a:xfrm>
            <a:off x="6858000" y="3931920"/>
            <a:ext cx="1874520" cy="411480"/>
          </a:xfrm>
          <a:prstGeom prst="roundRect">
            <a:avLst>
              <a:gd name="adj" fmla="val 11111"/>
            </a:avLst>
          </a:prstGeom>
          <a:solidFill>
            <a:srgbClr val="FFFFFF"/>
          </a:solidFill>
          <a:ln w="19050">
            <a:solidFill>
              <a:srgbClr val="AB80AD"/>
            </a:solidFill>
            <a:prstDash val="solid"/>
          </a:ln>
        </p:spPr>
        <p:txBody>
          <a:bodyPr/>
          <a:lstStyle/>
          <a:p>
            <a:endParaRPr lang="en-TR"/>
          </a:p>
        </p:txBody>
      </p:sp>
      <p:sp>
        <p:nvSpPr>
          <p:cNvPr id="51" name="Text 49"/>
          <p:cNvSpPr/>
          <p:nvPr/>
        </p:nvSpPr>
        <p:spPr>
          <a:xfrm>
            <a:off x="6858000" y="3931920"/>
            <a:ext cx="1874520" cy="411480"/>
          </a:xfrm>
          <a:prstGeom prst="rect">
            <a:avLst/>
          </a:prstGeom>
          <a:noFill/>
          <a:ln/>
        </p:spPr>
        <p:txBody>
          <a:bodyPr wrap="square" rtlCol="0" anchor="ctr"/>
          <a:lstStyle/>
          <a:p>
            <a:pPr marL="0" indent="0" algn="ctr">
              <a:buNone/>
            </a:pPr>
            <a:r>
              <a:rPr lang="en-US" sz="1300" dirty="0">
                <a:solidFill>
                  <a:srgbClr val="393939"/>
                </a:solidFill>
                <a:latin typeface="Calibri" pitchFamily="34" charset="0"/>
                <a:ea typeface="Calibri" pitchFamily="34" charset="-122"/>
                <a:cs typeface="Calibri" pitchFamily="34" charset="-120"/>
              </a:rPr>
              <a:t>Runtime</a:t>
            </a:r>
            <a:endParaRPr lang="en-US" sz="1300" dirty="0"/>
          </a:p>
        </p:txBody>
      </p:sp>
      <p:sp>
        <p:nvSpPr>
          <p:cNvPr id="52" name="Text 50"/>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545454"/>
                </a:solidFill>
                <a:latin typeface="Calibri" pitchFamily="34" charset="0"/>
                <a:ea typeface="Calibri" pitchFamily="34" charset="-122"/>
                <a:cs typeface="Calibri" pitchFamily="34" charset="-120"/>
              </a:rPr>
              <a:t>20 / 29  •  Mimari</a:t>
            </a:r>
            <a:endParaRPr lang="en-US" sz="900" dirty="0"/>
          </a:p>
        </p:txBody>
      </p:sp>
      <p:sp>
        <p:nvSpPr>
          <p:cNvPr id="53" name="Text 51"/>
          <p:cNvSpPr/>
          <p:nvPr/>
        </p:nvSpPr>
        <p:spPr>
          <a:xfrm>
            <a:off x="274320" y="4846320"/>
            <a:ext cx="1371600" cy="228600"/>
          </a:xfrm>
          <a:prstGeom prst="rect">
            <a:avLst/>
          </a:prstGeom>
          <a:noFill/>
          <a:ln/>
        </p:spPr>
        <p:txBody>
          <a:bodyPr wrap="square" rtlCol="0" anchor="ctr"/>
          <a:lstStyle/>
          <a:p>
            <a:pPr marL="0" indent="0">
              <a:buNone/>
            </a:pPr>
            <a:r>
              <a:rPr lang="en-US" sz="900" dirty="0">
                <a:solidFill>
                  <a:srgbClr val="545454"/>
                </a:solidFill>
                <a:latin typeface="Calibri" pitchFamily="34" charset="0"/>
                <a:ea typeface="Calibri" pitchFamily="34" charset="-122"/>
                <a:cs typeface="Calibri" pitchFamily="34" charset="-120"/>
              </a:rPr>
              <a:t>&lt; softtech</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457200"/>
          </a:xfrm>
          <a:prstGeom prst="rect">
            <a:avLst/>
          </a:prstGeom>
          <a:noFill/>
          <a:ln/>
        </p:spPr>
        <p:txBody>
          <a:bodyPr wrap="square" rtlCol="0" anchor="ctr"/>
          <a:lstStyle/>
          <a:p>
            <a:pPr marL="0" indent="0">
              <a:buNone/>
            </a:pPr>
            <a:r>
              <a:rPr lang="en-US" sz="2400" b="1" dirty="0">
                <a:solidFill>
                  <a:srgbClr val="393939"/>
                </a:solidFill>
                <a:latin typeface="Calibri" pitchFamily="34" charset="0"/>
                <a:ea typeface="Calibri" pitchFamily="34" charset="-122"/>
                <a:cs typeface="Calibri" pitchFamily="34" charset="-120"/>
              </a:rPr>
              <a:t>Referans Agent Harness Mimarisi</a:t>
            </a:r>
            <a:endParaRPr lang="en-US" sz="2400" dirty="0"/>
          </a:p>
        </p:txBody>
      </p:sp>
      <p:sp>
        <p:nvSpPr>
          <p:cNvPr id="3" name="Text 1"/>
          <p:cNvSpPr/>
          <p:nvPr/>
        </p:nvSpPr>
        <p:spPr>
          <a:xfrm>
            <a:off x="548640" y="731520"/>
            <a:ext cx="8229600" cy="274320"/>
          </a:xfrm>
          <a:prstGeom prst="rect">
            <a:avLst/>
          </a:prstGeom>
          <a:noFill/>
          <a:ln/>
        </p:spPr>
        <p:txBody>
          <a:bodyPr wrap="square" rtlCol="0" anchor="ctr"/>
          <a:lstStyle/>
          <a:p>
            <a:pPr marL="0" indent="0">
              <a:buNone/>
            </a:pPr>
            <a:r>
              <a:rPr lang="en-US" sz="1200" i="1" dirty="0">
                <a:solidFill>
                  <a:srgbClr val="545454"/>
                </a:solidFill>
                <a:latin typeface="Calibri" pitchFamily="34" charset="0"/>
                <a:ea typeface="Calibri" pitchFamily="34" charset="-122"/>
                <a:cs typeface="Calibri" pitchFamily="34" charset="-120"/>
              </a:rPr>
              <a:t>Kullanıcı sadece agent'ı görür; arkasındaki dokuz katman onu güvenilir kılar.</a:t>
            </a:r>
            <a:endParaRPr lang="en-US" sz="1200" dirty="0"/>
          </a:p>
        </p:txBody>
      </p:sp>
      <p:sp>
        <p:nvSpPr>
          <p:cNvPr id="4" name="Shape 2"/>
          <p:cNvSpPr/>
          <p:nvPr/>
        </p:nvSpPr>
        <p:spPr>
          <a:xfrm>
            <a:off x="4251960" y="1097280"/>
            <a:ext cx="640080" cy="640080"/>
          </a:xfrm>
          <a:prstGeom prst="ellipse">
            <a:avLst/>
          </a:prstGeom>
          <a:solidFill>
            <a:srgbClr val="FFCC4F"/>
          </a:solidFill>
          <a:ln w="12700">
            <a:solidFill>
              <a:srgbClr val="FFCC4F"/>
            </a:solidFill>
            <a:prstDash val="solid"/>
          </a:ln>
        </p:spPr>
        <p:txBody>
          <a:bodyPr/>
          <a:lstStyle/>
          <a:p>
            <a:endParaRPr lang="en-TR"/>
          </a:p>
        </p:txBody>
      </p:sp>
      <p:sp>
        <p:nvSpPr>
          <p:cNvPr id="5" name="Text 3"/>
          <p:cNvSpPr/>
          <p:nvPr/>
        </p:nvSpPr>
        <p:spPr>
          <a:xfrm>
            <a:off x="4251960" y="1097280"/>
            <a:ext cx="640080" cy="640080"/>
          </a:xfrm>
          <a:prstGeom prst="rect">
            <a:avLst/>
          </a:prstGeom>
          <a:noFill/>
          <a:ln/>
        </p:spPr>
        <p:txBody>
          <a:bodyPr wrap="square" rtlCol="0" anchor="ctr"/>
          <a:lstStyle/>
          <a:p>
            <a:pPr marL="0" indent="0" algn="ctr">
              <a:buNone/>
            </a:pPr>
            <a:r>
              <a:rPr lang="en-US" sz="900" b="1" dirty="0">
                <a:solidFill>
                  <a:srgbClr val="393939"/>
                </a:solidFill>
                <a:latin typeface="Calibri" pitchFamily="34" charset="0"/>
                <a:ea typeface="Calibri" pitchFamily="34" charset="-122"/>
                <a:cs typeface="Calibri" pitchFamily="34" charset="-120"/>
              </a:rPr>
              <a:t>USER</a:t>
            </a:r>
            <a:endParaRPr lang="en-US" sz="900" dirty="0"/>
          </a:p>
        </p:txBody>
      </p:sp>
      <p:sp>
        <p:nvSpPr>
          <p:cNvPr id="6" name="Shape 4"/>
          <p:cNvSpPr/>
          <p:nvPr/>
        </p:nvSpPr>
        <p:spPr>
          <a:xfrm>
            <a:off x="4572000" y="1783080"/>
            <a:ext cx="0" cy="137160"/>
          </a:xfrm>
          <a:prstGeom prst="line">
            <a:avLst/>
          </a:prstGeom>
          <a:noFill/>
          <a:ln w="19050">
            <a:solidFill>
              <a:srgbClr val="393939"/>
            </a:solidFill>
            <a:prstDash val="solid"/>
          </a:ln>
        </p:spPr>
        <p:txBody>
          <a:bodyPr/>
          <a:lstStyle/>
          <a:p>
            <a:endParaRPr lang="en-TR"/>
          </a:p>
        </p:txBody>
      </p:sp>
      <p:sp>
        <p:nvSpPr>
          <p:cNvPr id="7" name="Shape 5"/>
          <p:cNvSpPr/>
          <p:nvPr/>
        </p:nvSpPr>
        <p:spPr>
          <a:xfrm>
            <a:off x="731520" y="1965960"/>
            <a:ext cx="7680960" cy="329184"/>
          </a:xfrm>
          <a:prstGeom prst="rect">
            <a:avLst/>
          </a:prstGeom>
          <a:solidFill>
            <a:srgbClr val="8AF7FB"/>
          </a:solidFill>
          <a:ln w="12700">
            <a:solidFill>
              <a:srgbClr val="8AF7FB"/>
            </a:solidFill>
            <a:prstDash val="solid"/>
          </a:ln>
        </p:spPr>
        <p:txBody>
          <a:bodyPr/>
          <a:lstStyle/>
          <a:p>
            <a:endParaRPr lang="en-TR"/>
          </a:p>
        </p:txBody>
      </p:sp>
      <p:sp>
        <p:nvSpPr>
          <p:cNvPr id="8" name="Text 6"/>
          <p:cNvSpPr/>
          <p:nvPr/>
        </p:nvSpPr>
        <p:spPr>
          <a:xfrm>
            <a:off x="868680" y="1965960"/>
            <a:ext cx="2743200" cy="329184"/>
          </a:xfrm>
          <a:prstGeom prst="rect">
            <a:avLst/>
          </a:prstGeom>
          <a:noFill/>
          <a:ln/>
        </p:spPr>
        <p:txBody>
          <a:bodyPr wrap="square" rtlCol="0" anchor="ctr"/>
          <a:lstStyle/>
          <a:p>
            <a:pPr marL="0" indent="0">
              <a:buNone/>
            </a:pPr>
            <a:r>
              <a:rPr lang="en-US" sz="1100" b="1" dirty="0">
                <a:solidFill>
                  <a:srgbClr val="393939"/>
                </a:solidFill>
                <a:latin typeface="Calibri" pitchFamily="34" charset="0"/>
                <a:ea typeface="Calibri" pitchFamily="34" charset="-122"/>
                <a:cs typeface="Calibri" pitchFamily="34" charset="-120"/>
              </a:rPr>
              <a:t>Channel Layer</a:t>
            </a:r>
            <a:endParaRPr lang="en-US" sz="1100" dirty="0"/>
          </a:p>
        </p:txBody>
      </p:sp>
      <p:sp>
        <p:nvSpPr>
          <p:cNvPr id="9" name="Text 7"/>
          <p:cNvSpPr/>
          <p:nvPr/>
        </p:nvSpPr>
        <p:spPr>
          <a:xfrm>
            <a:off x="3657600" y="1965960"/>
            <a:ext cx="4572000" cy="329184"/>
          </a:xfrm>
          <a:prstGeom prst="rect">
            <a:avLst/>
          </a:prstGeom>
          <a:noFill/>
          <a:ln/>
        </p:spPr>
        <p:txBody>
          <a:bodyPr wrap="square" rtlCol="0" anchor="ctr"/>
          <a:lstStyle/>
          <a:p>
            <a:pPr marL="0" indent="0">
              <a:buNone/>
            </a:pPr>
            <a:r>
              <a:rPr lang="en-US" sz="900" i="1" dirty="0">
                <a:solidFill>
                  <a:srgbClr val="393939"/>
                </a:solidFill>
                <a:latin typeface="Calibri" pitchFamily="34" charset="0"/>
                <a:ea typeface="Calibri" pitchFamily="34" charset="-122"/>
                <a:cs typeface="Calibri" pitchFamily="34" charset="-120"/>
              </a:rPr>
              <a:t>Web · API · Slack · Teams</a:t>
            </a:r>
            <a:endParaRPr lang="en-US" sz="900" dirty="0"/>
          </a:p>
        </p:txBody>
      </p:sp>
      <p:sp>
        <p:nvSpPr>
          <p:cNvPr id="10" name="Shape 8"/>
          <p:cNvSpPr/>
          <p:nvPr/>
        </p:nvSpPr>
        <p:spPr>
          <a:xfrm>
            <a:off x="731520" y="2304288"/>
            <a:ext cx="7680960" cy="329184"/>
          </a:xfrm>
          <a:prstGeom prst="rect">
            <a:avLst/>
          </a:prstGeom>
          <a:solidFill>
            <a:srgbClr val="65D7DE"/>
          </a:solidFill>
          <a:ln w="12700">
            <a:solidFill>
              <a:srgbClr val="65D7DE"/>
            </a:solidFill>
            <a:prstDash val="solid"/>
          </a:ln>
        </p:spPr>
        <p:txBody>
          <a:bodyPr/>
          <a:lstStyle/>
          <a:p>
            <a:endParaRPr lang="en-TR"/>
          </a:p>
        </p:txBody>
      </p:sp>
      <p:sp>
        <p:nvSpPr>
          <p:cNvPr id="11" name="Text 9"/>
          <p:cNvSpPr/>
          <p:nvPr/>
        </p:nvSpPr>
        <p:spPr>
          <a:xfrm>
            <a:off x="868680" y="2304288"/>
            <a:ext cx="2743200" cy="329184"/>
          </a:xfrm>
          <a:prstGeom prst="rect">
            <a:avLst/>
          </a:prstGeom>
          <a:noFill/>
          <a:ln/>
        </p:spPr>
        <p:txBody>
          <a:bodyPr wrap="square" rtlCol="0" anchor="ctr"/>
          <a:lstStyle/>
          <a:p>
            <a:pPr marL="0" indent="0">
              <a:buNone/>
            </a:pPr>
            <a:r>
              <a:rPr lang="en-US" sz="1100" b="1" dirty="0">
                <a:solidFill>
                  <a:srgbClr val="393939"/>
                </a:solidFill>
                <a:latin typeface="Calibri" pitchFamily="34" charset="0"/>
                <a:ea typeface="Calibri" pitchFamily="34" charset="-122"/>
                <a:cs typeface="Calibri" pitchFamily="34" charset="-120"/>
              </a:rPr>
              <a:t>Agent Gateway</a:t>
            </a:r>
            <a:endParaRPr lang="en-US" sz="1100" dirty="0"/>
          </a:p>
        </p:txBody>
      </p:sp>
      <p:sp>
        <p:nvSpPr>
          <p:cNvPr id="12" name="Text 10"/>
          <p:cNvSpPr/>
          <p:nvPr/>
        </p:nvSpPr>
        <p:spPr>
          <a:xfrm>
            <a:off x="3657600" y="2304288"/>
            <a:ext cx="4572000" cy="329184"/>
          </a:xfrm>
          <a:prstGeom prst="rect">
            <a:avLst/>
          </a:prstGeom>
          <a:noFill/>
          <a:ln/>
        </p:spPr>
        <p:txBody>
          <a:bodyPr wrap="square" rtlCol="0" anchor="ctr"/>
          <a:lstStyle/>
          <a:p>
            <a:pPr marL="0" indent="0">
              <a:buNone/>
            </a:pPr>
            <a:r>
              <a:rPr lang="en-US" sz="900" i="1" dirty="0">
                <a:solidFill>
                  <a:srgbClr val="393939"/>
                </a:solidFill>
                <a:latin typeface="Calibri" pitchFamily="34" charset="0"/>
                <a:ea typeface="Calibri" pitchFamily="34" charset="-122"/>
                <a:cs typeface="Calibri" pitchFamily="34" charset="-120"/>
              </a:rPr>
              <a:t>auth · tenant · rate limit · policy pre-check</a:t>
            </a:r>
            <a:endParaRPr lang="en-US" sz="900" dirty="0"/>
          </a:p>
        </p:txBody>
      </p:sp>
      <p:sp>
        <p:nvSpPr>
          <p:cNvPr id="13" name="Shape 11"/>
          <p:cNvSpPr/>
          <p:nvPr/>
        </p:nvSpPr>
        <p:spPr>
          <a:xfrm>
            <a:off x="731520" y="2642616"/>
            <a:ext cx="7680960" cy="329184"/>
          </a:xfrm>
          <a:prstGeom prst="rect">
            <a:avLst/>
          </a:prstGeom>
          <a:solidFill>
            <a:srgbClr val="2D9BA3"/>
          </a:solidFill>
          <a:ln w="12700">
            <a:solidFill>
              <a:srgbClr val="2D9BA3"/>
            </a:solidFill>
            <a:prstDash val="solid"/>
          </a:ln>
        </p:spPr>
        <p:txBody>
          <a:bodyPr/>
          <a:lstStyle/>
          <a:p>
            <a:endParaRPr lang="en-TR"/>
          </a:p>
        </p:txBody>
      </p:sp>
      <p:sp>
        <p:nvSpPr>
          <p:cNvPr id="14" name="Text 12"/>
          <p:cNvSpPr/>
          <p:nvPr/>
        </p:nvSpPr>
        <p:spPr>
          <a:xfrm>
            <a:off x="868680" y="2642616"/>
            <a:ext cx="274320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Agent Runtime</a:t>
            </a:r>
            <a:endParaRPr lang="en-US" sz="1100" dirty="0"/>
          </a:p>
        </p:txBody>
      </p:sp>
      <p:sp>
        <p:nvSpPr>
          <p:cNvPr id="15" name="Text 13"/>
          <p:cNvSpPr/>
          <p:nvPr/>
        </p:nvSpPr>
        <p:spPr>
          <a:xfrm>
            <a:off x="3657600" y="2642616"/>
            <a:ext cx="4572000" cy="329184"/>
          </a:xfrm>
          <a:prstGeom prst="rect">
            <a:avLst/>
          </a:prstGeom>
          <a:noFill/>
          <a:ln/>
        </p:spPr>
        <p:txBody>
          <a:bodyPr wrap="square"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loop · planning · state · checkpoint · resume</a:t>
            </a:r>
            <a:endParaRPr lang="en-US" sz="900" dirty="0"/>
          </a:p>
        </p:txBody>
      </p:sp>
      <p:sp>
        <p:nvSpPr>
          <p:cNvPr id="16" name="Shape 14"/>
          <p:cNvSpPr/>
          <p:nvPr/>
        </p:nvSpPr>
        <p:spPr>
          <a:xfrm>
            <a:off x="731520" y="2980944"/>
            <a:ext cx="7680960" cy="329184"/>
          </a:xfrm>
          <a:prstGeom prst="rect">
            <a:avLst/>
          </a:prstGeom>
          <a:solidFill>
            <a:srgbClr val="AB80AD"/>
          </a:solidFill>
          <a:ln w="12700">
            <a:solidFill>
              <a:srgbClr val="AB80AD"/>
            </a:solidFill>
            <a:prstDash val="solid"/>
          </a:ln>
        </p:spPr>
        <p:txBody>
          <a:bodyPr/>
          <a:lstStyle/>
          <a:p>
            <a:endParaRPr lang="en-TR"/>
          </a:p>
        </p:txBody>
      </p:sp>
      <p:sp>
        <p:nvSpPr>
          <p:cNvPr id="17" name="Text 15"/>
          <p:cNvSpPr/>
          <p:nvPr/>
        </p:nvSpPr>
        <p:spPr>
          <a:xfrm>
            <a:off x="868680" y="2980944"/>
            <a:ext cx="274320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Context &amp; Memory</a:t>
            </a:r>
            <a:endParaRPr lang="en-US" sz="1100" dirty="0"/>
          </a:p>
        </p:txBody>
      </p:sp>
      <p:sp>
        <p:nvSpPr>
          <p:cNvPr id="18" name="Text 16"/>
          <p:cNvSpPr/>
          <p:nvPr/>
        </p:nvSpPr>
        <p:spPr>
          <a:xfrm>
            <a:off x="3657600" y="2980944"/>
            <a:ext cx="4572000" cy="329184"/>
          </a:xfrm>
          <a:prstGeom prst="rect">
            <a:avLst/>
          </a:prstGeom>
          <a:noFill/>
          <a:ln/>
        </p:spPr>
        <p:txBody>
          <a:bodyPr wrap="square"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session · working · long-term · RAG · ACL</a:t>
            </a:r>
            <a:endParaRPr lang="en-US" sz="900" dirty="0"/>
          </a:p>
        </p:txBody>
      </p:sp>
      <p:sp>
        <p:nvSpPr>
          <p:cNvPr id="19" name="Shape 17"/>
          <p:cNvSpPr/>
          <p:nvPr/>
        </p:nvSpPr>
        <p:spPr>
          <a:xfrm>
            <a:off x="731520" y="3319272"/>
            <a:ext cx="7680960" cy="329184"/>
          </a:xfrm>
          <a:prstGeom prst="rect">
            <a:avLst/>
          </a:prstGeom>
          <a:solidFill>
            <a:srgbClr val="AB80AD"/>
          </a:solidFill>
          <a:ln w="12700">
            <a:solidFill>
              <a:srgbClr val="AB80AD"/>
            </a:solidFill>
            <a:prstDash val="solid"/>
          </a:ln>
        </p:spPr>
        <p:txBody>
          <a:bodyPr/>
          <a:lstStyle/>
          <a:p>
            <a:endParaRPr lang="en-TR"/>
          </a:p>
        </p:txBody>
      </p:sp>
      <p:sp>
        <p:nvSpPr>
          <p:cNvPr id="20" name="Text 18"/>
          <p:cNvSpPr/>
          <p:nvPr/>
        </p:nvSpPr>
        <p:spPr>
          <a:xfrm>
            <a:off x="868680" y="3319272"/>
            <a:ext cx="274320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Tool Orchestration</a:t>
            </a:r>
            <a:endParaRPr lang="en-US" sz="1100" dirty="0"/>
          </a:p>
        </p:txBody>
      </p:sp>
      <p:sp>
        <p:nvSpPr>
          <p:cNvPr id="21" name="Text 19"/>
          <p:cNvSpPr/>
          <p:nvPr/>
        </p:nvSpPr>
        <p:spPr>
          <a:xfrm>
            <a:off x="3657600" y="3319272"/>
            <a:ext cx="4572000" cy="329184"/>
          </a:xfrm>
          <a:prstGeom prst="rect">
            <a:avLst/>
          </a:prstGeom>
          <a:noFill/>
          <a:ln/>
        </p:spPr>
        <p:txBody>
          <a:bodyPr wrap="square"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registry · schemas · ACL · risk · logs</a:t>
            </a:r>
            <a:endParaRPr lang="en-US" sz="900" dirty="0"/>
          </a:p>
        </p:txBody>
      </p:sp>
      <p:sp>
        <p:nvSpPr>
          <p:cNvPr id="22" name="Shape 20"/>
          <p:cNvSpPr/>
          <p:nvPr/>
        </p:nvSpPr>
        <p:spPr>
          <a:xfrm>
            <a:off x="731520" y="3657600"/>
            <a:ext cx="7680960" cy="329184"/>
          </a:xfrm>
          <a:prstGeom prst="rect">
            <a:avLst/>
          </a:prstGeom>
          <a:solidFill>
            <a:srgbClr val="FFCC4F"/>
          </a:solidFill>
          <a:ln w="12700">
            <a:solidFill>
              <a:srgbClr val="FFCC4F"/>
            </a:solidFill>
            <a:prstDash val="solid"/>
          </a:ln>
        </p:spPr>
        <p:txBody>
          <a:bodyPr/>
          <a:lstStyle/>
          <a:p>
            <a:endParaRPr lang="en-TR"/>
          </a:p>
        </p:txBody>
      </p:sp>
      <p:sp>
        <p:nvSpPr>
          <p:cNvPr id="23" name="Text 21"/>
          <p:cNvSpPr/>
          <p:nvPr/>
        </p:nvSpPr>
        <p:spPr>
          <a:xfrm>
            <a:off x="868680" y="3657600"/>
            <a:ext cx="2743200" cy="329184"/>
          </a:xfrm>
          <a:prstGeom prst="rect">
            <a:avLst/>
          </a:prstGeom>
          <a:noFill/>
          <a:ln/>
        </p:spPr>
        <p:txBody>
          <a:bodyPr wrap="square" rtlCol="0" anchor="ctr"/>
          <a:lstStyle/>
          <a:p>
            <a:pPr marL="0" indent="0">
              <a:buNone/>
            </a:pPr>
            <a:r>
              <a:rPr lang="en-US" sz="1100" b="1" dirty="0">
                <a:solidFill>
                  <a:srgbClr val="393939"/>
                </a:solidFill>
                <a:latin typeface="Calibri" pitchFamily="34" charset="0"/>
                <a:ea typeface="Calibri" pitchFamily="34" charset="-122"/>
                <a:cs typeface="Calibri" pitchFamily="34" charset="-120"/>
              </a:rPr>
              <a:t>Policy &amp; Guardrail</a:t>
            </a:r>
            <a:endParaRPr lang="en-US" sz="1100" dirty="0"/>
          </a:p>
        </p:txBody>
      </p:sp>
      <p:sp>
        <p:nvSpPr>
          <p:cNvPr id="24" name="Text 22"/>
          <p:cNvSpPr/>
          <p:nvPr/>
        </p:nvSpPr>
        <p:spPr>
          <a:xfrm>
            <a:off x="3657600" y="3657600"/>
            <a:ext cx="4572000" cy="329184"/>
          </a:xfrm>
          <a:prstGeom prst="rect">
            <a:avLst/>
          </a:prstGeom>
          <a:noFill/>
          <a:ln/>
        </p:spPr>
        <p:txBody>
          <a:bodyPr wrap="square" rtlCol="0" anchor="ctr"/>
          <a:lstStyle/>
          <a:p>
            <a:pPr marL="0" indent="0">
              <a:buNone/>
            </a:pPr>
            <a:r>
              <a:rPr lang="en-US" sz="900" i="1" dirty="0">
                <a:solidFill>
                  <a:srgbClr val="393939"/>
                </a:solidFill>
                <a:latin typeface="Calibri" pitchFamily="34" charset="0"/>
                <a:ea typeface="Calibri" pitchFamily="34" charset="-122"/>
                <a:cs typeface="Calibri" pitchFamily="34" charset="-120"/>
              </a:rPr>
              <a:t>input · output · tool · cost · classification</a:t>
            </a:r>
            <a:endParaRPr lang="en-US" sz="900" dirty="0"/>
          </a:p>
        </p:txBody>
      </p:sp>
      <p:sp>
        <p:nvSpPr>
          <p:cNvPr id="25" name="Shape 23"/>
          <p:cNvSpPr/>
          <p:nvPr/>
        </p:nvSpPr>
        <p:spPr>
          <a:xfrm>
            <a:off x="731520" y="3995928"/>
            <a:ext cx="7680960" cy="329184"/>
          </a:xfrm>
          <a:prstGeom prst="rect">
            <a:avLst/>
          </a:prstGeom>
          <a:solidFill>
            <a:srgbClr val="FFCC4F"/>
          </a:solidFill>
          <a:ln w="12700">
            <a:solidFill>
              <a:srgbClr val="FFCC4F"/>
            </a:solidFill>
            <a:prstDash val="solid"/>
          </a:ln>
        </p:spPr>
        <p:txBody>
          <a:bodyPr/>
          <a:lstStyle/>
          <a:p>
            <a:endParaRPr lang="en-TR"/>
          </a:p>
        </p:txBody>
      </p:sp>
      <p:sp>
        <p:nvSpPr>
          <p:cNvPr id="26" name="Text 24"/>
          <p:cNvSpPr/>
          <p:nvPr/>
        </p:nvSpPr>
        <p:spPr>
          <a:xfrm>
            <a:off x="868680" y="3995928"/>
            <a:ext cx="2743200" cy="329184"/>
          </a:xfrm>
          <a:prstGeom prst="rect">
            <a:avLst/>
          </a:prstGeom>
          <a:noFill/>
          <a:ln/>
        </p:spPr>
        <p:txBody>
          <a:bodyPr wrap="square" rtlCol="0" anchor="ctr"/>
          <a:lstStyle/>
          <a:p>
            <a:pPr marL="0" indent="0">
              <a:buNone/>
            </a:pPr>
            <a:r>
              <a:rPr lang="en-US" sz="1100" b="1" dirty="0">
                <a:solidFill>
                  <a:srgbClr val="393939"/>
                </a:solidFill>
                <a:latin typeface="Calibri" pitchFamily="34" charset="0"/>
                <a:ea typeface="Calibri" pitchFamily="34" charset="-122"/>
                <a:cs typeface="Calibri" pitchFamily="34" charset="-120"/>
              </a:rPr>
              <a:t>HITL / Approval</a:t>
            </a:r>
            <a:endParaRPr lang="en-US" sz="1100" dirty="0"/>
          </a:p>
        </p:txBody>
      </p:sp>
      <p:sp>
        <p:nvSpPr>
          <p:cNvPr id="27" name="Text 25"/>
          <p:cNvSpPr/>
          <p:nvPr/>
        </p:nvSpPr>
        <p:spPr>
          <a:xfrm>
            <a:off x="3657600" y="3995928"/>
            <a:ext cx="4572000" cy="329184"/>
          </a:xfrm>
          <a:prstGeom prst="rect">
            <a:avLst/>
          </a:prstGeom>
          <a:noFill/>
          <a:ln/>
        </p:spPr>
        <p:txBody>
          <a:bodyPr wrap="square" rtlCol="0" anchor="ctr"/>
          <a:lstStyle/>
          <a:p>
            <a:pPr marL="0" indent="0">
              <a:buNone/>
            </a:pPr>
            <a:r>
              <a:rPr lang="en-US" sz="900" i="1" dirty="0">
                <a:solidFill>
                  <a:srgbClr val="393939"/>
                </a:solidFill>
                <a:latin typeface="Calibri" pitchFamily="34" charset="0"/>
                <a:ea typeface="Calibri" pitchFamily="34" charset="-122"/>
                <a:cs typeface="Calibri" pitchFamily="34" charset="-120"/>
              </a:rPr>
              <a:t>queue · reviewer · decision record · resume</a:t>
            </a:r>
            <a:endParaRPr lang="en-US" sz="900" dirty="0"/>
          </a:p>
        </p:txBody>
      </p:sp>
      <p:sp>
        <p:nvSpPr>
          <p:cNvPr id="28" name="Shape 26"/>
          <p:cNvSpPr/>
          <p:nvPr/>
        </p:nvSpPr>
        <p:spPr>
          <a:xfrm>
            <a:off x="731520" y="4334256"/>
            <a:ext cx="7680960" cy="329184"/>
          </a:xfrm>
          <a:prstGeom prst="rect">
            <a:avLst/>
          </a:prstGeom>
          <a:solidFill>
            <a:srgbClr val="545454"/>
          </a:solidFill>
          <a:ln w="12700">
            <a:solidFill>
              <a:srgbClr val="545454"/>
            </a:solidFill>
            <a:prstDash val="solid"/>
          </a:ln>
        </p:spPr>
        <p:txBody>
          <a:bodyPr/>
          <a:lstStyle/>
          <a:p>
            <a:endParaRPr lang="en-TR"/>
          </a:p>
        </p:txBody>
      </p:sp>
      <p:sp>
        <p:nvSpPr>
          <p:cNvPr id="29" name="Text 27"/>
          <p:cNvSpPr/>
          <p:nvPr/>
        </p:nvSpPr>
        <p:spPr>
          <a:xfrm>
            <a:off x="868680" y="4334256"/>
            <a:ext cx="274320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Observability &amp; Audit</a:t>
            </a:r>
            <a:endParaRPr lang="en-US" sz="1100" dirty="0"/>
          </a:p>
        </p:txBody>
      </p:sp>
      <p:sp>
        <p:nvSpPr>
          <p:cNvPr id="30" name="Text 28"/>
          <p:cNvSpPr/>
          <p:nvPr/>
        </p:nvSpPr>
        <p:spPr>
          <a:xfrm>
            <a:off x="3657600" y="4334256"/>
            <a:ext cx="4572000" cy="329184"/>
          </a:xfrm>
          <a:prstGeom prst="rect">
            <a:avLst/>
          </a:prstGeom>
          <a:noFill/>
          <a:ln/>
        </p:spPr>
        <p:txBody>
          <a:bodyPr wrap="square"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traces · metrics · lineage · versions</a:t>
            </a:r>
            <a:endParaRPr lang="en-US" sz="900" dirty="0"/>
          </a:p>
        </p:txBody>
      </p:sp>
      <p:sp>
        <p:nvSpPr>
          <p:cNvPr id="31" name="Shape 29"/>
          <p:cNvSpPr/>
          <p:nvPr/>
        </p:nvSpPr>
        <p:spPr>
          <a:xfrm>
            <a:off x="731520" y="4672584"/>
            <a:ext cx="7680960" cy="329184"/>
          </a:xfrm>
          <a:prstGeom prst="rect">
            <a:avLst/>
          </a:prstGeom>
          <a:solidFill>
            <a:srgbClr val="393939"/>
          </a:solidFill>
          <a:ln w="12700">
            <a:solidFill>
              <a:srgbClr val="393939"/>
            </a:solidFill>
            <a:prstDash val="solid"/>
          </a:ln>
        </p:spPr>
        <p:txBody>
          <a:bodyPr/>
          <a:lstStyle/>
          <a:p>
            <a:endParaRPr lang="en-TR"/>
          </a:p>
        </p:txBody>
      </p:sp>
      <p:sp>
        <p:nvSpPr>
          <p:cNvPr id="32" name="Text 30"/>
          <p:cNvSpPr/>
          <p:nvPr/>
        </p:nvSpPr>
        <p:spPr>
          <a:xfrm>
            <a:off x="868680" y="4672584"/>
            <a:ext cx="2743200" cy="329184"/>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Lifecycle Layer</a:t>
            </a:r>
            <a:endParaRPr lang="en-US" sz="1100" dirty="0"/>
          </a:p>
        </p:txBody>
      </p:sp>
      <p:sp>
        <p:nvSpPr>
          <p:cNvPr id="33" name="Text 31"/>
          <p:cNvSpPr/>
          <p:nvPr/>
        </p:nvSpPr>
        <p:spPr>
          <a:xfrm>
            <a:off x="3657600" y="4672584"/>
            <a:ext cx="4572000" cy="329184"/>
          </a:xfrm>
          <a:prstGeom prst="rect">
            <a:avLst/>
          </a:prstGeom>
          <a:noFill/>
          <a:ln/>
        </p:spPr>
        <p:txBody>
          <a:bodyPr wrap="square" rtlCol="0" anchor="ctr"/>
          <a:lstStyle/>
          <a:p>
            <a:pPr marL="0" indent="0">
              <a:buNone/>
            </a:pPr>
            <a:r>
              <a:rPr lang="en-US" sz="900" i="1" dirty="0">
                <a:solidFill>
                  <a:srgbClr val="FFFFFF"/>
                </a:solidFill>
                <a:latin typeface="Calibri" pitchFamily="34" charset="0"/>
                <a:ea typeface="Calibri" pitchFamily="34" charset="-122"/>
                <a:cs typeface="Calibri" pitchFamily="34" charset="-120"/>
              </a:rPr>
              <a:t>versioning · deployment · canary · rollback</a:t>
            </a:r>
            <a:endParaRPr lang="en-US" sz="900" dirty="0"/>
          </a:p>
        </p:txBody>
      </p:sp>
      <p:sp>
        <p:nvSpPr>
          <p:cNvPr id="34" name="Text 32"/>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CCCCCC"/>
                </a:solidFill>
                <a:latin typeface="Calibri" pitchFamily="34" charset="0"/>
                <a:ea typeface="Calibri" pitchFamily="34" charset="-122"/>
                <a:cs typeface="Calibri" pitchFamily="34" charset="-120"/>
              </a:rPr>
              <a:t>21 / 29  •  Mimari</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marL="0" indent="0">
              <a:buNone/>
            </a:pPr>
            <a:r>
              <a:rPr lang="en-US" sz="2800" b="1" dirty="0">
                <a:solidFill>
                  <a:srgbClr val="393939"/>
                </a:solidFill>
                <a:latin typeface="Calibri" pitchFamily="34" charset="0"/>
                <a:ea typeface="Calibri" pitchFamily="34" charset="-122"/>
                <a:cs typeface="Calibri" pitchFamily="34" charset="-120"/>
              </a:rPr>
              <a:t>Agent Harness Maturity Model</a:t>
            </a:r>
            <a:endParaRPr lang="en-US" sz="2800" dirty="0"/>
          </a:p>
        </p:txBody>
      </p:sp>
      <p:sp>
        <p:nvSpPr>
          <p:cNvPr id="3" name="Text 1"/>
          <p:cNvSpPr/>
          <p:nvPr/>
        </p:nvSpPr>
        <p:spPr>
          <a:xfrm>
            <a:off x="548640" y="914400"/>
            <a:ext cx="8229600" cy="365760"/>
          </a:xfrm>
          <a:prstGeom prst="rect">
            <a:avLst/>
          </a:prstGeom>
          <a:noFill/>
          <a:ln/>
        </p:spPr>
        <p:txBody>
          <a:bodyPr wrap="square" rtlCol="0" anchor="ctr"/>
          <a:lstStyle/>
          <a:p>
            <a:pPr marL="0" indent="0">
              <a:buNone/>
            </a:pPr>
            <a:r>
              <a:rPr lang="en-US" sz="1300" i="1" dirty="0">
                <a:solidFill>
                  <a:srgbClr val="2D9BA3"/>
                </a:solidFill>
                <a:latin typeface="Calibri" pitchFamily="34" charset="0"/>
                <a:ea typeface="Calibri" pitchFamily="34" charset="-122"/>
                <a:cs typeface="Calibri" pitchFamily="34" charset="-120"/>
              </a:rPr>
              <a:t>Çoğu kurum L1-L2'de demo yapıyor; gerçek değer L3 sonrası başlıyor.</a:t>
            </a:r>
            <a:endParaRPr lang="en-US" sz="1300" dirty="0"/>
          </a:p>
        </p:txBody>
      </p:sp>
      <p:sp>
        <p:nvSpPr>
          <p:cNvPr id="4" name="Shape 2"/>
          <p:cNvSpPr/>
          <p:nvPr/>
        </p:nvSpPr>
        <p:spPr>
          <a:xfrm>
            <a:off x="640080" y="3657600"/>
            <a:ext cx="1298448" cy="640080"/>
          </a:xfrm>
          <a:prstGeom prst="rect">
            <a:avLst/>
          </a:prstGeom>
          <a:solidFill>
            <a:srgbClr val="CCCCCC"/>
          </a:solidFill>
          <a:ln w="12700">
            <a:solidFill>
              <a:srgbClr val="CCCCCC"/>
            </a:solidFill>
            <a:prstDash val="solid"/>
          </a:ln>
        </p:spPr>
        <p:txBody>
          <a:bodyPr/>
          <a:lstStyle/>
          <a:p>
            <a:endParaRPr lang="en-TR"/>
          </a:p>
        </p:txBody>
      </p:sp>
      <p:sp>
        <p:nvSpPr>
          <p:cNvPr id="5" name="Text 3"/>
          <p:cNvSpPr/>
          <p:nvPr/>
        </p:nvSpPr>
        <p:spPr>
          <a:xfrm>
            <a:off x="640080" y="3703320"/>
            <a:ext cx="1298448" cy="365760"/>
          </a:xfrm>
          <a:prstGeom prst="rect">
            <a:avLst/>
          </a:prstGeom>
          <a:noFill/>
          <a:ln/>
        </p:spPr>
        <p:txBody>
          <a:bodyPr wrap="square" rtlCol="0" anchor="ctr"/>
          <a:lstStyle/>
          <a:p>
            <a:pPr marL="0" indent="0" algn="ctr">
              <a:buNone/>
            </a:pPr>
            <a:r>
              <a:rPr lang="en-US" sz="1800" b="1" dirty="0">
                <a:solidFill>
                  <a:srgbClr val="393939"/>
                </a:solidFill>
                <a:latin typeface="Calibri" pitchFamily="34" charset="0"/>
                <a:ea typeface="Calibri" pitchFamily="34" charset="-122"/>
                <a:cs typeface="Calibri" pitchFamily="34" charset="-120"/>
              </a:rPr>
              <a:t>L0</a:t>
            </a:r>
            <a:endParaRPr lang="en-US" sz="1800" dirty="0"/>
          </a:p>
        </p:txBody>
      </p:sp>
      <p:sp>
        <p:nvSpPr>
          <p:cNvPr id="6" name="Text 4"/>
          <p:cNvSpPr/>
          <p:nvPr/>
        </p:nvSpPr>
        <p:spPr>
          <a:xfrm>
            <a:off x="640080" y="4069080"/>
            <a:ext cx="1298448" cy="274320"/>
          </a:xfrm>
          <a:prstGeom prst="rect">
            <a:avLst/>
          </a:prstGeom>
          <a:noFill/>
          <a:ln/>
        </p:spPr>
        <p:txBody>
          <a:bodyPr wrap="square" rtlCol="0" anchor="ctr"/>
          <a:lstStyle/>
          <a:p>
            <a:pPr marL="0" indent="0" algn="ctr">
              <a:buNone/>
            </a:pPr>
            <a:r>
              <a:rPr lang="en-US" sz="1100" b="1" dirty="0">
                <a:solidFill>
                  <a:srgbClr val="393939"/>
                </a:solidFill>
                <a:latin typeface="Calibri" pitchFamily="34" charset="0"/>
                <a:ea typeface="Calibri" pitchFamily="34" charset="-122"/>
                <a:cs typeface="Calibri" pitchFamily="34" charset="-120"/>
              </a:rPr>
              <a:t>Prompt Demo</a:t>
            </a:r>
            <a:endParaRPr lang="en-US" sz="1100" dirty="0"/>
          </a:p>
        </p:txBody>
      </p:sp>
      <p:sp>
        <p:nvSpPr>
          <p:cNvPr id="7" name="Text 5"/>
          <p:cNvSpPr/>
          <p:nvPr/>
        </p:nvSpPr>
        <p:spPr>
          <a:xfrm>
            <a:off x="640080" y="4343400"/>
            <a:ext cx="1298448" cy="548640"/>
          </a:xfrm>
          <a:prstGeom prst="rect">
            <a:avLst/>
          </a:prstGeom>
          <a:noFill/>
          <a:ln/>
        </p:spPr>
        <p:txBody>
          <a:bodyPr wrap="square" rtlCol="0" anchor="ctr"/>
          <a:lstStyle/>
          <a:p>
            <a:pPr marL="0" indent="0" algn="ctr">
              <a:buNone/>
            </a:pPr>
            <a:r>
              <a:rPr lang="en-US" sz="900" i="1" dirty="0">
                <a:solidFill>
                  <a:srgbClr val="545454"/>
                </a:solidFill>
                <a:latin typeface="Calibri" pitchFamily="34" charset="0"/>
                <a:ea typeface="Calibri" pitchFamily="34" charset="-122"/>
                <a:cs typeface="Calibri" pitchFamily="34" charset="-120"/>
              </a:rPr>
              <a:t>Tek prompt, state yok</a:t>
            </a:r>
            <a:endParaRPr lang="en-US" sz="900" dirty="0"/>
          </a:p>
        </p:txBody>
      </p:sp>
      <p:sp>
        <p:nvSpPr>
          <p:cNvPr id="8" name="Shape 6"/>
          <p:cNvSpPr/>
          <p:nvPr/>
        </p:nvSpPr>
        <p:spPr>
          <a:xfrm>
            <a:off x="2029968" y="3291840"/>
            <a:ext cx="1298448" cy="1005840"/>
          </a:xfrm>
          <a:prstGeom prst="rect">
            <a:avLst/>
          </a:prstGeom>
          <a:solidFill>
            <a:srgbClr val="8AF7FB"/>
          </a:solidFill>
          <a:ln w="12700">
            <a:solidFill>
              <a:srgbClr val="8AF7FB"/>
            </a:solidFill>
            <a:prstDash val="solid"/>
          </a:ln>
        </p:spPr>
        <p:txBody>
          <a:bodyPr/>
          <a:lstStyle/>
          <a:p>
            <a:endParaRPr lang="en-TR"/>
          </a:p>
        </p:txBody>
      </p:sp>
      <p:sp>
        <p:nvSpPr>
          <p:cNvPr id="9" name="Text 7"/>
          <p:cNvSpPr/>
          <p:nvPr/>
        </p:nvSpPr>
        <p:spPr>
          <a:xfrm>
            <a:off x="2029968" y="3337560"/>
            <a:ext cx="1298448" cy="365760"/>
          </a:xfrm>
          <a:prstGeom prst="rect">
            <a:avLst/>
          </a:prstGeom>
          <a:noFill/>
          <a:ln/>
        </p:spPr>
        <p:txBody>
          <a:bodyPr wrap="square" rtlCol="0" anchor="ctr"/>
          <a:lstStyle/>
          <a:p>
            <a:pPr marL="0" indent="0" algn="ctr">
              <a:buNone/>
            </a:pPr>
            <a:r>
              <a:rPr lang="en-US" sz="1800" b="1" dirty="0">
                <a:solidFill>
                  <a:srgbClr val="393939"/>
                </a:solidFill>
                <a:latin typeface="Calibri" pitchFamily="34" charset="0"/>
                <a:ea typeface="Calibri" pitchFamily="34" charset="-122"/>
                <a:cs typeface="Calibri" pitchFamily="34" charset="-120"/>
              </a:rPr>
              <a:t>L1</a:t>
            </a:r>
            <a:endParaRPr lang="en-US" sz="1800" dirty="0"/>
          </a:p>
        </p:txBody>
      </p:sp>
      <p:sp>
        <p:nvSpPr>
          <p:cNvPr id="10" name="Text 8"/>
          <p:cNvSpPr/>
          <p:nvPr/>
        </p:nvSpPr>
        <p:spPr>
          <a:xfrm>
            <a:off x="2029968" y="3703320"/>
            <a:ext cx="1298448" cy="274320"/>
          </a:xfrm>
          <a:prstGeom prst="rect">
            <a:avLst/>
          </a:prstGeom>
          <a:noFill/>
          <a:ln/>
        </p:spPr>
        <p:txBody>
          <a:bodyPr wrap="square" rtlCol="0" anchor="ctr"/>
          <a:lstStyle/>
          <a:p>
            <a:pPr marL="0" indent="0" algn="ctr">
              <a:buNone/>
            </a:pPr>
            <a:r>
              <a:rPr lang="en-US" sz="1100" b="1" dirty="0">
                <a:solidFill>
                  <a:srgbClr val="393939"/>
                </a:solidFill>
                <a:latin typeface="Calibri" pitchFamily="34" charset="0"/>
                <a:ea typeface="Calibri" pitchFamily="34" charset="-122"/>
                <a:cs typeface="Calibri" pitchFamily="34" charset="-120"/>
              </a:rPr>
              <a:t>Tool-Using</a:t>
            </a:r>
            <a:endParaRPr lang="en-US" sz="1100" dirty="0"/>
          </a:p>
        </p:txBody>
      </p:sp>
      <p:sp>
        <p:nvSpPr>
          <p:cNvPr id="11" name="Text 9"/>
          <p:cNvSpPr/>
          <p:nvPr/>
        </p:nvSpPr>
        <p:spPr>
          <a:xfrm>
            <a:off x="2029968" y="3977640"/>
            <a:ext cx="1298448" cy="548640"/>
          </a:xfrm>
          <a:prstGeom prst="rect">
            <a:avLst/>
          </a:prstGeom>
          <a:noFill/>
          <a:ln/>
        </p:spPr>
        <p:txBody>
          <a:bodyPr wrap="square" rtlCol="0" anchor="ctr"/>
          <a:lstStyle/>
          <a:p>
            <a:pPr marL="0" indent="0" algn="ctr">
              <a:buNone/>
            </a:pPr>
            <a:r>
              <a:rPr lang="en-US" sz="900" i="1" dirty="0">
                <a:solidFill>
                  <a:srgbClr val="545454"/>
                </a:solidFill>
                <a:latin typeface="Calibri" pitchFamily="34" charset="0"/>
                <a:ea typeface="Calibri" pitchFamily="34" charset="-122"/>
                <a:cs typeface="Calibri" pitchFamily="34" charset="-120"/>
              </a:rPr>
              <a:t>Basit tool çağrısı</a:t>
            </a:r>
            <a:endParaRPr lang="en-US" sz="900" dirty="0"/>
          </a:p>
        </p:txBody>
      </p:sp>
      <p:sp>
        <p:nvSpPr>
          <p:cNvPr id="12" name="Shape 10"/>
          <p:cNvSpPr/>
          <p:nvPr/>
        </p:nvSpPr>
        <p:spPr>
          <a:xfrm>
            <a:off x="3419856" y="2834640"/>
            <a:ext cx="1298448" cy="1463040"/>
          </a:xfrm>
          <a:prstGeom prst="rect">
            <a:avLst/>
          </a:prstGeom>
          <a:solidFill>
            <a:srgbClr val="65D7DE"/>
          </a:solidFill>
          <a:ln w="12700">
            <a:solidFill>
              <a:srgbClr val="65D7DE"/>
            </a:solidFill>
            <a:prstDash val="solid"/>
          </a:ln>
        </p:spPr>
        <p:txBody>
          <a:bodyPr/>
          <a:lstStyle/>
          <a:p>
            <a:endParaRPr lang="en-TR"/>
          </a:p>
        </p:txBody>
      </p:sp>
      <p:sp>
        <p:nvSpPr>
          <p:cNvPr id="13" name="Text 11"/>
          <p:cNvSpPr/>
          <p:nvPr/>
        </p:nvSpPr>
        <p:spPr>
          <a:xfrm>
            <a:off x="3419856" y="2880360"/>
            <a:ext cx="1298448" cy="36576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L2</a:t>
            </a:r>
            <a:endParaRPr lang="en-US" sz="1800" dirty="0"/>
          </a:p>
        </p:txBody>
      </p:sp>
      <p:sp>
        <p:nvSpPr>
          <p:cNvPr id="14" name="Text 12"/>
          <p:cNvSpPr/>
          <p:nvPr/>
        </p:nvSpPr>
        <p:spPr>
          <a:xfrm>
            <a:off x="3419856" y="3246120"/>
            <a:ext cx="1298448"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Stateful</a:t>
            </a:r>
            <a:endParaRPr lang="en-US" sz="1100" dirty="0"/>
          </a:p>
        </p:txBody>
      </p:sp>
      <p:sp>
        <p:nvSpPr>
          <p:cNvPr id="15" name="Text 13"/>
          <p:cNvSpPr/>
          <p:nvPr/>
        </p:nvSpPr>
        <p:spPr>
          <a:xfrm>
            <a:off x="3419856" y="3520440"/>
            <a:ext cx="1298448" cy="548640"/>
          </a:xfrm>
          <a:prstGeom prst="rect">
            <a:avLst/>
          </a:prstGeom>
          <a:noFill/>
          <a:ln/>
        </p:spPr>
        <p:txBody>
          <a:bodyPr wrap="square" rtlCol="0" anchor="ctr"/>
          <a:lstStyle/>
          <a:p>
            <a:pPr marL="0" indent="0" algn="ctr">
              <a:buNone/>
            </a:pPr>
            <a:r>
              <a:rPr lang="en-US" sz="900" i="1" dirty="0">
                <a:solidFill>
                  <a:srgbClr val="FFFFFF"/>
                </a:solidFill>
                <a:latin typeface="Calibri" pitchFamily="34" charset="0"/>
                <a:ea typeface="Calibri" pitchFamily="34" charset="-122"/>
                <a:cs typeface="Calibri" pitchFamily="34" charset="-120"/>
              </a:rPr>
              <a:t>Session, history, retry</a:t>
            </a:r>
            <a:endParaRPr lang="en-US" sz="900" dirty="0"/>
          </a:p>
        </p:txBody>
      </p:sp>
      <p:sp>
        <p:nvSpPr>
          <p:cNvPr id="16" name="Shape 14"/>
          <p:cNvSpPr/>
          <p:nvPr/>
        </p:nvSpPr>
        <p:spPr>
          <a:xfrm>
            <a:off x="4809744" y="2377440"/>
            <a:ext cx="1298448" cy="1920240"/>
          </a:xfrm>
          <a:prstGeom prst="rect">
            <a:avLst/>
          </a:prstGeom>
          <a:solidFill>
            <a:srgbClr val="AB80AD"/>
          </a:solidFill>
          <a:ln w="38100">
            <a:solidFill>
              <a:srgbClr val="FFCC4F"/>
            </a:solidFill>
            <a:prstDash val="solid"/>
          </a:ln>
        </p:spPr>
        <p:txBody>
          <a:bodyPr/>
          <a:lstStyle/>
          <a:p>
            <a:endParaRPr lang="en-TR"/>
          </a:p>
        </p:txBody>
      </p:sp>
      <p:sp>
        <p:nvSpPr>
          <p:cNvPr id="17" name="Text 15"/>
          <p:cNvSpPr/>
          <p:nvPr/>
        </p:nvSpPr>
        <p:spPr>
          <a:xfrm>
            <a:off x="4809744" y="2423160"/>
            <a:ext cx="1298448" cy="36576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L3</a:t>
            </a:r>
            <a:endParaRPr lang="en-US" sz="1800" dirty="0"/>
          </a:p>
        </p:txBody>
      </p:sp>
      <p:sp>
        <p:nvSpPr>
          <p:cNvPr id="18" name="Text 16"/>
          <p:cNvSpPr/>
          <p:nvPr/>
        </p:nvSpPr>
        <p:spPr>
          <a:xfrm>
            <a:off x="4809744" y="2788920"/>
            <a:ext cx="1298448"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Governed</a:t>
            </a:r>
            <a:endParaRPr lang="en-US" sz="1100" dirty="0"/>
          </a:p>
        </p:txBody>
      </p:sp>
      <p:sp>
        <p:nvSpPr>
          <p:cNvPr id="19" name="Text 17"/>
          <p:cNvSpPr/>
          <p:nvPr/>
        </p:nvSpPr>
        <p:spPr>
          <a:xfrm>
            <a:off x="4809744" y="3063240"/>
            <a:ext cx="1298448" cy="548640"/>
          </a:xfrm>
          <a:prstGeom prst="rect">
            <a:avLst/>
          </a:prstGeom>
          <a:noFill/>
          <a:ln/>
        </p:spPr>
        <p:txBody>
          <a:bodyPr wrap="square" rtlCol="0" anchor="ctr"/>
          <a:lstStyle/>
          <a:p>
            <a:pPr marL="0" indent="0" algn="ctr">
              <a:buNone/>
            </a:pPr>
            <a:r>
              <a:rPr lang="en-US" sz="900" i="1" dirty="0">
                <a:solidFill>
                  <a:srgbClr val="FFFFFF"/>
                </a:solidFill>
                <a:latin typeface="Calibri" pitchFamily="34" charset="0"/>
                <a:ea typeface="Calibri" pitchFamily="34" charset="-122"/>
                <a:cs typeface="Calibri" pitchFamily="34" charset="-120"/>
              </a:rPr>
              <a:t>ACL, guardrail, audit</a:t>
            </a:r>
            <a:endParaRPr lang="en-US" sz="900" dirty="0"/>
          </a:p>
        </p:txBody>
      </p:sp>
      <p:sp>
        <p:nvSpPr>
          <p:cNvPr id="20" name="Shape 18"/>
          <p:cNvSpPr/>
          <p:nvPr/>
        </p:nvSpPr>
        <p:spPr>
          <a:xfrm>
            <a:off x="6199632" y="2011680"/>
            <a:ext cx="1298448" cy="2286000"/>
          </a:xfrm>
          <a:prstGeom prst="rect">
            <a:avLst/>
          </a:prstGeom>
          <a:solidFill>
            <a:srgbClr val="2D9BA3"/>
          </a:solidFill>
          <a:ln w="12700">
            <a:solidFill>
              <a:srgbClr val="2D9BA3"/>
            </a:solidFill>
            <a:prstDash val="solid"/>
          </a:ln>
        </p:spPr>
        <p:txBody>
          <a:bodyPr/>
          <a:lstStyle/>
          <a:p>
            <a:endParaRPr lang="en-TR"/>
          </a:p>
        </p:txBody>
      </p:sp>
      <p:sp>
        <p:nvSpPr>
          <p:cNvPr id="21" name="Text 19"/>
          <p:cNvSpPr/>
          <p:nvPr/>
        </p:nvSpPr>
        <p:spPr>
          <a:xfrm>
            <a:off x="6199632" y="2057400"/>
            <a:ext cx="1298448" cy="36576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L4</a:t>
            </a:r>
            <a:endParaRPr lang="en-US" sz="1800" dirty="0"/>
          </a:p>
        </p:txBody>
      </p:sp>
      <p:sp>
        <p:nvSpPr>
          <p:cNvPr id="22" name="Text 20"/>
          <p:cNvSpPr/>
          <p:nvPr/>
        </p:nvSpPr>
        <p:spPr>
          <a:xfrm>
            <a:off x="6199632" y="2423160"/>
            <a:ext cx="1298448"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Durable</a:t>
            </a:r>
            <a:endParaRPr lang="en-US" sz="1100" dirty="0"/>
          </a:p>
        </p:txBody>
      </p:sp>
      <p:sp>
        <p:nvSpPr>
          <p:cNvPr id="23" name="Text 21"/>
          <p:cNvSpPr/>
          <p:nvPr/>
        </p:nvSpPr>
        <p:spPr>
          <a:xfrm>
            <a:off x="6199632" y="2697480"/>
            <a:ext cx="1298448" cy="548640"/>
          </a:xfrm>
          <a:prstGeom prst="rect">
            <a:avLst/>
          </a:prstGeom>
          <a:noFill/>
          <a:ln/>
        </p:spPr>
        <p:txBody>
          <a:bodyPr wrap="square" rtlCol="0" anchor="ctr"/>
          <a:lstStyle/>
          <a:p>
            <a:pPr marL="0" indent="0" algn="ctr">
              <a:buNone/>
            </a:pPr>
            <a:r>
              <a:rPr lang="en-US" sz="900" i="1" dirty="0">
                <a:solidFill>
                  <a:srgbClr val="FFFFFF"/>
                </a:solidFill>
                <a:latin typeface="Calibri" pitchFamily="34" charset="0"/>
                <a:ea typeface="Calibri" pitchFamily="34" charset="-122"/>
                <a:cs typeface="Calibri" pitchFamily="34" charset="-120"/>
              </a:rPr>
              <a:t>Checkpoint, resume, HITL</a:t>
            </a:r>
            <a:endParaRPr lang="en-US" sz="900" dirty="0"/>
          </a:p>
        </p:txBody>
      </p:sp>
      <p:sp>
        <p:nvSpPr>
          <p:cNvPr id="24" name="Shape 22"/>
          <p:cNvSpPr/>
          <p:nvPr/>
        </p:nvSpPr>
        <p:spPr>
          <a:xfrm>
            <a:off x="7589520" y="1554480"/>
            <a:ext cx="1298448" cy="2743200"/>
          </a:xfrm>
          <a:prstGeom prst="rect">
            <a:avLst/>
          </a:prstGeom>
          <a:solidFill>
            <a:srgbClr val="393939"/>
          </a:solidFill>
          <a:ln w="12700">
            <a:solidFill>
              <a:srgbClr val="393939"/>
            </a:solidFill>
            <a:prstDash val="solid"/>
          </a:ln>
        </p:spPr>
        <p:txBody>
          <a:bodyPr/>
          <a:lstStyle/>
          <a:p>
            <a:endParaRPr lang="en-TR"/>
          </a:p>
        </p:txBody>
      </p:sp>
      <p:sp>
        <p:nvSpPr>
          <p:cNvPr id="25" name="Text 23"/>
          <p:cNvSpPr/>
          <p:nvPr/>
        </p:nvSpPr>
        <p:spPr>
          <a:xfrm>
            <a:off x="7589520" y="1600200"/>
            <a:ext cx="1298448" cy="36576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L5</a:t>
            </a:r>
            <a:endParaRPr lang="en-US" sz="1800" dirty="0"/>
          </a:p>
        </p:txBody>
      </p:sp>
      <p:sp>
        <p:nvSpPr>
          <p:cNvPr id="26" name="Text 24"/>
          <p:cNvSpPr/>
          <p:nvPr/>
        </p:nvSpPr>
        <p:spPr>
          <a:xfrm>
            <a:off x="7589520" y="1965960"/>
            <a:ext cx="1298448"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Managed Platform</a:t>
            </a:r>
            <a:endParaRPr lang="en-US" sz="1100" dirty="0"/>
          </a:p>
        </p:txBody>
      </p:sp>
      <p:sp>
        <p:nvSpPr>
          <p:cNvPr id="27" name="Text 25"/>
          <p:cNvSpPr/>
          <p:nvPr/>
        </p:nvSpPr>
        <p:spPr>
          <a:xfrm>
            <a:off x="7589520" y="2240280"/>
            <a:ext cx="1298448" cy="548640"/>
          </a:xfrm>
          <a:prstGeom prst="rect">
            <a:avLst/>
          </a:prstGeom>
          <a:noFill/>
          <a:ln/>
        </p:spPr>
        <p:txBody>
          <a:bodyPr wrap="square" rtlCol="0" anchor="ctr"/>
          <a:lstStyle/>
          <a:p>
            <a:pPr marL="0" indent="0" algn="ctr">
              <a:buNone/>
            </a:pPr>
            <a:r>
              <a:rPr lang="en-US" sz="900" i="1" dirty="0">
                <a:solidFill>
                  <a:srgbClr val="FFFFFF"/>
                </a:solidFill>
                <a:latin typeface="Calibri" pitchFamily="34" charset="0"/>
                <a:ea typeface="Calibri" pitchFamily="34" charset="-122"/>
                <a:cs typeface="Calibri" pitchFamily="34" charset="-120"/>
              </a:rPr>
              <a:t>Lifecycle merkezi, prod-ready</a:t>
            </a:r>
            <a:endParaRPr lang="en-US" sz="900" dirty="0"/>
          </a:p>
        </p:txBody>
      </p:sp>
      <p:sp>
        <p:nvSpPr>
          <p:cNvPr id="28" name="Text 26"/>
          <p:cNvSpPr/>
          <p:nvPr/>
        </p:nvSpPr>
        <p:spPr>
          <a:xfrm>
            <a:off x="4297680" y="1554480"/>
            <a:ext cx="2743200" cy="274320"/>
          </a:xfrm>
          <a:prstGeom prst="rect">
            <a:avLst/>
          </a:prstGeom>
          <a:noFill/>
          <a:ln/>
        </p:spPr>
        <p:txBody>
          <a:bodyPr wrap="square" rtlCol="0" anchor="ctr"/>
          <a:lstStyle/>
          <a:p>
            <a:pPr marL="0" indent="0">
              <a:buNone/>
            </a:pPr>
            <a:r>
              <a:rPr lang="en-US" sz="1100" b="1" i="1" dirty="0">
                <a:solidFill>
                  <a:srgbClr val="FFCC4F"/>
                </a:solidFill>
                <a:latin typeface="Calibri" pitchFamily="34" charset="0"/>
                <a:ea typeface="Calibri" pitchFamily="34" charset="-122"/>
                <a:cs typeface="Calibri" pitchFamily="34" charset="-120"/>
              </a:rPr>
              <a:t>← Production başlangıcı</a:t>
            </a:r>
            <a:endParaRPr lang="en-US" sz="1100" dirty="0"/>
          </a:p>
        </p:txBody>
      </p:sp>
      <p:sp>
        <p:nvSpPr>
          <p:cNvPr id="29" name="Shape 27"/>
          <p:cNvSpPr/>
          <p:nvPr/>
        </p:nvSpPr>
        <p:spPr>
          <a:xfrm>
            <a:off x="548640" y="4343400"/>
            <a:ext cx="8229600" cy="0"/>
          </a:xfrm>
          <a:prstGeom prst="line">
            <a:avLst/>
          </a:prstGeom>
          <a:noFill/>
          <a:ln w="12700">
            <a:solidFill>
              <a:srgbClr val="393939"/>
            </a:solidFill>
            <a:prstDash val="solid"/>
          </a:ln>
        </p:spPr>
        <p:txBody>
          <a:bodyPr/>
          <a:lstStyle/>
          <a:p>
            <a:endParaRPr lang="en-TR"/>
          </a:p>
        </p:txBody>
      </p:sp>
      <p:sp>
        <p:nvSpPr>
          <p:cNvPr id="30" name="Text 28"/>
          <p:cNvSpPr/>
          <p:nvPr/>
        </p:nvSpPr>
        <p:spPr>
          <a:xfrm>
            <a:off x="548640" y="4343400"/>
            <a:ext cx="2286000" cy="274320"/>
          </a:xfrm>
          <a:prstGeom prst="rect">
            <a:avLst/>
          </a:prstGeom>
          <a:noFill/>
          <a:ln/>
        </p:spPr>
        <p:txBody>
          <a:bodyPr wrap="square" rtlCol="0" anchor="ctr"/>
          <a:lstStyle/>
          <a:p>
            <a:pPr marL="0" indent="0" algn="ctr">
              <a:buNone/>
            </a:pPr>
            <a:r>
              <a:rPr lang="en-US" sz="1000" i="1" dirty="0">
                <a:solidFill>
                  <a:srgbClr val="545454"/>
                </a:solidFill>
                <a:latin typeface="Calibri" pitchFamily="34" charset="0"/>
                <a:ea typeface="Calibri" pitchFamily="34" charset="-122"/>
                <a:cs typeface="Calibri" pitchFamily="34" charset="-120"/>
              </a:rPr>
              <a:t>Demo dünyası</a:t>
            </a:r>
            <a:endParaRPr lang="en-US" sz="1000" dirty="0"/>
          </a:p>
        </p:txBody>
      </p:sp>
      <p:sp>
        <p:nvSpPr>
          <p:cNvPr id="31" name="Text 29"/>
          <p:cNvSpPr/>
          <p:nvPr/>
        </p:nvSpPr>
        <p:spPr>
          <a:xfrm>
            <a:off x="5943600" y="4434840"/>
            <a:ext cx="2743200" cy="274320"/>
          </a:xfrm>
          <a:prstGeom prst="rect">
            <a:avLst/>
          </a:prstGeom>
          <a:noFill/>
          <a:ln/>
        </p:spPr>
        <p:txBody>
          <a:bodyPr wrap="square" rtlCol="0" anchor="ctr"/>
          <a:lstStyle/>
          <a:p>
            <a:pPr marL="0" indent="0" algn="ctr">
              <a:buNone/>
            </a:pPr>
            <a:r>
              <a:rPr lang="en-US" sz="1000" b="1" i="1" dirty="0">
                <a:solidFill>
                  <a:srgbClr val="2D9BA3"/>
                </a:solidFill>
                <a:latin typeface="Calibri" pitchFamily="34" charset="0"/>
                <a:ea typeface="Calibri" pitchFamily="34" charset="-122"/>
                <a:cs typeface="Calibri" pitchFamily="34" charset="-120"/>
              </a:rPr>
              <a:t>Üretim disiplini</a:t>
            </a:r>
            <a:endParaRPr lang="en-US" sz="1000" dirty="0"/>
          </a:p>
        </p:txBody>
      </p:sp>
      <p:sp>
        <p:nvSpPr>
          <p:cNvPr id="32" name="Text 30"/>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545454"/>
                </a:solidFill>
                <a:latin typeface="Calibri" pitchFamily="34" charset="0"/>
                <a:ea typeface="Calibri" pitchFamily="34" charset="-122"/>
                <a:cs typeface="Calibri" pitchFamily="34" charset="-120"/>
              </a:rPr>
              <a:t>22 / 29  •  Mimari</a:t>
            </a:r>
            <a:endParaRPr lang="en-US" sz="900" dirty="0"/>
          </a:p>
        </p:txBody>
      </p:sp>
      <p:sp>
        <p:nvSpPr>
          <p:cNvPr id="33" name="Text 31"/>
          <p:cNvSpPr/>
          <p:nvPr/>
        </p:nvSpPr>
        <p:spPr>
          <a:xfrm>
            <a:off x="274320" y="4846320"/>
            <a:ext cx="1371600" cy="228600"/>
          </a:xfrm>
          <a:prstGeom prst="rect">
            <a:avLst/>
          </a:prstGeom>
          <a:noFill/>
          <a:ln/>
        </p:spPr>
        <p:txBody>
          <a:bodyPr wrap="square" rtlCol="0" anchor="ctr"/>
          <a:lstStyle/>
          <a:p>
            <a:pPr marL="0" indent="0">
              <a:buNone/>
            </a:pPr>
            <a:r>
              <a:rPr lang="en-US" sz="900" dirty="0">
                <a:solidFill>
                  <a:srgbClr val="545454"/>
                </a:solidFill>
                <a:latin typeface="Calibri" pitchFamily="34" charset="0"/>
                <a:ea typeface="Calibri" pitchFamily="34" charset="-122"/>
                <a:cs typeface="Calibri" pitchFamily="34" charset="-120"/>
              </a:rPr>
              <a:t>&lt; softtech</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marL="0" indent="0">
              <a:buNone/>
            </a:pPr>
            <a:r>
              <a:rPr lang="en-US" sz="2800" b="1" dirty="0">
                <a:solidFill>
                  <a:srgbClr val="393939"/>
                </a:solidFill>
                <a:latin typeface="Calibri" pitchFamily="34" charset="0"/>
                <a:ea typeface="Calibri" pitchFamily="34" charset="-122"/>
                <a:cs typeface="Calibri" pitchFamily="34" charset="-120"/>
              </a:rPr>
              <a:t>Model Risk vs Harness Risk</a:t>
            </a:r>
            <a:endParaRPr lang="en-US" sz="2800" dirty="0"/>
          </a:p>
        </p:txBody>
      </p:sp>
      <p:sp>
        <p:nvSpPr>
          <p:cNvPr id="3" name="Text 1"/>
          <p:cNvSpPr/>
          <p:nvPr/>
        </p:nvSpPr>
        <p:spPr>
          <a:xfrm>
            <a:off x="548640" y="914400"/>
            <a:ext cx="8229600" cy="365760"/>
          </a:xfrm>
          <a:prstGeom prst="rect">
            <a:avLst/>
          </a:prstGeom>
          <a:noFill/>
          <a:ln/>
        </p:spPr>
        <p:txBody>
          <a:bodyPr wrap="square" rtlCol="0" anchor="ctr"/>
          <a:lstStyle/>
          <a:p>
            <a:pPr marL="0" indent="0">
              <a:buNone/>
            </a:pPr>
            <a:r>
              <a:rPr lang="en-US" sz="1300" i="1" dirty="0">
                <a:solidFill>
                  <a:srgbClr val="2D9BA3"/>
                </a:solidFill>
                <a:latin typeface="Calibri" pitchFamily="34" charset="0"/>
                <a:ea typeface="Calibri" pitchFamily="34" charset="-122"/>
                <a:cs typeface="Calibri" pitchFamily="34" charset="-120"/>
              </a:rPr>
              <a:t>Risklerin önemli bölümü modelden değil, modelin nasıl çalıştırıldığından doğar.</a:t>
            </a:r>
            <a:endParaRPr lang="en-US" sz="1300" dirty="0"/>
          </a:p>
        </p:txBody>
      </p:sp>
      <p:sp>
        <p:nvSpPr>
          <p:cNvPr id="4" name="Shape 2"/>
          <p:cNvSpPr/>
          <p:nvPr/>
        </p:nvSpPr>
        <p:spPr>
          <a:xfrm>
            <a:off x="548640" y="1417320"/>
            <a:ext cx="1371600" cy="365760"/>
          </a:xfrm>
          <a:prstGeom prst="rect">
            <a:avLst/>
          </a:prstGeom>
          <a:solidFill>
            <a:srgbClr val="393939"/>
          </a:solidFill>
          <a:ln w="12700">
            <a:solidFill>
              <a:srgbClr val="393939"/>
            </a:solidFill>
            <a:prstDash val="solid"/>
          </a:ln>
        </p:spPr>
        <p:txBody>
          <a:bodyPr/>
          <a:lstStyle/>
          <a:p>
            <a:endParaRPr lang="en-TR"/>
          </a:p>
        </p:txBody>
      </p:sp>
      <p:sp>
        <p:nvSpPr>
          <p:cNvPr id="5" name="Text 3"/>
          <p:cNvSpPr/>
          <p:nvPr/>
        </p:nvSpPr>
        <p:spPr>
          <a:xfrm>
            <a:off x="548640" y="1417320"/>
            <a:ext cx="1371600" cy="3657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Alan</a:t>
            </a:r>
            <a:endParaRPr lang="en-US" sz="1200" dirty="0"/>
          </a:p>
        </p:txBody>
      </p:sp>
      <p:sp>
        <p:nvSpPr>
          <p:cNvPr id="6" name="Shape 4"/>
          <p:cNvSpPr/>
          <p:nvPr/>
        </p:nvSpPr>
        <p:spPr>
          <a:xfrm>
            <a:off x="2011680" y="1417320"/>
            <a:ext cx="3474720" cy="365760"/>
          </a:xfrm>
          <a:prstGeom prst="rect">
            <a:avLst/>
          </a:prstGeom>
          <a:solidFill>
            <a:srgbClr val="CCCCCC"/>
          </a:solidFill>
          <a:ln w="12700">
            <a:solidFill>
              <a:srgbClr val="CCCCCC"/>
            </a:solidFill>
            <a:prstDash val="solid"/>
          </a:ln>
        </p:spPr>
        <p:txBody>
          <a:bodyPr/>
          <a:lstStyle/>
          <a:p>
            <a:endParaRPr lang="en-TR"/>
          </a:p>
        </p:txBody>
      </p:sp>
      <p:sp>
        <p:nvSpPr>
          <p:cNvPr id="7" name="Text 5"/>
          <p:cNvSpPr/>
          <p:nvPr/>
        </p:nvSpPr>
        <p:spPr>
          <a:xfrm>
            <a:off x="2011680" y="1417320"/>
            <a:ext cx="3474720" cy="365760"/>
          </a:xfrm>
          <a:prstGeom prst="rect">
            <a:avLst/>
          </a:prstGeom>
          <a:noFill/>
          <a:ln/>
        </p:spPr>
        <p:txBody>
          <a:bodyPr wrap="square" rtlCol="0" anchor="ctr"/>
          <a:lstStyle/>
          <a:p>
            <a:pPr marL="0" indent="0" algn="ctr">
              <a:buNone/>
            </a:pPr>
            <a:r>
              <a:rPr lang="en-US" sz="1200" b="1" dirty="0">
                <a:solidFill>
                  <a:srgbClr val="393939"/>
                </a:solidFill>
                <a:latin typeface="Calibri" pitchFamily="34" charset="0"/>
                <a:ea typeface="Calibri" pitchFamily="34" charset="-122"/>
                <a:cs typeface="Calibri" pitchFamily="34" charset="-120"/>
              </a:rPr>
              <a:t>Model Riski</a:t>
            </a:r>
            <a:endParaRPr lang="en-US" sz="1200" dirty="0"/>
          </a:p>
        </p:txBody>
      </p:sp>
      <p:sp>
        <p:nvSpPr>
          <p:cNvPr id="8" name="Shape 6"/>
          <p:cNvSpPr/>
          <p:nvPr/>
        </p:nvSpPr>
        <p:spPr>
          <a:xfrm>
            <a:off x="5440680" y="1417320"/>
            <a:ext cx="3657600" cy="365760"/>
          </a:xfrm>
          <a:prstGeom prst="rect">
            <a:avLst/>
          </a:prstGeom>
          <a:solidFill>
            <a:srgbClr val="65D7DE"/>
          </a:solidFill>
          <a:ln w="12700">
            <a:solidFill>
              <a:srgbClr val="65D7DE"/>
            </a:solidFill>
            <a:prstDash val="solid"/>
          </a:ln>
        </p:spPr>
        <p:txBody>
          <a:bodyPr/>
          <a:lstStyle/>
          <a:p>
            <a:endParaRPr lang="en-TR"/>
          </a:p>
        </p:txBody>
      </p:sp>
      <p:sp>
        <p:nvSpPr>
          <p:cNvPr id="9" name="Text 7"/>
          <p:cNvSpPr/>
          <p:nvPr/>
        </p:nvSpPr>
        <p:spPr>
          <a:xfrm>
            <a:off x="5440680" y="1417320"/>
            <a:ext cx="3657600" cy="365760"/>
          </a:xfrm>
          <a:prstGeom prst="rect">
            <a:avLst/>
          </a:prstGeom>
          <a:noFill/>
          <a:ln/>
        </p:spPr>
        <p:txBody>
          <a:bodyPr wrap="square" rtlCol="0" anchor="ctr"/>
          <a:lstStyle/>
          <a:p>
            <a:pPr marL="0" indent="0" algn="ctr">
              <a:buNone/>
            </a:pPr>
            <a:r>
              <a:rPr lang="en-US" sz="1200" b="1" dirty="0">
                <a:solidFill>
                  <a:srgbClr val="393939"/>
                </a:solidFill>
                <a:latin typeface="Calibri" pitchFamily="34" charset="0"/>
                <a:ea typeface="Calibri" pitchFamily="34" charset="-122"/>
                <a:cs typeface="Calibri" pitchFamily="34" charset="-120"/>
              </a:rPr>
              <a:t>Harness Riski</a:t>
            </a:r>
            <a:endParaRPr lang="en-US" sz="1200" dirty="0"/>
          </a:p>
        </p:txBody>
      </p:sp>
      <p:sp>
        <p:nvSpPr>
          <p:cNvPr id="10" name="Shape 8"/>
          <p:cNvSpPr/>
          <p:nvPr/>
        </p:nvSpPr>
        <p:spPr>
          <a:xfrm>
            <a:off x="548640" y="1783080"/>
            <a:ext cx="1371600" cy="320040"/>
          </a:xfrm>
          <a:prstGeom prst="rect">
            <a:avLst/>
          </a:prstGeom>
          <a:solidFill>
            <a:srgbClr val="393939"/>
          </a:solidFill>
          <a:ln w="12700">
            <a:solidFill>
              <a:srgbClr val="393939"/>
            </a:solidFill>
            <a:prstDash val="solid"/>
          </a:ln>
        </p:spPr>
        <p:txBody>
          <a:bodyPr/>
          <a:lstStyle/>
          <a:p>
            <a:endParaRPr lang="en-TR"/>
          </a:p>
        </p:txBody>
      </p:sp>
      <p:sp>
        <p:nvSpPr>
          <p:cNvPr id="11" name="Text 9"/>
          <p:cNvSpPr/>
          <p:nvPr/>
        </p:nvSpPr>
        <p:spPr>
          <a:xfrm>
            <a:off x="640080" y="1783080"/>
            <a:ext cx="1280160" cy="32004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Doğruluk</a:t>
            </a:r>
            <a:endParaRPr lang="en-US" sz="1100" dirty="0"/>
          </a:p>
        </p:txBody>
      </p:sp>
      <p:sp>
        <p:nvSpPr>
          <p:cNvPr id="12" name="Shape 10"/>
          <p:cNvSpPr/>
          <p:nvPr/>
        </p:nvSpPr>
        <p:spPr>
          <a:xfrm>
            <a:off x="2011680" y="1783080"/>
            <a:ext cx="3474720" cy="320040"/>
          </a:xfrm>
          <a:prstGeom prst="rect">
            <a:avLst/>
          </a:prstGeom>
          <a:solidFill>
            <a:srgbClr val="F2F2F5"/>
          </a:solidFill>
          <a:ln w="12700">
            <a:solidFill>
              <a:srgbClr val="CCCCCC"/>
            </a:solidFill>
            <a:prstDash val="solid"/>
          </a:ln>
        </p:spPr>
        <p:txBody>
          <a:bodyPr/>
          <a:lstStyle/>
          <a:p>
            <a:endParaRPr lang="en-TR"/>
          </a:p>
        </p:txBody>
      </p:sp>
      <p:sp>
        <p:nvSpPr>
          <p:cNvPr id="13" name="Text 11"/>
          <p:cNvSpPr/>
          <p:nvPr/>
        </p:nvSpPr>
        <p:spPr>
          <a:xfrm>
            <a:off x="2103120" y="1783080"/>
            <a:ext cx="3291840" cy="320040"/>
          </a:xfrm>
          <a:prstGeom prst="rect">
            <a:avLst/>
          </a:prstGeom>
          <a:noFill/>
          <a:ln/>
        </p:spPr>
        <p:txBody>
          <a:bodyPr wrap="square" rtlCol="0" anchor="ctr"/>
          <a:lstStyle/>
          <a:p>
            <a:pPr marL="0" indent="0">
              <a:buNone/>
            </a:pPr>
            <a:r>
              <a:rPr lang="en-US" sz="1100" dirty="0">
                <a:solidFill>
                  <a:srgbClr val="545454"/>
                </a:solidFill>
                <a:latin typeface="Calibri" pitchFamily="34" charset="0"/>
                <a:ea typeface="Calibri" pitchFamily="34" charset="-122"/>
                <a:cs typeface="Calibri" pitchFamily="34" charset="-120"/>
              </a:rPr>
              <a:t>Halüsinasyon</a:t>
            </a:r>
            <a:endParaRPr lang="en-US" sz="1100" dirty="0"/>
          </a:p>
        </p:txBody>
      </p:sp>
      <p:sp>
        <p:nvSpPr>
          <p:cNvPr id="14" name="Shape 12"/>
          <p:cNvSpPr/>
          <p:nvPr/>
        </p:nvSpPr>
        <p:spPr>
          <a:xfrm>
            <a:off x="5440680" y="1783080"/>
            <a:ext cx="3657600" cy="320040"/>
          </a:xfrm>
          <a:prstGeom prst="rect">
            <a:avLst/>
          </a:prstGeom>
          <a:solidFill>
            <a:srgbClr val="F2F2F5"/>
          </a:solidFill>
          <a:ln w="6350">
            <a:solidFill>
              <a:srgbClr val="65D7DE"/>
            </a:solidFill>
            <a:prstDash val="solid"/>
          </a:ln>
        </p:spPr>
        <p:txBody>
          <a:bodyPr/>
          <a:lstStyle/>
          <a:p>
            <a:endParaRPr lang="en-TR"/>
          </a:p>
        </p:txBody>
      </p:sp>
      <p:sp>
        <p:nvSpPr>
          <p:cNvPr id="15" name="Text 13"/>
          <p:cNvSpPr/>
          <p:nvPr/>
        </p:nvSpPr>
        <p:spPr>
          <a:xfrm>
            <a:off x="5532120" y="1783080"/>
            <a:ext cx="3474720" cy="320040"/>
          </a:xfrm>
          <a:prstGeom prst="rect">
            <a:avLst/>
          </a:prstGeom>
          <a:noFill/>
          <a:ln/>
        </p:spPr>
        <p:txBody>
          <a:bodyPr wrap="square" rtlCol="0" anchor="ctr"/>
          <a:lstStyle/>
          <a:p>
            <a:pPr marL="0" indent="0">
              <a:buNone/>
            </a:pPr>
            <a:r>
              <a:rPr lang="en-US" sz="1100" b="1" dirty="0">
                <a:solidFill>
                  <a:srgbClr val="393939"/>
                </a:solidFill>
                <a:latin typeface="Calibri" pitchFamily="34" charset="0"/>
                <a:ea typeface="Calibri" pitchFamily="34" charset="-122"/>
                <a:cs typeface="Calibri" pitchFamily="34" charset="-120"/>
              </a:rPr>
              <a:t>Yanlış retrieval, eksik context</a:t>
            </a:r>
            <a:endParaRPr lang="en-US" sz="1100" dirty="0"/>
          </a:p>
        </p:txBody>
      </p:sp>
      <p:sp>
        <p:nvSpPr>
          <p:cNvPr id="16" name="Shape 14"/>
          <p:cNvSpPr/>
          <p:nvPr/>
        </p:nvSpPr>
        <p:spPr>
          <a:xfrm>
            <a:off x="548640" y="2103120"/>
            <a:ext cx="1371600" cy="320040"/>
          </a:xfrm>
          <a:prstGeom prst="rect">
            <a:avLst/>
          </a:prstGeom>
          <a:solidFill>
            <a:srgbClr val="393939"/>
          </a:solidFill>
          <a:ln w="12700">
            <a:solidFill>
              <a:srgbClr val="393939"/>
            </a:solidFill>
            <a:prstDash val="solid"/>
          </a:ln>
        </p:spPr>
        <p:txBody>
          <a:bodyPr/>
          <a:lstStyle/>
          <a:p>
            <a:endParaRPr lang="en-TR"/>
          </a:p>
        </p:txBody>
      </p:sp>
      <p:sp>
        <p:nvSpPr>
          <p:cNvPr id="17" name="Text 15"/>
          <p:cNvSpPr/>
          <p:nvPr/>
        </p:nvSpPr>
        <p:spPr>
          <a:xfrm>
            <a:off x="640080" y="2103120"/>
            <a:ext cx="1280160" cy="32004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Güvenlik</a:t>
            </a:r>
            <a:endParaRPr lang="en-US" sz="1100" dirty="0"/>
          </a:p>
        </p:txBody>
      </p:sp>
      <p:sp>
        <p:nvSpPr>
          <p:cNvPr id="18" name="Shape 16"/>
          <p:cNvSpPr/>
          <p:nvPr/>
        </p:nvSpPr>
        <p:spPr>
          <a:xfrm>
            <a:off x="2011680" y="2103120"/>
            <a:ext cx="3474720" cy="320040"/>
          </a:xfrm>
          <a:prstGeom prst="rect">
            <a:avLst/>
          </a:prstGeom>
          <a:solidFill>
            <a:srgbClr val="FFFFFF"/>
          </a:solidFill>
          <a:ln w="12700">
            <a:solidFill>
              <a:srgbClr val="CCCCCC"/>
            </a:solidFill>
            <a:prstDash val="solid"/>
          </a:ln>
        </p:spPr>
        <p:txBody>
          <a:bodyPr/>
          <a:lstStyle/>
          <a:p>
            <a:endParaRPr lang="en-TR"/>
          </a:p>
        </p:txBody>
      </p:sp>
      <p:sp>
        <p:nvSpPr>
          <p:cNvPr id="19" name="Text 17"/>
          <p:cNvSpPr/>
          <p:nvPr/>
        </p:nvSpPr>
        <p:spPr>
          <a:xfrm>
            <a:off x="2103120" y="2103120"/>
            <a:ext cx="3291840" cy="320040"/>
          </a:xfrm>
          <a:prstGeom prst="rect">
            <a:avLst/>
          </a:prstGeom>
          <a:noFill/>
          <a:ln/>
        </p:spPr>
        <p:txBody>
          <a:bodyPr wrap="square" rtlCol="0" anchor="ctr"/>
          <a:lstStyle/>
          <a:p>
            <a:pPr marL="0" indent="0">
              <a:buNone/>
            </a:pPr>
            <a:r>
              <a:rPr lang="en-US" sz="1100" dirty="0">
                <a:solidFill>
                  <a:srgbClr val="545454"/>
                </a:solidFill>
                <a:latin typeface="Calibri" pitchFamily="34" charset="0"/>
                <a:ea typeface="Calibri" pitchFamily="34" charset="-122"/>
                <a:cs typeface="Calibri" pitchFamily="34" charset="-120"/>
              </a:rPr>
              <a:t>Zararlı çıktı</a:t>
            </a:r>
            <a:endParaRPr lang="en-US" sz="1100" dirty="0"/>
          </a:p>
        </p:txBody>
      </p:sp>
      <p:sp>
        <p:nvSpPr>
          <p:cNvPr id="20" name="Shape 18"/>
          <p:cNvSpPr/>
          <p:nvPr/>
        </p:nvSpPr>
        <p:spPr>
          <a:xfrm>
            <a:off x="5440680" y="2103120"/>
            <a:ext cx="3657600" cy="320040"/>
          </a:xfrm>
          <a:prstGeom prst="rect">
            <a:avLst/>
          </a:prstGeom>
          <a:solidFill>
            <a:srgbClr val="FFFFFF"/>
          </a:solidFill>
          <a:ln w="6350">
            <a:solidFill>
              <a:srgbClr val="65D7DE"/>
            </a:solidFill>
            <a:prstDash val="solid"/>
          </a:ln>
        </p:spPr>
        <p:txBody>
          <a:bodyPr/>
          <a:lstStyle/>
          <a:p>
            <a:endParaRPr lang="en-TR"/>
          </a:p>
        </p:txBody>
      </p:sp>
      <p:sp>
        <p:nvSpPr>
          <p:cNvPr id="21" name="Text 19"/>
          <p:cNvSpPr/>
          <p:nvPr/>
        </p:nvSpPr>
        <p:spPr>
          <a:xfrm>
            <a:off x="5532120" y="2103120"/>
            <a:ext cx="3474720" cy="320040"/>
          </a:xfrm>
          <a:prstGeom prst="rect">
            <a:avLst/>
          </a:prstGeom>
          <a:noFill/>
          <a:ln/>
        </p:spPr>
        <p:txBody>
          <a:bodyPr wrap="square" rtlCol="0" anchor="ctr"/>
          <a:lstStyle/>
          <a:p>
            <a:pPr marL="0" indent="0">
              <a:buNone/>
            </a:pPr>
            <a:r>
              <a:rPr lang="en-US" sz="1100" b="1" dirty="0">
                <a:solidFill>
                  <a:srgbClr val="393939"/>
                </a:solidFill>
                <a:latin typeface="Calibri" pitchFamily="34" charset="0"/>
                <a:ea typeface="Calibri" pitchFamily="34" charset="-122"/>
                <a:cs typeface="Calibri" pitchFamily="34" charset="-120"/>
              </a:rPr>
              <a:t>Yetkisiz tool erişimi</a:t>
            </a:r>
            <a:endParaRPr lang="en-US" sz="1100" dirty="0"/>
          </a:p>
        </p:txBody>
      </p:sp>
      <p:sp>
        <p:nvSpPr>
          <p:cNvPr id="22" name="Shape 20"/>
          <p:cNvSpPr/>
          <p:nvPr/>
        </p:nvSpPr>
        <p:spPr>
          <a:xfrm>
            <a:off x="548640" y="2423160"/>
            <a:ext cx="1371600" cy="320040"/>
          </a:xfrm>
          <a:prstGeom prst="rect">
            <a:avLst/>
          </a:prstGeom>
          <a:solidFill>
            <a:srgbClr val="393939"/>
          </a:solidFill>
          <a:ln w="12700">
            <a:solidFill>
              <a:srgbClr val="393939"/>
            </a:solidFill>
            <a:prstDash val="solid"/>
          </a:ln>
        </p:spPr>
        <p:txBody>
          <a:bodyPr/>
          <a:lstStyle/>
          <a:p>
            <a:endParaRPr lang="en-TR"/>
          </a:p>
        </p:txBody>
      </p:sp>
      <p:sp>
        <p:nvSpPr>
          <p:cNvPr id="23" name="Text 21"/>
          <p:cNvSpPr/>
          <p:nvPr/>
        </p:nvSpPr>
        <p:spPr>
          <a:xfrm>
            <a:off x="640080" y="2423160"/>
            <a:ext cx="1280160" cy="32004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Gizlilik</a:t>
            </a:r>
            <a:endParaRPr lang="en-US" sz="1100" dirty="0"/>
          </a:p>
        </p:txBody>
      </p:sp>
      <p:sp>
        <p:nvSpPr>
          <p:cNvPr id="24" name="Shape 22"/>
          <p:cNvSpPr/>
          <p:nvPr/>
        </p:nvSpPr>
        <p:spPr>
          <a:xfrm>
            <a:off x="2011680" y="2423160"/>
            <a:ext cx="3474720" cy="320040"/>
          </a:xfrm>
          <a:prstGeom prst="rect">
            <a:avLst/>
          </a:prstGeom>
          <a:solidFill>
            <a:srgbClr val="F2F2F5"/>
          </a:solidFill>
          <a:ln w="12700">
            <a:solidFill>
              <a:srgbClr val="CCCCCC"/>
            </a:solidFill>
            <a:prstDash val="solid"/>
          </a:ln>
        </p:spPr>
        <p:txBody>
          <a:bodyPr/>
          <a:lstStyle/>
          <a:p>
            <a:endParaRPr lang="en-TR"/>
          </a:p>
        </p:txBody>
      </p:sp>
      <p:sp>
        <p:nvSpPr>
          <p:cNvPr id="25" name="Text 23"/>
          <p:cNvSpPr/>
          <p:nvPr/>
        </p:nvSpPr>
        <p:spPr>
          <a:xfrm>
            <a:off x="2103120" y="2423160"/>
            <a:ext cx="3291840" cy="320040"/>
          </a:xfrm>
          <a:prstGeom prst="rect">
            <a:avLst/>
          </a:prstGeom>
          <a:noFill/>
          <a:ln/>
        </p:spPr>
        <p:txBody>
          <a:bodyPr wrap="square" rtlCol="0" anchor="ctr"/>
          <a:lstStyle/>
          <a:p>
            <a:pPr marL="0" indent="0">
              <a:buNone/>
            </a:pPr>
            <a:r>
              <a:rPr lang="en-US" sz="1100" dirty="0">
                <a:solidFill>
                  <a:srgbClr val="545454"/>
                </a:solidFill>
                <a:latin typeface="Calibri" pitchFamily="34" charset="0"/>
                <a:ea typeface="Calibri" pitchFamily="34" charset="-122"/>
                <a:cs typeface="Calibri" pitchFamily="34" charset="-120"/>
              </a:rPr>
              <a:t>Hassas bilgi üretimi</a:t>
            </a:r>
            <a:endParaRPr lang="en-US" sz="1100" dirty="0"/>
          </a:p>
        </p:txBody>
      </p:sp>
      <p:sp>
        <p:nvSpPr>
          <p:cNvPr id="26" name="Shape 24"/>
          <p:cNvSpPr/>
          <p:nvPr/>
        </p:nvSpPr>
        <p:spPr>
          <a:xfrm>
            <a:off x="5440680" y="2423160"/>
            <a:ext cx="3657600" cy="320040"/>
          </a:xfrm>
          <a:prstGeom prst="rect">
            <a:avLst/>
          </a:prstGeom>
          <a:solidFill>
            <a:srgbClr val="F2F2F5"/>
          </a:solidFill>
          <a:ln w="6350">
            <a:solidFill>
              <a:srgbClr val="65D7DE"/>
            </a:solidFill>
            <a:prstDash val="solid"/>
          </a:ln>
        </p:spPr>
        <p:txBody>
          <a:bodyPr/>
          <a:lstStyle/>
          <a:p>
            <a:endParaRPr lang="en-TR"/>
          </a:p>
        </p:txBody>
      </p:sp>
      <p:sp>
        <p:nvSpPr>
          <p:cNvPr id="27" name="Text 25"/>
          <p:cNvSpPr/>
          <p:nvPr/>
        </p:nvSpPr>
        <p:spPr>
          <a:xfrm>
            <a:off x="5532120" y="2423160"/>
            <a:ext cx="3474720" cy="320040"/>
          </a:xfrm>
          <a:prstGeom prst="rect">
            <a:avLst/>
          </a:prstGeom>
          <a:noFill/>
          <a:ln/>
        </p:spPr>
        <p:txBody>
          <a:bodyPr wrap="square" rtlCol="0" anchor="ctr"/>
          <a:lstStyle/>
          <a:p>
            <a:pPr marL="0" indent="0">
              <a:buNone/>
            </a:pPr>
            <a:r>
              <a:rPr lang="en-US" sz="1100" b="1" dirty="0">
                <a:solidFill>
                  <a:srgbClr val="393939"/>
                </a:solidFill>
                <a:latin typeface="Calibri" pitchFamily="34" charset="0"/>
                <a:ea typeface="Calibri" pitchFamily="34" charset="-122"/>
                <a:cs typeface="Calibri" pitchFamily="34" charset="-120"/>
              </a:rPr>
              <a:t>Memory leakage</a:t>
            </a:r>
            <a:endParaRPr lang="en-US" sz="1100" dirty="0"/>
          </a:p>
        </p:txBody>
      </p:sp>
      <p:sp>
        <p:nvSpPr>
          <p:cNvPr id="28" name="Shape 26"/>
          <p:cNvSpPr/>
          <p:nvPr/>
        </p:nvSpPr>
        <p:spPr>
          <a:xfrm>
            <a:off x="548640" y="2743200"/>
            <a:ext cx="1371600" cy="320040"/>
          </a:xfrm>
          <a:prstGeom prst="rect">
            <a:avLst/>
          </a:prstGeom>
          <a:solidFill>
            <a:srgbClr val="393939"/>
          </a:solidFill>
          <a:ln w="12700">
            <a:solidFill>
              <a:srgbClr val="393939"/>
            </a:solidFill>
            <a:prstDash val="solid"/>
          </a:ln>
        </p:spPr>
        <p:txBody>
          <a:bodyPr/>
          <a:lstStyle/>
          <a:p>
            <a:endParaRPr lang="en-TR"/>
          </a:p>
        </p:txBody>
      </p:sp>
      <p:sp>
        <p:nvSpPr>
          <p:cNvPr id="29" name="Text 27"/>
          <p:cNvSpPr/>
          <p:nvPr/>
        </p:nvSpPr>
        <p:spPr>
          <a:xfrm>
            <a:off x="640080" y="2743200"/>
            <a:ext cx="1280160" cy="32004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Operasyon</a:t>
            </a:r>
            <a:endParaRPr lang="en-US" sz="1100" dirty="0"/>
          </a:p>
        </p:txBody>
      </p:sp>
      <p:sp>
        <p:nvSpPr>
          <p:cNvPr id="30" name="Shape 28"/>
          <p:cNvSpPr/>
          <p:nvPr/>
        </p:nvSpPr>
        <p:spPr>
          <a:xfrm>
            <a:off x="2011680" y="2743200"/>
            <a:ext cx="3474720" cy="320040"/>
          </a:xfrm>
          <a:prstGeom prst="rect">
            <a:avLst/>
          </a:prstGeom>
          <a:solidFill>
            <a:srgbClr val="FFFFFF"/>
          </a:solidFill>
          <a:ln w="12700">
            <a:solidFill>
              <a:srgbClr val="CCCCCC"/>
            </a:solidFill>
            <a:prstDash val="solid"/>
          </a:ln>
        </p:spPr>
        <p:txBody>
          <a:bodyPr/>
          <a:lstStyle/>
          <a:p>
            <a:endParaRPr lang="en-TR"/>
          </a:p>
        </p:txBody>
      </p:sp>
      <p:sp>
        <p:nvSpPr>
          <p:cNvPr id="31" name="Text 29"/>
          <p:cNvSpPr/>
          <p:nvPr/>
        </p:nvSpPr>
        <p:spPr>
          <a:xfrm>
            <a:off x="2103120" y="2743200"/>
            <a:ext cx="3291840" cy="320040"/>
          </a:xfrm>
          <a:prstGeom prst="rect">
            <a:avLst/>
          </a:prstGeom>
          <a:noFill/>
          <a:ln/>
        </p:spPr>
        <p:txBody>
          <a:bodyPr wrap="square" rtlCol="0" anchor="ctr"/>
          <a:lstStyle/>
          <a:p>
            <a:pPr marL="0" indent="0">
              <a:buNone/>
            </a:pPr>
            <a:r>
              <a:rPr lang="en-US" sz="1100" dirty="0">
                <a:solidFill>
                  <a:srgbClr val="545454"/>
                </a:solidFill>
                <a:latin typeface="Calibri" pitchFamily="34" charset="0"/>
                <a:ea typeface="Calibri" pitchFamily="34" charset="-122"/>
                <a:cs typeface="Calibri" pitchFamily="34" charset="-120"/>
              </a:rPr>
              <a:t>Tutarsız cevap</a:t>
            </a:r>
            <a:endParaRPr lang="en-US" sz="1100" dirty="0"/>
          </a:p>
        </p:txBody>
      </p:sp>
      <p:sp>
        <p:nvSpPr>
          <p:cNvPr id="32" name="Shape 30"/>
          <p:cNvSpPr/>
          <p:nvPr/>
        </p:nvSpPr>
        <p:spPr>
          <a:xfrm>
            <a:off x="5440680" y="2743200"/>
            <a:ext cx="3657600" cy="320040"/>
          </a:xfrm>
          <a:prstGeom prst="rect">
            <a:avLst/>
          </a:prstGeom>
          <a:solidFill>
            <a:srgbClr val="FFFFFF"/>
          </a:solidFill>
          <a:ln w="6350">
            <a:solidFill>
              <a:srgbClr val="65D7DE"/>
            </a:solidFill>
            <a:prstDash val="solid"/>
          </a:ln>
        </p:spPr>
        <p:txBody>
          <a:bodyPr/>
          <a:lstStyle/>
          <a:p>
            <a:endParaRPr lang="en-TR"/>
          </a:p>
        </p:txBody>
      </p:sp>
      <p:sp>
        <p:nvSpPr>
          <p:cNvPr id="33" name="Text 31"/>
          <p:cNvSpPr/>
          <p:nvPr/>
        </p:nvSpPr>
        <p:spPr>
          <a:xfrm>
            <a:off x="5532120" y="2743200"/>
            <a:ext cx="3474720" cy="320040"/>
          </a:xfrm>
          <a:prstGeom prst="rect">
            <a:avLst/>
          </a:prstGeom>
          <a:noFill/>
          <a:ln/>
        </p:spPr>
        <p:txBody>
          <a:bodyPr wrap="square" rtlCol="0" anchor="ctr"/>
          <a:lstStyle/>
          <a:p>
            <a:pPr marL="0" indent="0">
              <a:buNone/>
            </a:pPr>
            <a:r>
              <a:rPr lang="en-US" sz="1100" b="1" dirty="0">
                <a:solidFill>
                  <a:srgbClr val="393939"/>
                </a:solidFill>
                <a:latin typeface="Calibri" pitchFamily="34" charset="0"/>
                <a:ea typeface="Calibri" pitchFamily="34" charset="-122"/>
                <a:cs typeface="Calibri" pitchFamily="34" charset="-120"/>
              </a:rPr>
              <a:t>Retry/resume yokluğu</a:t>
            </a:r>
            <a:endParaRPr lang="en-US" sz="1100" dirty="0"/>
          </a:p>
        </p:txBody>
      </p:sp>
      <p:sp>
        <p:nvSpPr>
          <p:cNvPr id="34" name="Shape 32"/>
          <p:cNvSpPr/>
          <p:nvPr/>
        </p:nvSpPr>
        <p:spPr>
          <a:xfrm>
            <a:off x="548640" y="3063240"/>
            <a:ext cx="1371600" cy="320040"/>
          </a:xfrm>
          <a:prstGeom prst="rect">
            <a:avLst/>
          </a:prstGeom>
          <a:solidFill>
            <a:srgbClr val="393939"/>
          </a:solidFill>
          <a:ln w="12700">
            <a:solidFill>
              <a:srgbClr val="393939"/>
            </a:solidFill>
            <a:prstDash val="solid"/>
          </a:ln>
        </p:spPr>
        <p:txBody>
          <a:bodyPr/>
          <a:lstStyle/>
          <a:p>
            <a:endParaRPr lang="en-TR"/>
          </a:p>
        </p:txBody>
      </p:sp>
      <p:sp>
        <p:nvSpPr>
          <p:cNvPr id="35" name="Text 33"/>
          <p:cNvSpPr/>
          <p:nvPr/>
        </p:nvSpPr>
        <p:spPr>
          <a:xfrm>
            <a:off x="640080" y="3063240"/>
            <a:ext cx="1280160" cy="32004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Maliyet</a:t>
            </a:r>
            <a:endParaRPr lang="en-US" sz="1100" dirty="0"/>
          </a:p>
        </p:txBody>
      </p:sp>
      <p:sp>
        <p:nvSpPr>
          <p:cNvPr id="36" name="Shape 34"/>
          <p:cNvSpPr/>
          <p:nvPr/>
        </p:nvSpPr>
        <p:spPr>
          <a:xfrm>
            <a:off x="2011680" y="3063240"/>
            <a:ext cx="3474720" cy="320040"/>
          </a:xfrm>
          <a:prstGeom prst="rect">
            <a:avLst/>
          </a:prstGeom>
          <a:solidFill>
            <a:srgbClr val="F2F2F5"/>
          </a:solidFill>
          <a:ln w="12700">
            <a:solidFill>
              <a:srgbClr val="CCCCCC"/>
            </a:solidFill>
            <a:prstDash val="solid"/>
          </a:ln>
        </p:spPr>
        <p:txBody>
          <a:bodyPr/>
          <a:lstStyle/>
          <a:p>
            <a:endParaRPr lang="en-TR"/>
          </a:p>
        </p:txBody>
      </p:sp>
      <p:sp>
        <p:nvSpPr>
          <p:cNvPr id="37" name="Text 35"/>
          <p:cNvSpPr/>
          <p:nvPr/>
        </p:nvSpPr>
        <p:spPr>
          <a:xfrm>
            <a:off x="2103120" y="3063240"/>
            <a:ext cx="3291840" cy="320040"/>
          </a:xfrm>
          <a:prstGeom prst="rect">
            <a:avLst/>
          </a:prstGeom>
          <a:noFill/>
          <a:ln/>
        </p:spPr>
        <p:txBody>
          <a:bodyPr wrap="square" rtlCol="0" anchor="ctr"/>
          <a:lstStyle/>
          <a:p>
            <a:pPr marL="0" indent="0">
              <a:buNone/>
            </a:pPr>
            <a:r>
              <a:rPr lang="en-US" sz="1100" dirty="0">
                <a:solidFill>
                  <a:srgbClr val="545454"/>
                </a:solidFill>
                <a:latin typeface="Calibri" pitchFamily="34" charset="0"/>
                <a:ea typeface="Calibri" pitchFamily="34" charset="-122"/>
                <a:cs typeface="Calibri" pitchFamily="34" charset="-120"/>
              </a:rPr>
              <a:t>Uzun cevap</a:t>
            </a:r>
            <a:endParaRPr lang="en-US" sz="1100" dirty="0"/>
          </a:p>
        </p:txBody>
      </p:sp>
      <p:sp>
        <p:nvSpPr>
          <p:cNvPr id="38" name="Shape 36"/>
          <p:cNvSpPr/>
          <p:nvPr/>
        </p:nvSpPr>
        <p:spPr>
          <a:xfrm>
            <a:off x="5440680" y="3063240"/>
            <a:ext cx="3657600" cy="320040"/>
          </a:xfrm>
          <a:prstGeom prst="rect">
            <a:avLst/>
          </a:prstGeom>
          <a:solidFill>
            <a:srgbClr val="F2F2F5"/>
          </a:solidFill>
          <a:ln w="6350">
            <a:solidFill>
              <a:srgbClr val="65D7DE"/>
            </a:solidFill>
            <a:prstDash val="solid"/>
          </a:ln>
        </p:spPr>
        <p:txBody>
          <a:bodyPr/>
          <a:lstStyle/>
          <a:p>
            <a:endParaRPr lang="en-TR"/>
          </a:p>
        </p:txBody>
      </p:sp>
      <p:sp>
        <p:nvSpPr>
          <p:cNvPr id="39" name="Text 37"/>
          <p:cNvSpPr/>
          <p:nvPr/>
        </p:nvSpPr>
        <p:spPr>
          <a:xfrm>
            <a:off x="5532120" y="3063240"/>
            <a:ext cx="3474720" cy="320040"/>
          </a:xfrm>
          <a:prstGeom prst="rect">
            <a:avLst/>
          </a:prstGeom>
          <a:noFill/>
          <a:ln/>
        </p:spPr>
        <p:txBody>
          <a:bodyPr wrap="square" rtlCol="0" anchor="ctr"/>
          <a:lstStyle/>
          <a:p>
            <a:pPr marL="0" indent="0">
              <a:buNone/>
            </a:pPr>
            <a:r>
              <a:rPr lang="en-US" sz="1100" b="1" dirty="0">
                <a:solidFill>
                  <a:srgbClr val="393939"/>
                </a:solidFill>
                <a:latin typeface="Calibri" pitchFamily="34" charset="0"/>
                <a:ea typeface="Calibri" pitchFamily="34" charset="-122"/>
                <a:cs typeface="Calibri" pitchFamily="34" charset="-120"/>
              </a:rPr>
              <a:t>Sonsuz loop</a:t>
            </a:r>
            <a:endParaRPr lang="en-US" sz="1100" dirty="0"/>
          </a:p>
        </p:txBody>
      </p:sp>
      <p:sp>
        <p:nvSpPr>
          <p:cNvPr id="40" name="Shape 38"/>
          <p:cNvSpPr/>
          <p:nvPr/>
        </p:nvSpPr>
        <p:spPr>
          <a:xfrm>
            <a:off x="548640" y="3383280"/>
            <a:ext cx="1371600" cy="320040"/>
          </a:xfrm>
          <a:prstGeom prst="rect">
            <a:avLst/>
          </a:prstGeom>
          <a:solidFill>
            <a:srgbClr val="393939"/>
          </a:solidFill>
          <a:ln w="12700">
            <a:solidFill>
              <a:srgbClr val="393939"/>
            </a:solidFill>
            <a:prstDash val="solid"/>
          </a:ln>
        </p:spPr>
        <p:txBody>
          <a:bodyPr/>
          <a:lstStyle/>
          <a:p>
            <a:endParaRPr lang="en-TR"/>
          </a:p>
        </p:txBody>
      </p:sp>
      <p:sp>
        <p:nvSpPr>
          <p:cNvPr id="41" name="Text 39"/>
          <p:cNvSpPr/>
          <p:nvPr/>
        </p:nvSpPr>
        <p:spPr>
          <a:xfrm>
            <a:off x="640080" y="3383280"/>
            <a:ext cx="1280160" cy="32004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Denetim</a:t>
            </a:r>
            <a:endParaRPr lang="en-US" sz="1100" dirty="0"/>
          </a:p>
        </p:txBody>
      </p:sp>
      <p:sp>
        <p:nvSpPr>
          <p:cNvPr id="42" name="Shape 40"/>
          <p:cNvSpPr/>
          <p:nvPr/>
        </p:nvSpPr>
        <p:spPr>
          <a:xfrm>
            <a:off x="2011680" y="3383280"/>
            <a:ext cx="3474720" cy="320040"/>
          </a:xfrm>
          <a:prstGeom prst="rect">
            <a:avLst/>
          </a:prstGeom>
          <a:solidFill>
            <a:srgbClr val="FFFFFF"/>
          </a:solidFill>
          <a:ln w="12700">
            <a:solidFill>
              <a:srgbClr val="CCCCCC"/>
            </a:solidFill>
            <a:prstDash val="solid"/>
          </a:ln>
        </p:spPr>
        <p:txBody>
          <a:bodyPr/>
          <a:lstStyle/>
          <a:p>
            <a:endParaRPr lang="en-TR"/>
          </a:p>
        </p:txBody>
      </p:sp>
      <p:sp>
        <p:nvSpPr>
          <p:cNvPr id="43" name="Text 41"/>
          <p:cNvSpPr/>
          <p:nvPr/>
        </p:nvSpPr>
        <p:spPr>
          <a:xfrm>
            <a:off x="2103120" y="3383280"/>
            <a:ext cx="3291840" cy="320040"/>
          </a:xfrm>
          <a:prstGeom prst="rect">
            <a:avLst/>
          </a:prstGeom>
          <a:noFill/>
          <a:ln/>
        </p:spPr>
        <p:txBody>
          <a:bodyPr wrap="square" rtlCol="0" anchor="ctr"/>
          <a:lstStyle/>
          <a:p>
            <a:pPr marL="0" indent="0">
              <a:buNone/>
            </a:pPr>
            <a:r>
              <a:rPr lang="en-US" sz="1100" dirty="0">
                <a:solidFill>
                  <a:srgbClr val="545454"/>
                </a:solidFill>
                <a:latin typeface="Calibri" pitchFamily="34" charset="0"/>
                <a:ea typeface="Calibri" pitchFamily="34" charset="-122"/>
                <a:cs typeface="Calibri" pitchFamily="34" charset="-120"/>
              </a:rPr>
              <a:t>Açıklanamayan karar</a:t>
            </a:r>
            <a:endParaRPr lang="en-US" sz="1100" dirty="0"/>
          </a:p>
        </p:txBody>
      </p:sp>
      <p:sp>
        <p:nvSpPr>
          <p:cNvPr id="44" name="Shape 42"/>
          <p:cNvSpPr/>
          <p:nvPr/>
        </p:nvSpPr>
        <p:spPr>
          <a:xfrm>
            <a:off x="5440680" y="3383280"/>
            <a:ext cx="3657600" cy="320040"/>
          </a:xfrm>
          <a:prstGeom prst="rect">
            <a:avLst/>
          </a:prstGeom>
          <a:solidFill>
            <a:srgbClr val="FFFFFF"/>
          </a:solidFill>
          <a:ln w="6350">
            <a:solidFill>
              <a:srgbClr val="65D7DE"/>
            </a:solidFill>
            <a:prstDash val="solid"/>
          </a:ln>
        </p:spPr>
        <p:txBody>
          <a:bodyPr/>
          <a:lstStyle/>
          <a:p>
            <a:endParaRPr lang="en-TR"/>
          </a:p>
        </p:txBody>
      </p:sp>
      <p:sp>
        <p:nvSpPr>
          <p:cNvPr id="45" name="Text 43"/>
          <p:cNvSpPr/>
          <p:nvPr/>
        </p:nvSpPr>
        <p:spPr>
          <a:xfrm>
            <a:off x="5532120" y="3383280"/>
            <a:ext cx="3474720" cy="320040"/>
          </a:xfrm>
          <a:prstGeom prst="rect">
            <a:avLst/>
          </a:prstGeom>
          <a:noFill/>
          <a:ln/>
        </p:spPr>
        <p:txBody>
          <a:bodyPr wrap="square" rtlCol="0" anchor="ctr"/>
          <a:lstStyle/>
          <a:p>
            <a:pPr marL="0" indent="0">
              <a:buNone/>
            </a:pPr>
            <a:r>
              <a:rPr lang="en-US" sz="1100" b="1" dirty="0">
                <a:solidFill>
                  <a:srgbClr val="393939"/>
                </a:solidFill>
                <a:latin typeface="Calibri" pitchFamily="34" charset="0"/>
                <a:ea typeface="Calibri" pitchFamily="34" charset="-122"/>
                <a:cs typeface="Calibri" pitchFamily="34" charset="-120"/>
              </a:rPr>
              <a:t>Trace eksikliği</a:t>
            </a:r>
            <a:endParaRPr lang="en-US" sz="1100" dirty="0"/>
          </a:p>
        </p:txBody>
      </p:sp>
      <p:sp>
        <p:nvSpPr>
          <p:cNvPr id="46" name="Shape 44"/>
          <p:cNvSpPr/>
          <p:nvPr/>
        </p:nvSpPr>
        <p:spPr>
          <a:xfrm>
            <a:off x="548640" y="3703320"/>
            <a:ext cx="1371600" cy="320040"/>
          </a:xfrm>
          <a:prstGeom prst="rect">
            <a:avLst/>
          </a:prstGeom>
          <a:solidFill>
            <a:srgbClr val="393939"/>
          </a:solidFill>
          <a:ln w="12700">
            <a:solidFill>
              <a:srgbClr val="393939"/>
            </a:solidFill>
            <a:prstDash val="solid"/>
          </a:ln>
        </p:spPr>
        <p:txBody>
          <a:bodyPr/>
          <a:lstStyle/>
          <a:p>
            <a:endParaRPr lang="en-TR"/>
          </a:p>
        </p:txBody>
      </p:sp>
      <p:sp>
        <p:nvSpPr>
          <p:cNvPr id="47" name="Text 45"/>
          <p:cNvSpPr/>
          <p:nvPr/>
        </p:nvSpPr>
        <p:spPr>
          <a:xfrm>
            <a:off x="640080" y="3703320"/>
            <a:ext cx="1280160" cy="32004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Yetki</a:t>
            </a:r>
            <a:endParaRPr lang="en-US" sz="1100" dirty="0"/>
          </a:p>
        </p:txBody>
      </p:sp>
      <p:sp>
        <p:nvSpPr>
          <p:cNvPr id="48" name="Shape 46"/>
          <p:cNvSpPr/>
          <p:nvPr/>
        </p:nvSpPr>
        <p:spPr>
          <a:xfrm>
            <a:off x="2011680" y="3703320"/>
            <a:ext cx="3474720" cy="320040"/>
          </a:xfrm>
          <a:prstGeom prst="rect">
            <a:avLst/>
          </a:prstGeom>
          <a:solidFill>
            <a:srgbClr val="F2F2F5"/>
          </a:solidFill>
          <a:ln w="12700">
            <a:solidFill>
              <a:srgbClr val="CCCCCC"/>
            </a:solidFill>
            <a:prstDash val="solid"/>
          </a:ln>
        </p:spPr>
        <p:txBody>
          <a:bodyPr/>
          <a:lstStyle/>
          <a:p>
            <a:endParaRPr lang="en-TR"/>
          </a:p>
        </p:txBody>
      </p:sp>
      <p:sp>
        <p:nvSpPr>
          <p:cNvPr id="49" name="Text 47"/>
          <p:cNvSpPr/>
          <p:nvPr/>
        </p:nvSpPr>
        <p:spPr>
          <a:xfrm>
            <a:off x="2103120" y="3703320"/>
            <a:ext cx="3291840" cy="320040"/>
          </a:xfrm>
          <a:prstGeom prst="rect">
            <a:avLst/>
          </a:prstGeom>
          <a:noFill/>
          <a:ln/>
        </p:spPr>
        <p:txBody>
          <a:bodyPr wrap="square" rtlCol="0" anchor="ctr"/>
          <a:lstStyle/>
          <a:p>
            <a:pPr marL="0" indent="0">
              <a:buNone/>
            </a:pPr>
            <a:r>
              <a:rPr lang="en-US" sz="1100" dirty="0">
                <a:solidFill>
                  <a:srgbClr val="545454"/>
                </a:solidFill>
                <a:latin typeface="Calibri" pitchFamily="34" charset="0"/>
                <a:ea typeface="Calibri" pitchFamily="34" charset="-122"/>
                <a:cs typeface="Calibri" pitchFamily="34" charset="-120"/>
              </a:rPr>
              <a:t>Sınır bilmeme</a:t>
            </a:r>
            <a:endParaRPr lang="en-US" sz="1100" dirty="0"/>
          </a:p>
        </p:txBody>
      </p:sp>
      <p:sp>
        <p:nvSpPr>
          <p:cNvPr id="50" name="Shape 48"/>
          <p:cNvSpPr/>
          <p:nvPr/>
        </p:nvSpPr>
        <p:spPr>
          <a:xfrm>
            <a:off x="5440680" y="3703320"/>
            <a:ext cx="3657600" cy="320040"/>
          </a:xfrm>
          <a:prstGeom prst="rect">
            <a:avLst/>
          </a:prstGeom>
          <a:solidFill>
            <a:srgbClr val="F2F2F5"/>
          </a:solidFill>
          <a:ln w="6350">
            <a:solidFill>
              <a:srgbClr val="65D7DE"/>
            </a:solidFill>
            <a:prstDash val="solid"/>
          </a:ln>
        </p:spPr>
        <p:txBody>
          <a:bodyPr/>
          <a:lstStyle/>
          <a:p>
            <a:endParaRPr lang="en-TR"/>
          </a:p>
        </p:txBody>
      </p:sp>
      <p:sp>
        <p:nvSpPr>
          <p:cNvPr id="51" name="Text 49"/>
          <p:cNvSpPr/>
          <p:nvPr/>
        </p:nvSpPr>
        <p:spPr>
          <a:xfrm>
            <a:off x="5532120" y="3703320"/>
            <a:ext cx="3474720" cy="320040"/>
          </a:xfrm>
          <a:prstGeom prst="rect">
            <a:avLst/>
          </a:prstGeom>
          <a:noFill/>
          <a:ln/>
        </p:spPr>
        <p:txBody>
          <a:bodyPr wrap="square" rtlCol="0" anchor="ctr"/>
          <a:lstStyle/>
          <a:p>
            <a:pPr marL="0" indent="0">
              <a:buNone/>
            </a:pPr>
            <a:r>
              <a:rPr lang="en-US" sz="1100" b="1" dirty="0">
                <a:solidFill>
                  <a:srgbClr val="393939"/>
                </a:solidFill>
                <a:latin typeface="Calibri" pitchFamily="34" charset="0"/>
                <a:ea typeface="Calibri" pitchFamily="34" charset="-122"/>
                <a:cs typeface="Calibri" pitchFamily="34" charset="-120"/>
              </a:rPr>
              <a:t>ACL eksikliği</a:t>
            </a:r>
            <a:endParaRPr lang="en-US" sz="1100" dirty="0"/>
          </a:p>
        </p:txBody>
      </p:sp>
      <p:sp>
        <p:nvSpPr>
          <p:cNvPr id="52" name="Shape 50"/>
          <p:cNvSpPr/>
          <p:nvPr/>
        </p:nvSpPr>
        <p:spPr>
          <a:xfrm>
            <a:off x="548640" y="4023360"/>
            <a:ext cx="1371600" cy="320040"/>
          </a:xfrm>
          <a:prstGeom prst="rect">
            <a:avLst/>
          </a:prstGeom>
          <a:solidFill>
            <a:srgbClr val="393939"/>
          </a:solidFill>
          <a:ln w="12700">
            <a:solidFill>
              <a:srgbClr val="393939"/>
            </a:solidFill>
            <a:prstDash val="solid"/>
          </a:ln>
        </p:spPr>
        <p:txBody>
          <a:bodyPr/>
          <a:lstStyle/>
          <a:p>
            <a:endParaRPr lang="en-TR"/>
          </a:p>
        </p:txBody>
      </p:sp>
      <p:sp>
        <p:nvSpPr>
          <p:cNvPr id="53" name="Text 51"/>
          <p:cNvSpPr/>
          <p:nvPr/>
        </p:nvSpPr>
        <p:spPr>
          <a:xfrm>
            <a:off x="640080" y="4023360"/>
            <a:ext cx="1280160" cy="32004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Sorumluluk</a:t>
            </a:r>
            <a:endParaRPr lang="en-US" sz="1100" dirty="0"/>
          </a:p>
        </p:txBody>
      </p:sp>
      <p:sp>
        <p:nvSpPr>
          <p:cNvPr id="54" name="Shape 52"/>
          <p:cNvSpPr/>
          <p:nvPr/>
        </p:nvSpPr>
        <p:spPr>
          <a:xfrm>
            <a:off x="2011680" y="4023360"/>
            <a:ext cx="3474720" cy="320040"/>
          </a:xfrm>
          <a:prstGeom prst="rect">
            <a:avLst/>
          </a:prstGeom>
          <a:solidFill>
            <a:srgbClr val="FFFFFF"/>
          </a:solidFill>
          <a:ln w="12700">
            <a:solidFill>
              <a:srgbClr val="CCCCCC"/>
            </a:solidFill>
            <a:prstDash val="solid"/>
          </a:ln>
        </p:spPr>
        <p:txBody>
          <a:bodyPr/>
          <a:lstStyle/>
          <a:p>
            <a:endParaRPr lang="en-TR"/>
          </a:p>
        </p:txBody>
      </p:sp>
      <p:sp>
        <p:nvSpPr>
          <p:cNvPr id="55" name="Text 53"/>
          <p:cNvSpPr/>
          <p:nvPr/>
        </p:nvSpPr>
        <p:spPr>
          <a:xfrm>
            <a:off x="2103120" y="4023360"/>
            <a:ext cx="3291840" cy="320040"/>
          </a:xfrm>
          <a:prstGeom prst="rect">
            <a:avLst/>
          </a:prstGeom>
          <a:noFill/>
          <a:ln/>
        </p:spPr>
        <p:txBody>
          <a:bodyPr wrap="square" rtlCol="0" anchor="ctr"/>
          <a:lstStyle/>
          <a:p>
            <a:pPr marL="0" indent="0">
              <a:buNone/>
            </a:pPr>
            <a:r>
              <a:rPr lang="en-US" sz="1100" dirty="0">
                <a:solidFill>
                  <a:srgbClr val="545454"/>
                </a:solidFill>
                <a:latin typeface="Calibri" pitchFamily="34" charset="0"/>
                <a:ea typeface="Calibri" pitchFamily="34" charset="-122"/>
                <a:cs typeface="Calibri" pitchFamily="34" charset="-120"/>
              </a:rPr>
              <a:t>Yanlış öneri</a:t>
            </a:r>
            <a:endParaRPr lang="en-US" sz="1100" dirty="0"/>
          </a:p>
        </p:txBody>
      </p:sp>
      <p:sp>
        <p:nvSpPr>
          <p:cNvPr id="56" name="Shape 54"/>
          <p:cNvSpPr/>
          <p:nvPr/>
        </p:nvSpPr>
        <p:spPr>
          <a:xfrm>
            <a:off x="5440680" y="4023360"/>
            <a:ext cx="3657600" cy="320040"/>
          </a:xfrm>
          <a:prstGeom prst="rect">
            <a:avLst/>
          </a:prstGeom>
          <a:solidFill>
            <a:srgbClr val="FFFFFF"/>
          </a:solidFill>
          <a:ln w="6350">
            <a:solidFill>
              <a:srgbClr val="65D7DE"/>
            </a:solidFill>
            <a:prstDash val="solid"/>
          </a:ln>
        </p:spPr>
        <p:txBody>
          <a:bodyPr/>
          <a:lstStyle/>
          <a:p>
            <a:endParaRPr lang="en-TR"/>
          </a:p>
        </p:txBody>
      </p:sp>
      <p:sp>
        <p:nvSpPr>
          <p:cNvPr id="57" name="Text 55"/>
          <p:cNvSpPr/>
          <p:nvPr/>
        </p:nvSpPr>
        <p:spPr>
          <a:xfrm>
            <a:off x="5532120" y="4023360"/>
            <a:ext cx="3474720" cy="320040"/>
          </a:xfrm>
          <a:prstGeom prst="rect">
            <a:avLst/>
          </a:prstGeom>
          <a:noFill/>
          <a:ln/>
        </p:spPr>
        <p:txBody>
          <a:bodyPr wrap="square" rtlCol="0" anchor="ctr"/>
          <a:lstStyle/>
          <a:p>
            <a:pPr marL="0" indent="0">
              <a:buNone/>
            </a:pPr>
            <a:r>
              <a:rPr lang="en-US" sz="1100" b="1" dirty="0">
                <a:solidFill>
                  <a:srgbClr val="393939"/>
                </a:solidFill>
                <a:latin typeface="Calibri" pitchFamily="34" charset="0"/>
                <a:ea typeface="Calibri" pitchFamily="34" charset="-122"/>
                <a:cs typeface="Calibri" pitchFamily="34" charset="-120"/>
              </a:rPr>
              <a:t>HITL eksikliği</a:t>
            </a:r>
            <a:endParaRPr lang="en-US" sz="1100" dirty="0"/>
          </a:p>
        </p:txBody>
      </p:sp>
      <p:sp>
        <p:nvSpPr>
          <p:cNvPr id="58" name="Text 56"/>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545454"/>
                </a:solidFill>
                <a:latin typeface="Calibri" pitchFamily="34" charset="0"/>
                <a:ea typeface="Calibri" pitchFamily="34" charset="-122"/>
                <a:cs typeface="Calibri" pitchFamily="34" charset="-120"/>
              </a:rPr>
              <a:t>23 / 29  •  Mimari</a:t>
            </a:r>
            <a:endParaRPr lang="en-US" sz="900" dirty="0"/>
          </a:p>
        </p:txBody>
      </p:sp>
      <p:sp>
        <p:nvSpPr>
          <p:cNvPr id="59" name="Text 57"/>
          <p:cNvSpPr/>
          <p:nvPr/>
        </p:nvSpPr>
        <p:spPr>
          <a:xfrm>
            <a:off x="274320" y="4846320"/>
            <a:ext cx="1371600" cy="228600"/>
          </a:xfrm>
          <a:prstGeom prst="rect">
            <a:avLst/>
          </a:prstGeom>
          <a:noFill/>
          <a:ln/>
        </p:spPr>
        <p:txBody>
          <a:bodyPr wrap="square" rtlCol="0" anchor="ctr"/>
          <a:lstStyle/>
          <a:p>
            <a:pPr marL="0" indent="0">
              <a:buNone/>
            </a:pPr>
            <a:r>
              <a:rPr lang="en-US" sz="900" dirty="0">
                <a:solidFill>
                  <a:srgbClr val="545454"/>
                </a:solidFill>
                <a:latin typeface="Calibri" pitchFamily="34" charset="0"/>
                <a:ea typeface="Calibri" pitchFamily="34" charset="-122"/>
                <a:cs typeface="Calibri" pitchFamily="34" charset="-120"/>
              </a:rPr>
              <a:t>&lt; softtech</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393939"/>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Yeni Saldırı Yüzeyleri</a:t>
            </a:r>
            <a:endParaRPr lang="en-US" sz="2800" dirty="0"/>
          </a:p>
        </p:txBody>
      </p:sp>
      <p:sp>
        <p:nvSpPr>
          <p:cNvPr id="3" name="Text 1"/>
          <p:cNvSpPr/>
          <p:nvPr/>
        </p:nvSpPr>
        <p:spPr>
          <a:xfrm>
            <a:off x="548640" y="914400"/>
            <a:ext cx="8229600" cy="365760"/>
          </a:xfrm>
          <a:prstGeom prst="rect">
            <a:avLst/>
          </a:prstGeom>
          <a:noFill/>
          <a:ln/>
        </p:spPr>
        <p:txBody>
          <a:bodyPr wrap="square" rtlCol="0" anchor="ctr"/>
          <a:lstStyle/>
          <a:p>
            <a:pPr marL="0" indent="0">
              <a:buNone/>
            </a:pPr>
            <a:r>
              <a:rPr lang="en-US" sz="1200" i="1" dirty="0">
                <a:solidFill>
                  <a:srgbClr val="FFCC4F"/>
                </a:solidFill>
                <a:latin typeface="Calibri" pitchFamily="34" charset="0"/>
                <a:ea typeface="Calibri" pitchFamily="34" charset="-122"/>
                <a:cs typeface="Calibri" pitchFamily="34" charset="-120"/>
              </a:rPr>
              <a:t>Agent ne kadar otonom hale gelirse, güvenlik konusu model güvenliğinden sistem güvenliğine kayar.</a:t>
            </a:r>
            <a:endParaRPr lang="en-US" sz="1200" dirty="0"/>
          </a:p>
        </p:txBody>
      </p:sp>
      <p:sp>
        <p:nvSpPr>
          <p:cNvPr id="4" name="Shape 2"/>
          <p:cNvSpPr/>
          <p:nvPr/>
        </p:nvSpPr>
        <p:spPr>
          <a:xfrm>
            <a:off x="548640" y="1463040"/>
            <a:ext cx="1920240" cy="777240"/>
          </a:xfrm>
          <a:prstGeom prst="roundRect">
            <a:avLst>
              <a:gd name="adj" fmla="val 5882"/>
            </a:avLst>
          </a:prstGeom>
          <a:solidFill>
            <a:srgbClr val="35353D"/>
          </a:solidFill>
          <a:ln w="15875">
            <a:solidFill>
              <a:srgbClr val="FFCC4F"/>
            </a:solidFill>
            <a:prstDash val="solid"/>
          </a:ln>
        </p:spPr>
        <p:txBody>
          <a:bodyPr/>
          <a:lstStyle/>
          <a:p>
            <a:endParaRPr lang="en-TR"/>
          </a:p>
        </p:txBody>
      </p:sp>
      <p:sp>
        <p:nvSpPr>
          <p:cNvPr id="5" name="Text 3"/>
          <p:cNvSpPr/>
          <p:nvPr/>
        </p:nvSpPr>
        <p:spPr>
          <a:xfrm>
            <a:off x="640080" y="1536192"/>
            <a:ext cx="1737360" cy="320040"/>
          </a:xfrm>
          <a:prstGeom prst="rect">
            <a:avLst/>
          </a:prstGeom>
          <a:noFill/>
          <a:ln/>
        </p:spPr>
        <p:txBody>
          <a:bodyPr wrap="square" rtlCol="0" anchor="ctr"/>
          <a:lstStyle/>
          <a:p>
            <a:pPr marL="0" indent="0">
              <a:buNone/>
            </a:pPr>
            <a:r>
              <a:rPr lang="en-US" sz="1200" b="1" dirty="0">
                <a:solidFill>
                  <a:srgbClr val="FFCC4F"/>
                </a:solidFill>
                <a:latin typeface="Calibri" pitchFamily="34" charset="0"/>
                <a:ea typeface="Calibri" pitchFamily="34" charset="-122"/>
                <a:cs typeface="Calibri" pitchFamily="34" charset="-120"/>
              </a:rPr>
              <a:t>Prompt injection</a:t>
            </a:r>
            <a:endParaRPr lang="en-US" sz="1200" dirty="0"/>
          </a:p>
        </p:txBody>
      </p:sp>
      <p:sp>
        <p:nvSpPr>
          <p:cNvPr id="6" name="Text 4"/>
          <p:cNvSpPr/>
          <p:nvPr/>
        </p:nvSpPr>
        <p:spPr>
          <a:xfrm>
            <a:off x="640080" y="1847088"/>
            <a:ext cx="1737360" cy="365760"/>
          </a:xfrm>
          <a:prstGeom prst="rect">
            <a:avLst/>
          </a:prstGeom>
          <a:noFill/>
          <a:ln/>
        </p:spPr>
        <p:txBody>
          <a:bodyPr wrap="square" rtlCol="0" anchor="ctr"/>
          <a:lstStyle/>
          <a:p>
            <a:pPr marL="0" indent="0">
              <a:buNone/>
            </a:pPr>
            <a:r>
              <a:rPr lang="en-US" sz="900" i="1" dirty="0">
                <a:solidFill>
                  <a:srgbClr val="CCCCCC"/>
                </a:solidFill>
                <a:latin typeface="Calibri" pitchFamily="34" charset="0"/>
                <a:ea typeface="Calibri" pitchFamily="34" charset="-122"/>
                <a:cs typeface="Calibri" pitchFamily="34" charset="-120"/>
              </a:rPr>
              <a:t>Görünmeyen talimatlar</a:t>
            </a:r>
            <a:endParaRPr lang="en-US" sz="900" dirty="0"/>
          </a:p>
        </p:txBody>
      </p:sp>
      <p:sp>
        <p:nvSpPr>
          <p:cNvPr id="7" name="Shape 5"/>
          <p:cNvSpPr/>
          <p:nvPr/>
        </p:nvSpPr>
        <p:spPr>
          <a:xfrm>
            <a:off x="2587752" y="1463040"/>
            <a:ext cx="1920240" cy="777240"/>
          </a:xfrm>
          <a:prstGeom prst="roundRect">
            <a:avLst>
              <a:gd name="adj" fmla="val 5882"/>
            </a:avLst>
          </a:prstGeom>
          <a:solidFill>
            <a:srgbClr val="35353D"/>
          </a:solidFill>
          <a:ln w="15875">
            <a:solidFill>
              <a:srgbClr val="FFCC4F"/>
            </a:solidFill>
            <a:prstDash val="solid"/>
          </a:ln>
        </p:spPr>
        <p:txBody>
          <a:bodyPr/>
          <a:lstStyle/>
          <a:p>
            <a:endParaRPr lang="en-TR"/>
          </a:p>
        </p:txBody>
      </p:sp>
      <p:sp>
        <p:nvSpPr>
          <p:cNvPr id="8" name="Text 6"/>
          <p:cNvSpPr/>
          <p:nvPr/>
        </p:nvSpPr>
        <p:spPr>
          <a:xfrm>
            <a:off x="2679192" y="1536192"/>
            <a:ext cx="1737360" cy="320040"/>
          </a:xfrm>
          <a:prstGeom prst="rect">
            <a:avLst/>
          </a:prstGeom>
          <a:noFill/>
          <a:ln/>
        </p:spPr>
        <p:txBody>
          <a:bodyPr wrap="square" rtlCol="0" anchor="ctr"/>
          <a:lstStyle/>
          <a:p>
            <a:pPr marL="0" indent="0">
              <a:buNone/>
            </a:pPr>
            <a:r>
              <a:rPr lang="en-US" sz="1200" b="1" dirty="0">
                <a:solidFill>
                  <a:srgbClr val="FFCC4F"/>
                </a:solidFill>
                <a:latin typeface="Calibri" pitchFamily="34" charset="0"/>
                <a:ea typeface="Calibri" pitchFamily="34" charset="-122"/>
                <a:cs typeface="Calibri" pitchFamily="34" charset="-120"/>
              </a:rPr>
              <a:t>Tool injection</a:t>
            </a:r>
            <a:endParaRPr lang="en-US" sz="1200" dirty="0"/>
          </a:p>
        </p:txBody>
      </p:sp>
      <p:sp>
        <p:nvSpPr>
          <p:cNvPr id="9" name="Text 7"/>
          <p:cNvSpPr/>
          <p:nvPr/>
        </p:nvSpPr>
        <p:spPr>
          <a:xfrm>
            <a:off x="2679192" y="1847088"/>
            <a:ext cx="1737360" cy="365760"/>
          </a:xfrm>
          <a:prstGeom prst="rect">
            <a:avLst/>
          </a:prstGeom>
          <a:noFill/>
          <a:ln/>
        </p:spPr>
        <p:txBody>
          <a:bodyPr wrap="square" rtlCol="0" anchor="ctr"/>
          <a:lstStyle/>
          <a:p>
            <a:pPr marL="0" indent="0">
              <a:buNone/>
            </a:pPr>
            <a:r>
              <a:rPr lang="en-US" sz="900" i="1" dirty="0">
                <a:solidFill>
                  <a:srgbClr val="CCCCCC"/>
                </a:solidFill>
                <a:latin typeface="Calibri" pitchFamily="34" charset="0"/>
                <a:ea typeface="Calibri" pitchFamily="34" charset="-122"/>
                <a:cs typeface="Calibri" pitchFamily="34" charset="-120"/>
              </a:rPr>
              <a:t>Araç çağrısı manipülasyonu</a:t>
            </a:r>
            <a:endParaRPr lang="en-US" sz="900" dirty="0"/>
          </a:p>
        </p:txBody>
      </p:sp>
      <p:sp>
        <p:nvSpPr>
          <p:cNvPr id="10" name="Shape 8"/>
          <p:cNvSpPr/>
          <p:nvPr/>
        </p:nvSpPr>
        <p:spPr>
          <a:xfrm>
            <a:off x="4626864" y="1463040"/>
            <a:ext cx="1920240" cy="777240"/>
          </a:xfrm>
          <a:prstGeom prst="roundRect">
            <a:avLst>
              <a:gd name="adj" fmla="val 5882"/>
            </a:avLst>
          </a:prstGeom>
          <a:solidFill>
            <a:srgbClr val="35353D"/>
          </a:solidFill>
          <a:ln w="15875">
            <a:solidFill>
              <a:srgbClr val="FFCC4F"/>
            </a:solidFill>
            <a:prstDash val="solid"/>
          </a:ln>
        </p:spPr>
        <p:txBody>
          <a:bodyPr/>
          <a:lstStyle/>
          <a:p>
            <a:endParaRPr lang="en-TR"/>
          </a:p>
        </p:txBody>
      </p:sp>
      <p:sp>
        <p:nvSpPr>
          <p:cNvPr id="11" name="Text 9"/>
          <p:cNvSpPr/>
          <p:nvPr/>
        </p:nvSpPr>
        <p:spPr>
          <a:xfrm>
            <a:off x="4718304" y="1536192"/>
            <a:ext cx="1737360" cy="320040"/>
          </a:xfrm>
          <a:prstGeom prst="rect">
            <a:avLst/>
          </a:prstGeom>
          <a:noFill/>
          <a:ln/>
        </p:spPr>
        <p:txBody>
          <a:bodyPr wrap="square" rtlCol="0" anchor="ctr"/>
          <a:lstStyle/>
          <a:p>
            <a:pPr marL="0" indent="0">
              <a:buNone/>
            </a:pPr>
            <a:r>
              <a:rPr lang="en-US" sz="1200" b="1" dirty="0">
                <a:solidFill>
                  <a:srgbClr val="FFCC4F"/>
                </a:solidFill>
                <a:latin typeface="Calibri" pitchFamily="34" charset="0"/>
                <a:ea typeface="Calibri" pitchFamily="34" charset="-122"/>
                <a:cs typeface="Calibri" pitchFamily="34" charset="-120"/>
              </a:rPr>
              <a:t>Memory poisoning</a:t>
            </a:r>
            <a:endParaRPr lang="en-US" sz="1200" dirty="0"/>
          </a:p>
        </p:txBody>
      </p:sp>
      <p:sp>
        <p:nvSpPr>
          <p:cNvPr id="12" name="Text 10"/>
          <p:cNvSpPr/>
          <p:nvPr/>
        </p:nvSpPr>
        <p:spPr>
          <a:xfrm>
            <a:off x="4718304" y="1847088"/>
            <a:ext cx="1737360" cy="365760"/>
          </a:xfrm>
          <a:prstGeom prst="rect">
            <a:avLst/>
          </a:prstGeom>
          <a:noFill/>
          <a:ln/>
        </p:spPr>
        <p:txBody>
          <a:bodyPr wrap="square" rtlCol="0" anchor="ctr"/>
          <a:lstStyle/>
          <a:p>
            <a:pPr marL="0" indent="0">
              <a:buNone/>
            </a:pPr>
            <a:r>
              <a:rPr lang="en-US" sz="900" i="1" dirty="0">
                <a:solidFill>
                  <a:srgbClr val="CCCCCC"/>
                </a:solidFill>
                <a:latin typeface="Calibri" pitchFamily="34" charset="0"/>
                <a:ea typeface="Calibri" pitchFamily="34" charset="-122"/>
                <a:cs typeface="Calibri" pitchFamily="34" charset="-120"/>
              </a:rPr>
              <a:t>Hafıza zehirlenmesi</a:t>
            </a:r>
            <a:endParaRPr lang="en-US" sz="900" dirty="0"/>
          </a:p>
        </p:txBody>
      </p:sp>
      <p:sp>
        <p:nvSpPr>
          <p:cNvPr id="13" name="Shape 11"/>
          <p:cNvSpPr/>
          <p:nvPr/>
        </p:nvSpPr>
        <p:spPr>
          <a:xfrm>
            <a:off x="6665976" y="1463040"/>
            <a:ext cx="1920240" cy="777240"/>
          </a:xfrm>
          <a:prstGeom prst="roundRect">
            <a:avLst>
              <a:gd name="adj" fmla="val 5882"/>
            </a:avLst>
          </a:prstGeom>
          <a:solidFill>
            <a:srgbClr val="35353D"/>
          </a:solidFill>
          <a:ln w="15875">
            <a:solidFill>
              <a:srgbClr val="FFCC4F"/>
            </a:solidFill>
            <a:prstDash val="solid"/>
          </a:ln>
        </p:spPr>
        <p:txBody>
          <a:bodyPr/>
          <a:lstStyle/>
          <a:p>
            <a:endParaRPr lang="en-TR"/>
          </a:p>
        </p:txBody>
      </p:sp>
      <p:sp>
        <p:nvSpPr>
          <p:cNvPr id="14" name="Text 12"/>
          <p:cNvSpPr/>
          <p:nvPr/>
        </p:nvSpPr>
        <p:spPr>
          <a:xfrm>
            <a:off x="6757416" y="1536192"/>
            <a:ext cx="1737360" cy="320040"/>
          </a:xfrm>
          <a:prstGeom prst="rect">
            <a:avLst/>
          </a:prstGeom>
          <a:noFill/>
          <a:ln/>
        </p:spPr>
        <p:txBody>
          <a:bodyPr wrap="square" rtlCol="0" anchor="ctr"/>
          <a:lstStyle/>
          <a:p>
            <a:pPr marL="0" indent="0">
              <a:buNone/>
            </a:pPr>
            <a:r>
              <a:rPr lang="en-US" sz="1200" b="1" dirty="0">
                <a:solidFill>
                  <a:srgbClr val="FFCC4F"/>
                </a:solidFill>
                <a:latin typeface="Calibri" pitchFamily="34" charset="0"/>
                <a:ea typeface="Calibri" pitchFamily="34" charset="-122"/>
                <a:cs typeface="Calibri" pitchFamily="34" charset="-120"/>
              </a:rPr>
              <a:t>RAG poisoning</a:t>
            </a:r>
            <a:endParaRPr lang="en-US" sz="1200" dirty="0"/>
          </a:p>
        </p:txBody>
      </p:sp>
      <p:sp>
        <p:nvSpPr>
          <p:cNvPr id="15" name="Text 13"/>
          <p:cNvSpPr/>
          <p:nvPr/>
        </p:nvSpPr>
        <p:spPr>
          <a:xfrm>
            <a:off x="6757416" y="1847088"/>
            <a:ext cx="1737360" cy="365760"/>
          </a:xfrm>
          <a:prstGeom prst="rect">
            <a:avLst/>
          </a:prstGeom>
          <a:noFill/>
          <a:ln/>
        </p:spPr>
        <p:txBody>
          <a:bodyPr wrap="square" rtlCol="0" anchor="ctr"/>
          <a:lstStyle/>
          <a:p>
            <a:pPr marL="0" indent="0">
              <a:buNone/>
            </a:pPr>
            <a:r>
              <a:rPr lang="en-US" sz="900" i="1" dirty="0">
                <a:solidFill>
                  <a:srgbClr val="CCCCCC"/>
                </a:solidFill>
                <a:latin typeface="Calibri" pitchFamily="34" charset="0"/>
                <a:ea typeface="Calibri" pitchFamily="34" charset="-122"/>
                <a:cs typeface="Calibri" pitchFamily="34" charset="-120"/>
              </a:rPr>
              <a:t>Bilgi kaynağı kirletme</a:t>
            </a:r>
            <a:endParaRPr lang="en-US" sz="900" dirty="0"/>
          </a:p>
        </p:txBody>
      </p:sp>
      <p:sp>
        <p:nvSpPr>
          <p:cNvPr id="16" name="Shape 14"/>
          <p:cNvSpPr/>
          <p:nvPr/>
        </p:nvSpPr>
        <p:spPr>
          <a:xfrm>
            <a:off x="548640" y="2350008"/>
            <a:ext cx="1920240" cy="777240"/>
          </a:xfrm>
          <a:prstGeom prst="roundRect">
            <a:avLst>
              <a:gd name="adj" fmla="val 5882"/>
            </a:avLst>
          </a:prstGeom>
          <a:solidFill>
            <a:srgbClr val="35353D"/>
          </a:solidFill>
          <a:ln w="15875">
            <a:solidFill>
              <a:srgbClr val="FFCC4F"/>
            </a:solidFill>
            <a:prstDash val="solid"/>
          </a:ln>
        </p:spPr>
        <p:txBody>
          <a:bodyPr/>
          <a:lstStyle/>
          <a:p>
            <a:endParaRPr lang="en-TR"/>
          </a:p>
        </p:txBody>
      </p:sp>
      <p:sp>
        <p:nvSpPr>
          <p:cNvPr id="17" name="Text 15"/>
          <p:cNvSpPr/>
          <p:nvPr/>
        </p:nvSpPr>
        <p:spPr>
          <a:xfrm>
            <a:off x="640080" y="2423160"/>
            <a:ext cx="1737360" cy="320040"/>
          </a:xfrm>
          <a:prstGeom prst="rect">
            <a:avLst/>
          </a:prstGeom>
          <a:noFill/>
          <a:ln/>
        </p:spPr>
        <p:txBody>
          <a:bodyPr wrap="square" rtlCol="0" anchor="ctr"/>
          <a:lstStyle/>
          <a:p>
            <a:pPr marL="0" indent="0">
              <a:buNone/>
            </a:pPr>
            <a:r>
              <a:rPr lang="en-US" sz="1200" b="1" dirty="0">
                <a:solidFill>
                  <a:srgbClr val="FFCC4F"/>
                </a:solidFill>
                <a:latin typeface="Calibri" pitchFamily="34" charset="0"/>
                <a:ea typeface="Calibri" pitchFamily="34" charset="-122"/>
                <a:cs typeface="Calibri" pitchFamily="34" charset="-120"/>
              </a:rPr>
              <a:t>Privilege escalation</a:t>
            </a:r>
            <a:endParaRPr lang="en-US" sz="1200" dirty="0"/>
          </a:p>
        </p:txBody>
      </p:sp>
      <p:sp>
        <p:nvSpPr>
          <p:cNvPr id="18" name="Text 16"/>
          <p:cNvSpPr/>
          <p:nvPr/>
        </p:nvSpPr>
        <p:spPr>
          <a:xfrm>
            <a:off x="640080" y="2734056"/>
            <a:ext cx="1737360" cy="365760"/>
          </a:xfrm>
          <a:prstGeom prst="rect">
            <a:avLst/>
          </a:prstGeom>
          <a:noFill/>
          <a:ln/>
        </p:spPr>
        <p:txBody>
          <a:bodyPr wrap="square" rtlCol="0" anchor="ctr"/>
          <a:lstStyle/>
          <a:p>
            <a:pPr marL="0" indent="0">
              <a:buNone/>
            </a:pPr>
            <a:r>
              <a:rPr lang="en-US" sz="900" i="1" dirty="0">
                <a:solidFill>
                  <a:srgbClr val="CCCCCC"/>
                </a:solidFill>
                <a:latin typeface="Calibri" pitchFamily="34" charset="0"/>
                <a:ea typeface="Calibri" pitchFamily="34" charset="-122"/>
                <a:cs typeface="Calibri" pitchFamily="34" charset="-120"/>
              </a:rPr>
              <a:t>Yetki yükseltme</a:t>
            </a:r>
            <a:endParaRPr lang="en-US" sz="900" dirty="0"/>
          </a:p>
        </p:txBody>
      </p:sp>
      <p:sp>
        <p:nvSpPr>
          <p:cNvPr id="19" name="Shape 17"/>
          <p:cNvSpPr/>
          <p:nvPr/>
        </p:nvSpPr>
        <p:spPr>
          <a:xfrm>
            <a:off x="2587752" y="2350008"/>
            <a:ext cx="1920240" cy="777240"/>
          </a:xfrm>
          <a:prstGeom prst="roundRect">
            <a:avLst>
              <a:gd name="adj" fmla="val 5882"/>
            </a:avLst>
          </a:prstGeom>
          <a:solidFill>
            <a:srgbClr val="35353D"/>
          </a:solidFill>
          <a:ln w="15875">
            <a:solidFill>
              <a:srgbClr val="FFCC4F"/>
            </a:solidFill>
            <a:prstDash val="solid"/>
          </a:ln>
        </p:spPr>
        <p:txBody>
          <a:bodyPr/>
          <a:lstStyle/>
          <a:p>
            <a:endParaRPr lang="en-TR"/>
          </a:p>
        </p:txBody>
      </p:sp>
      <p:sp>
        <p:nvSpPr>
          <p:cNvPr id="20" name="Text 18"/>
          <p:cNvSpPr/>
          <p:nvPr/>
        </p:nvSpPr>
        <p:spPr>
          <a:xfrm>
            <a:off x="2679192" y="2423160"/>
            <a:ext cx="1737360" cy="320040"/>
          </a:xfrm>
          <a:prstGeom prst="rect">
            <a:avLst/>
          </a:prstGeom>
          <a:noFill/>
          <a:ln/>
        </p:spPr>
        <p:txBody>
          <a:bodyPr wrap="square" rtlCol="0" anchor="ctr"/>
          <a:lstStyle/>
          <a:p>
            <a:pPr marL="0" indent="0">
              <a:buNone/>
            </a:pPr>
            <a:r>
              <a:rPr lang="en-US" sz="1200" b="1" dirty="0">
                <a:solidFill>
                  <a:srgbClr val="FFCC4F"/>
                </a:solidFill>
                <a:latin typeface="Calibri" pitchFamily="34" charset="0"/>
                <a:ea typeface="Calibri" pitchFamily="34" charset="-122"/>
                <a:cs typeface="Calibri" pitchFamily="34" charset="-120"/>
              </a:rPr>
              <a:t>Credential leakage</a:t>
            </a:r>
            <a:endParaRPr lang="en-US" sz="1200" dirty="0"/>
          </a:p>
        </p:txBody>
      </p:sp>
      <p:sp>
        <p:nvSpPr>
          <p:cNvPr id="21" name="Text 19"/>
          <p:cNvSpPr/>
          <p:nvPr/>
        </p:nvSpPr>
        <p:spPr>
          <a:xfrm>
            <a:off x="2679192" y="2734056"/>
            <a:ext cx="1737360" cy="365760"/>
          </a:xfrm>
          <a:prstGeom prst="rect">
            <a:avLst/>
          </a:prstGeom>
          <a:noFill/>
          <a:ln/>
        </p:spPr>
        <p:txBody>
          <a:bodyPr wrap="square" rtlCol="0" anchor="ctr"/>
          <a:lstStyle/>
          <a:p>
            <a:pPr marL="0" indent="0">
              <a:buNone/>
            </a:pPr>
            <a:r>
              <a:rPr lang="en-US" sz="900" i="1" dirty="0">
                <a:solidFill>
                  <a:srgbClr val="CCCCCC"/>
                </a:solidFill>
                <a:latin typeface="Calibri" pitchFamily="34" charset="0"/>
                <a:ea typeface="Calibri" pitchFamily="34" charset="-122"/>
                <a:cs typeface="Calibri" pitchFamily="34" charset="-120"/>
              </a:rPr>
              <a:t>Kimlik bilgisi sızıntısı</a:t>
            </a:r>
            <a:endParaRPr lang="en-US" sz="900" dirty="0"/>
          </a:p>
        </p:txBody>
      </p:sp>
      <p:sp>
        <p:nvSpPr>
          <p:cNvPr id="22" name="Shape 20"/>
          <p:cNvSpPr/>
          <p:nvPr/>
        </p:nvSpPr>
        <p:spPr>
          <a:xfrm>
            <a:off x="4626864" y="2350008"/>
            <a:ext cx="1920240" cy="777240"/>
          </a:xfrm>
          <a:prstGeom prst="roundRect">
            <a:avLst>
              <a:gd name="adj" fmla="val 5882"/>
            </a:avLst>
          </a:prstGeom>
          <a:solidFill>
            <a:srgbClr val="35353D"/>
          </a:solidFill>
          <a:ln w="15875">
            <a:solidFill>
              <a:srgbClr val="FFCC4F"/>
            </a:solidFill>
            <a:prstDash val="solid"/>
          </a:ln>
        </p:spPr>
        <p:txBody>
          <a:bodyPr/>
          <a:lstStyle/>
          <a:p>
            <a:endParaRPr lang="en-TR"/>
          </a:p>
        </p:txBody>
      </p:sp>
      <p:sp>
        <p:nvSpPr>
          <p:cNvPr id="23" name="Text 21"/>
          <p:cNvSpPr/>
          <p:nvPr/>
        </p:nvSpPr>
        <p:spPr>
          <a:xfrm>
            <a:off x="4718304" y="2423160"/>
            <a:ext cx="1737360" cy="320040"/>
          </a:xfrm>
          <a:prstGeom prst="rect">
            <a:avLst/>
          </a:prstGeom>
          <a:noFill/>
          <a:ln/>
        </p:spPr>
        <p:txBody>
          <a:bodyPr wrap="square" rtlCol="0" anchor="ctr"/>
          <a:lstStyle/>
          <a:p>
            <a:pPr marL="0" indent="0">
              <a:buNone/>
            </a:pPr>
            <a:r>
              <a:rPr lang="en-US" sz="1200" b="1" dirty="0">
                <a:solidFill>
                  <a:srgbClr val="FFCC4F"/>
                </a:solidFill>
                <a:latin typeface="Calibri" pitchFamily="34" charset="0"/>
                <a:ea typeface="Calibri" pitchFamily="34" charset="-122"/>
                <a:cs typeface="Calibri" pitchFamily="34" charset="-120"/>
              </a:rPr>
              <a:t>Cross-tenant leak</a:t>
            </a:r>
            <a:endParaRPr lang="en-US" sz="1200" dirty="0"/>
          </a:p>
        </p:txBody>
      </p:sp>
      <p:sp>
        <p:nvSpPr>
          <p:cNvPr id="24" name="Text 22"/>
          <p:cNvSpPr/>
          <p:nvPr/>
        </p:nvSpPr>
        <p:spPr>
          <a:xfrm>
            <a:off x="4718304" y="2734056"/>
            <a:ext cx="1737360" cy="365760"/>
          </a:xfrm>
          <a:prstGeom prst="rect">
            <a:avLst/>
          </a:prstGeom>
          <a:noFill/>
          <a:ln/>
        </p:spPr>
        <p:txBody>
          <a:bodyPr wrap="square" rtlCol="0" anchor="ctr"/>
          <a:lstStyle/>
          <a:p>
            <a:pPr marL="0" indent="0">
              <a:buNone/>
            </a:pPr>
            <a:r>
              <a:rPr lang="en-US" sz="900" i="1" dirty="0">
                <a:solidFill>
                  <a:srgbClr val="CCCCCC"/>
                </a:solidFill>
                <a:latin typeface="Calibri" pitchFamily="34" charset="0"/>
                <a:ea typeface="Calibri" pitchFamily="34" charset="-122"/>
                <a:cs typeface="Calibri" pitchFamily="34" charset="-120"/>
              </a:rPr>
              <a:t>Tenant arası veri kaçağı</a:t>
            </a:r>
            <a:endParaRPr lang="en-US" sz="900" dirty="0"/>
          </a:p>
        </p:txBody>
      </p:sp>
      <p:sp>
        <p:nvSpPr>
          <p:cNvPr id="25" name="Shape 23"/>
          <p:cNvSpPr/>
          <p:nvPr/>
        </p:nvSpPr>
        <p:spPr>
          <a:xfrm>
            <a:off x="6665976" y="2350008"/>
            <a:ext cx="1920240" cy="777240"/>
          </a:xfrm>
          <a:prstGeom prst="roundRect">
            <a:avLst>
              <a:gd name="adj" fmla="val 5882"/>
            </a:avLst>
          </a:prstGeom>
          <a:solidFill>
            <a:srgbClr val="35353D"/>
          </a:solidFill>
          <a:ln w="15875">
            <a:solidFill>
              <a:srgbClr val="FFCC4F"/>
            </a:solidFill>
            <a:prstDash val="solid"/>
          </a:ln>
        </p:spPr>
        <p:txBody>
          <a:bodyPr/>
          <a:lstStyle/>
          <a:p>
            <a:endParaRPr lang="en-TR"/>
          </a:p>
        </p:txBody>
      </p:sp>
      <p:sp>
        <p:nvSpPr>
          <p:cNvPr id="26" name="Text 24"/>
          <p:cNvSpPr/>
          <p:nvPr/>
        </p:nvSpPr>
        <p:spPr>
          <a:xfrm>
            <a:off x="6757416" y="2423160"/>
            <a:ext cx="1737360" cy="320040"/>
          </a:xfrm>
          <a:prstGeom prst="rect">
            <a:avLst/>
          </a:prstGeom>
          <a:noFill/>
          <a:ln/>
        </p:spPr>
        <p:txBody>
          <a:bodyPr wrap="square" rtlCol="0" anchor="ctr"/>
          <a:lstStyle/>
          <a:p>
            <a:pPr marL="0" indent="0">
              <a:buNone/>
            </a:pPr>
            <a:r>
              <a:rPr lang="en-US" sz="1200" b="1" dirty="0">
                <a:solidFill>
                  <a:srgbClr val="FFCC4F"/>
                </a:solidFill>
                <a:latin typeface="Calibri" pitchFamily="34" charset="0"/>
                <a:ea typeface="Calibri" pitchFamily="34" charset="-122"/>
                <a:cs typeface="Calibri" pitchFamily="34" charset="-120"/>
              </a:rPr>
              <a:t>Unauthorized exec</a:t>
            </a:r>
            <a:endParaRPr lang="en-US" sz="1200" dirty="0"/>
          </a:p>
        </p:txBody>
      </p:sp>
      <p:sp>
        <p:nvSpPr>
          <p:cNvPr id="27" name="Text 25"/>
          <p:cNvSpPr/>
          <p:nvPr/>
        </p:nvSpPr>
        <p:spPr>
          <a:xfrm>
            <a:off x="6757416" y="2734056"/>
            <a:ext cx="1737360" cy="365760"/>
          </a:xfrm>
          <a:prstGeom prst="rect">
            <a:avLst/>
          </a:prstGeom>
          <a:noFill/>
          <a:ln/>
        </p:spPr>
        <p:txBody>
          <a:bodyPr wrap="square" rtlCol="0" anchor="ctr"/>
          <a:lstStyle/>
          <a:p>
            <a:pPr marL="0" indent="0">
              <a:buNone/>
            </a:pPr>
            <a:r>
              <a:rPr lang="en-US" sz="900" i="1" dirty="0">
                <a:solidFill>
                  <a:srgbClr val="CCCCCC"/>
                </a:solidFill>
                <a:latin typeface="Calibri" pitchFamily="34" charset="0"/>
                <a:ea typeface="Calibri" pitchFamily="34" charset="-122"/>
                <a:cs typeface="Calibri" pitchFamily="34" charset="-120"/>
              </a:rPr>
              <a:t>Yetkisiz tool yürütme</a:t>
            </a:r>
            <a:endParaRPr lang="en-US" sz="900" dirty="0"/>
          </a:p>
        </p:txBody>
      </p:sp>
      <p:sp>
        <p:nvSpPr>
          <p:cNvPr id="28" name="Shape 26"/>
          <p:cNvSpPr/>
          <p:nvPr/>
        </p:nvSpPr>
        <p:spPr>
          <a:xfrm>
            <a:off x="548640" y="3236976"/>
            <a:ext cx="1920240" cy="777240"/>
          </a:xfrm>
          <a:prstGeom prst="roundRect">
            <a:avLst>
              <a:gd name="adj" fmla="val 5882"/>
            </a:avLst>
          </a:prstGeom>
          <a:solidFill>
            <a:srgbClr val="35353D"/>
          </a:solidFill>
          <a:ln w="15875">
            <a:solidFill>
              <a:srgbClr val="FFCC4F"/>
            </a:solidFill>
            <a:prstDash val="solid"/>
          </a:ln>
        </p:spPr>
        <p:txBody>
          <a:bodyPr/>
          <a:lstStyle/>
          <a:p>
            <a:endParaRPr lang="en-TR"/>
          </a:p>
        </p:txBody>
      </p:sp>
      <p:sp>
        <p:nvSpPr>
          <p:cNvPr id="29" name="Text 27"/>
          <p:cNvSpPr/>
          <p:nvPr/>
        </p:nvSpPr>
        <p:spPr>
          <a:xfrm>
            <a:off x="640080" y="3310128"/>
            <a:ext cx="1737360" cy="320040"/>
          </a:xfrm>
          <a:prstGeom prst="rect">
            <a:avLst/>
          </a:prstGeom>
          <a:noFill/>
          <a:ln/>
        </p:spPr>
        <p:txBody>
          <a:bodyPr wrap="square" rtlCol="0" anchor="ctr"/>
          <a:lstStyle/>
          <a:p>
            <a:pPr marL="0" indent="0">
              <a:buNone/>
            </a:pPr>
            <a:r>
              <a:rPr lang="en-US" sz="1200" b="1" dirty="0">
                <a:solidFill>
                  <a:srgbClr val="FFCC4F"/>
                </a:solidFill>
                <a:latin typeface="Calibri" pitchFamily="34" charset="0"/>
                <a:ea typeface="Calibri" pitchFamily="34" charset="-122"/>
                <a:cs typeface="Calibri" pitchFamily="34" charset="-120"/>
              </a:rPr>
              <a:t>Data exfiltration</a:t>
            </a:r>
            <a:endParaRPr lang="en-US" sz="1200" dirty="0"/>
          </a:p>
        </p:txBody>
      </p:sp>
      <p:sp>
        <p:nvSpPr>
          <p:cNvPr id="30" name="Text 28"/>
          <p:cNvSpPr/>
          <p:nvPr/>
        </p:nvSpPr>
        <p:spPr>
          <a:xfrm>
            <a:off x="640080" y="3621024"/>
            <a:ext cx="1737360" cy="365760"/>
          </a:xfrm>
          <a:prstGeom prst="rect">
            <a:avLst/>
          </a:prstGeom>
          <a:noFill/>
          <a:ln/>
        </p:spPr>
        <p:txBody>
          <a:bodyPr wrap="square" rtlCol="0" anchor="ctr"/>
          <a:lstStyle/>
          <a:p>
            <a:pPr marL="0" indent="0">
              <a:buNone/>
            </a:pPr>
            <a:r>
              <a:rPr lang="en-US" sz="900" i="1" dirty="0">
                <a:solidFill>
                  <a:srgbClr val="CCCCCC"/>
                </a:solidFill>
                <a:latin typeface="Calibri" pitchFamily="34" charset="0"/>
                <a:ea typeface="Calibri" pitchFamily="34" charset="-122"/>
                <a:cs typeface="Calibri" pitchFamily="34" charset="-120"/>
              </a:rPr>
              <a:t>Veri dışa aktarımı</a:t>
            </a:r>
            <a:endParaRPr lang="en-US" sz="900" dirty="0"/>
          </a:p>
        </p:txBody>
      </p:sp>
      <p:sp>
        <p:nvSpPr>
          <p:cNvPr id="31" name="Shape 29"/>
          <p:cNvSpPr/>
          <p:nvPr/>
        </p:nvSpPr>
        <p:spPr>
          <a:xfrm>
            <a:off x="2587752" y="3236976"/>
            <a:ext cx="1920240" cy="777240"/>
          </a:xfrm>
          <a:prstGeom prst="roundRect">
            <a:avLst>
              <a:gd name="adj" fmla="val 5882"/>
            </a:avLst>
          </a:prstGeom>
          <a:solidFill>
            <a:srgbClr val="35353D"/>
          </a:solidFill>
          <a:ln w="15875">
            <a:solidFill>
              <a:srgbClr val="FFCC4F"/>
            </a:solidFill>
            <a:prstDash val="solid"/>
          </a:ln>
        </p:spPr>
        <p:txBody>
          <a:bodyPr/>
          <a:lstStyle/>
          <a:p>
            <a:endParaRPr lang="en-TR"/>
          </a:p>
        </p:txBody>
      </p:sp>
      <p:sp>
        <p:nvSpPr>
          <p:cNvPr id="32" name="Text 30"/>
          <p:cNvSpPr/>
          <p:nvPr/>
        </p:nvSpPr>
        <p:spPr>
          <a:xfrm>
            <a:off x="2679192" y="3310128"/>
            <a:ext cx="1737360" cy="320040"/>
          </a:xfrm>
          <a:prstGeom prst="rect">
            <a:avLst/>
          </a:prstGeom>
          <a:noFill/>
          <a:ln/>
        </p:spPr>
        <p:txBody>
          <a:bodyPr wrap="square" rtlCol="0" anchor="ctr"/>
          <a:lstStyle/>
          <a:p>
            <a:pPr marL="0" indent="0">
              <a:buNone/>
            </a:pPr>
            <a:r>
              <a:rPr lang="en-US" sz="1200" b="1" dirty="0">
                <a:solidFill>
                  <a:srgbClr val="FFCC4F"/>
                </a:solidFill>
                <a:latin typeface="Calibri" pitchFamily="34" charset="0"/>
                <a:ea typeface="Calibri" pitchFamily="34" charset="-122"/>
                <a:cs typeface="Calibri" pitchFamily="34" charset="-120"/>
              </a:rPr>
              <a:t>Unbounded loop</a:t>
            </a:r>
            <a:endParaRPr lang="en-US" sz="1200" dirty="0"/>
          </a:p>
        </p:txBody>
      </p:sp>
      <p:sp>
        <p:nvSpPr>
          <p:cNvPr id="33" name="Text 31"/>
          <p:cNvSpPr/>
          <p:nvPr/>
        </p:nvSpPr>
        <p:spPr>
          <a:xfrm>
            <a:off x="2679192" y="3621024"/>
            <a:ext cx="1737360" cy="365760"/>
          </a:xfrm>
          <a:prstGeom prst="rect">
            <a:avLst/>
          </a:prstGeom>
          <a:noFill/>
          <a:ln/>
        </p:spPr>
        <p:txBody>
          <a:bodyPr wrap="square" rtlCol="0" anchor="ctr"/>
          <a:lstStyle/>
          <a:p>
            <a:pPr marL="0" indent="0">
              <a:buNone/>
            </a:pPr>
            <a:r>
              <a:rPr lang="en-US" sz="900" i="1" dirty="0">
                <a:solidFill>
                  <a:srgbClr val="CCCCCC"/>
                </a:solidFill>
                <a:latin typeface="Calibri" pitchFamily="34" charset="0"/>
                <a:ea typeface="Calibri" pitchFamily="34" charset="-122"/>
                <a:cs typeface="Calibri" pitchFamily="34" charset="-120"/>
              </a:rPr>
              <a:t>Sınırsız döngü, maliyet</a:t>
            </a:r>
            <a:endParaRPr lang="en-US" sz="900" dirty="0"/>
          </a:p>
        </p:txBody>
      </p:sp>
      <p:sp>
        <p:nvSpPr>
          <p:cNvPr id="34" name="Shape 32"/>
          <p:cNvSpPr/>
          <p:nvPr/>
        </p:nvSpPr>
        <p:spPr>
          <a:xfrm>
            <a:off x="4626864" y="3236976"/>
            <a:ext cx="1920240" cy="777240"/>
          </a:xfrm>
          <a:prstGeom prst="roundRect">
            <a:avLst>
              <a:gd name="adj" fmla="val 5882"/>
            </a:avLst>
          </a:prstGeom>
          <a:solidFill>
            <a:srgbClr val="35353D"/>
          </a:solidFill>
          <a:ln w="15875">
            <a:solidFill>
              <a:srgbClr val="FFCC4F"/>
            </a:solidFill>
            <a:prstDash val="solid"/>
          </a:ln>
        </p:spPr>
        <p:txBody>
          <a:bodyPr/>
          <a:lstStyle/>
          <a:p>
            <a:endParaRPr lang="en-TR"/>
          </a:p>
        </p:txBody>
      </p:sp>
      <p:sp>
        <p:nvSpPr>
          <p:cNvPr id="35" name="Text 33"/>
          <p:cNvSpPr/>
          <p:nvPr/>
        </p:nvSpPr>
        <p:spPr>
          <a:xfrm>
            <a:off x="4718304" y="3310128"/>
            <a:ext cx="1737360" cy="320040"/>
          </a:xfrm>
          <a:prstGeom prst="rect">
            <a:avLst/>
          </a:prstGeom>
          <a:noFill/>
          <a:ln/>
        </p:spPr>
        <p:txBody>
          <a:bodyPr wrap="square" rtlCol="0" anchor="ctr"/>
          <a:lstStyle/>
          <a:p>
            <a:pPr marL="0" indent="0">
              <a:buNone/>
            </a:pPr>
            <a:r>
              <a:rPr lang="en-US" sz="1200" b="1" dirty="0">
                <a:solidFill>
                  <a:srgbClr val="FFCC4F"/>
                </a:solidFill>
                <a:latin typeface="Calibri" pitchFamily="34" charset="0"/>
                <a:ea typeface="Calibri" pitchFamily="34" charset="-122"/>
                <a:cs typeface="Calibri" pitchFamily="34" charset="-120"/>
              </a:rPr>
              <a:t>Malicious MCP</a:t>
            </a:r>
            <a:endParaRPr lang="en-US" sz="1200" dirty="0"/>
          </a:p>
        </p:txBody>
      </p:sp>
      <p:sp>
        <p:nvSpPr>
          <p:cNvPr id="36" name="Text 34"/>
          <p:cNvSpPr/>
          <p:nvPr/>
        </p:nvSpPr>
        <p:spPr>
          <a:xfrm>
            <a:off x="4718304" y="3621024"/>
            <a:ext cx="1737360" cy="365760"/>
          </a:xfrm>
          <a:prstGeom prst="rect">
            <a:avLst/>
          </a:prstGeom>
          <a:noFill/>
          <a:ln/>
        </p:spPr>
        <p:txBody>
          <a:bodyPr wrap="square" rtlCol="0" anchor="ctr"/>
          <a:lstStyle/>
          <a:p>
            <a:pPr marL="0" indent="0">
              <a:buNone/>
            </a:pPr>
            <a:r>
              <a:rPr lang="en-US" sz="900" i="1" dirty="0">
                <a:solidFill>
                  <a:srgbClr val="CCCCCC"/>
                </a:solidFill>
                <a:latin typeface="Calibri" pitchFamily="34" charset="0"/>
                <a:ea typeface="Calibri" pitchFamily="34" charset="-122"/>
                <a:cs typeface="Calibri" pitchFamily="34" charset="-120"/>
              </a:rPr>
              <a:t>Kötü niyetli MCP server</a:t>
            </a:r>
            <a:endParaRPr lang="en-US" sz="900" dirty="0"/>
          </a:p>
        </p:txBody>
      </p:sp>
      <p:sp>
        <p:nvSpPr>
          <p:cNvPr id="37" name="Shape 35"/>
          <p:cNvSpPr/>
          <p:nvPr/>
        </p:nvSpPr>
        <p:spPr>
          <a:xfrm>
            <a:off x="6665976" y="3236976"/>
            <a:ext cx="1920240" cy="777240"/>
          </a:xfrm>
          <a:prstGeom prst="roundRect">
            <a:avLst>
              <a:gd name="adj" fmla="val 5882"/>
            </a:avLst>
          </a:prstGeom>
          <a:solidFill>
            <a:srgbClr val="35353D"/>
          </a:solidFill>
          <a:ln w="15875">
            <a:solidFill>
              <a:srgbClr val="FFCC4F"/>
            </a:solidFill>
            <a:prstDash val="solid"/>
          </a:ln>
        </p:spPr>
        <p:txBody>
          <a:bodyPr/>
          <a:lstStyle/>
          <a:p>
            <a:endParaRPr lang="en-TR"/>
          </a:p>
        </p:txBody>
      </p:sp>
      <p:sp>
        <p:nvSpPr>
          <p:cNvPr id="38" name="Text 36"/>
          <p:cNvSpPr/>
          <p:nvPr/>
        </p:nvSpPr>
        <p:spPr>
          <a:xfrm>
            <a:off x="6757416" y="3310128"/>
            <a:ext cx="1737360" cy="320040"/>
          </a:xfrm>
          <a:prstGeom prst="rect">
            <a:avLst/>
          </a:prstGeom>
          <a:noFill/>
          <a:ln/>
        </p:spPr>
        <p:txBody>
          <a:bodyPr wrap="square" rtlCol="0" anchor="ctr"/>
          <a:lstStyle/>
          <a:p>
            <a:pPr marL="0" indent="0">
              <a:buNone/>
            </a:pPr>
            <a:r>
              <a:rPr lang="en-US" sz="1200" b="1" dirty="0">
                <a:solidFill>
                  <a:srgbClr val="FFCC4F"/>
                </a:solidFill>
                <a:latin typeface="Calibri" pitchFamily="34" charset="0"/>
                <a:ea typeface="Calibri" pitchFamily="34" charset="-122"/>
                <a:cs typeface="Calibri" pitchFamily="34" charset="-120"/>
              </a:rPr>
              <a:t>Supply chain risk</a:t>
            </a:r>
            <a:endParaRPr lang="en-US" sz="1200" dirty="0"/>
          </a:p>
        </p:txBody>
      </p:sp>
      <p:sp>
        <p:nvSpPr>
          <p:cNvPr id="39" name="Text 37"/>
          <p:cNvSpPr/>
          <p:nvPr/>
        </p:nvSpPr>
        <p:spPr>
          <a:xfrm>
            <a:off x="6757416" y="3621024"/>
            <a:ext cx="1737360" cy="365760"/>
          </a:xfrm>
          <a:prstGeom prst="rect">
            <a:avLst/>
          </a:prstGeom>
          <a:noFill/>
          <a:ln/>
        </p:spPr>
        <p:txBody>
          <a:bodyPr wrap="square" rtlCol="0" anchor="ctr"/>
          <a:lstStyle/>
          <a:p>
            <a:pPr marL="0" indent="0">
              <a:buNone/>
            </a:pPr>
            <a:r>
              <a:rPr lang="en-US" sz="900" i="1" dirty="0">
                <a:solidFill>
                  <a:srgbClr val="CCCCCC"/>
                </a:solidFill>
                <a:latin typeface="Calibri" pitchFamily="34" charset="0"/>
                <a:ea typeface="Calibri" pitchFamily="34" charset="-122"/>
                <a:cs typeface="Calibri" pitchFamily="34" charset="-120"/>
              </a:rPr>
              <a:t>Tedarik zinciri riski</a:t>
            </a:r>
            <a:endParaRPr lang="en-US" sz="900" dirty="0"/>
          </a:p>
        </p:txBody>
      </p:sp>
      <p:sp>
        <p:nvSpPr>
          <p:cNvPr id="40" name="Text 38"/>
          <p:cNvSpPr/>
          <p:nvPr/>
        </p:nvSpPr>
        <p:spPr>
          <a:xfrm>
            <a:off x="548640" y="4526280"/>
            <a:ext cx="8229600" cy="274320"/>
          </a:xfrm>
          <a:prstGeom prst="rect">
            <a:avLst/>
          </a:prstGeom>
          <a:noFill/>
          <a:ln/>
        </p:spPr>
        <p:txBody>
          <a:bodyPr wrap="square" rtlCol="0" anchor="ctr"/>
          <a:lstStyle/>
          <a:p>
            <a:pPr marL="0" indent="0" algn="ctr">
              <a:buNone/>
            </a:pPr>
            <a:r>
              <a:rPr lang="en-US" sz="1100" i="1" dirty="0">
                <a:solidFill>
                  <a:srgbClr val="FFCC4F"/>
                </a:solidFill>
                <a:latin typeface="Calibri" pitchFamily="34" charset="0"/>
                <a:ea typeface="Calibri" pitchFamily="34" charset="-122"/>
                <a:cs typeface="Calibri" pitchFamily="34" charset="-120"/>
              </a:rPr>
              <a:t>Bu listenin yarısı geçen yıl yoktu. Önümüzdeki yıl daha uzun olacak.</a:t>
            </a:r>
            <a:endParaRPr lang="en-US" sz="1100" dirty="0"/>
          </a:p>
        </p:txBody>
      </p:sp>
      <p:sp>
        <p:nvSpPr>
          <p:cNvPr id="41" name="Text 39"/>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CCCCCC"/>
                </a:solidFill>
                <a:latin typeface="Calibri" pitchFamily="34" charset="0"/>
                <a:ea typeface="Calibri" pitchFamily="34" charset="-122"/>
                <a:cs typeface="Calibri" pitchFamily="34" charset="-120"/>
              </a:rPr>
              <a:t>24 / 29  •  Kurumsal</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marL="0" indent="0">
              <a:buNone/>
            </a:pPr>
            <a:r>
              <a:rPr lang="en-US" sz="2200" b="1" dirty="0">
                <a:solidFill>
                  <a:srgbClr val="393939"/>
                </a:solidFill>
                <a:latin typeface="Calibri" pitchFamily="34" charset="0"/>
                <a:ea typeface="Calibri" pitchFamily="34" charset="-122"/>
                <a:cs typeface="Calibri" pitchFamily="34" charset="-120"/>
              </a:rPr>
              <a:t>Neden her kurum kendi harness'ını düşünmek zorunda?</a:t>
            </a:r>
            <a:endParaRPr lang="en-US" sz="2200" dirty="0"/>
          </a:p>
        </p:txBody>
      </p:sp>
      <p:sp>
        <p:nvSpPr>
          <p:cNvPr id="3" name="Text 1"/>
          <p:cNvSpPr/>
          <p:nvPr/>
        </p:nvSpPr>
        <p:spPr>
          <a:xfrm>
            <a:off x="548640" y="868680"/>
            <a:ext cx="8229600" cy="274320"/>
          </a:xfrm>
          <a:prstGeom prst="rect">
            <a:avLst/>
          </a:prstGeom>
          <a:noFill/>
          <a:ln/>
        </p:spPr>
        <p:txBody>
          <a:bodyPr wrap="square" rtlCol="0" anchor="ctr"/>
          <a:lstStyle/>
          <a:p>
            <a:pPr marL="0" indent="0">
              <a:buNone/>
            </a:pPr>
            <a:r>
              <a:rPr lang="en-US" sz="1300" i="1" dirty="0">
                <a:solidFill>
                  <a:srgbClr val="2D9BA3"/>
                </a:solidFill>
                <a:latin typeface="Calibri" pitchFamily="34" charset="0"/>
                <a:ea typeface="Calibri" pitchFamily="34" charset="-122"/>
                <a:cs typeface="Calibri" pitchFamily="34" charset="-120"/>
              </a:rPr>
              <a:t>Hazır framework başlangıç için yeterli; kurumsal disiplin değil.</a:t>
            </a:r>
            <a:endParaRPr lang="en-US" sz="1300" dirty="0"/>
          </a:p>
        </p:txBody>
      </p:sp>
      <p:sp>
        <p:nvSpPr>
          <p:cNvPr id="4" name="Shape 2"/>
          <p:cNvSpPr/>
          <p:nvPr/>
        </p:nvSpPr>
        <p:spPr>
          <a:xfrm>
            <a:off x="731520" y="1554480"/>
            <a:ext cx="2377440" cy="2743200"/>
          </a:xfrm>
          <a:prstGeom prst="rect">
            <a:avLst/>
          </a:prstGeom>
          <a:solidFill>
            <a:srgbClr val="393939"/>
          </a:solidFill>
          <a:ln w="12700">
            <a:solidFill>
              <a:srgbClr val="393939"/>
            </a:solidFill>
            <a:prstDash val="solid"/>
          </a:ln>
        </p:spPr>
        <p:txBody>
          <a:bodyPr/>
          <a:lstStyle/>
          <a:p>
            <a:endParaRPr lang="en-TR"/>
          </a:p>
        </p:txBody>
      </p:sp>
      <p:sp>
        <p:nvSpPr>
          <p:cNvPr id="5" name="Shape 3"/>
          <p:cNvSpPr/>
          <p:nvPr/>
        </p:nvSpPr>
        <p:spPr>
          <a:xfrm>
            <a:off x="914400" y="1828800"/>
            <a:ext cx="365760" cy="320040"/>
          </a:xfrm>
          <a:prstGeom prst="rect">
            <a:avLst/>
          </a:prstGeom>
          <a:solidFill>
            <a:srgbClr val="8AF7FB"/>
          </a:solidFill>
          <a:ln w="12700">
            <a:solidFill>
              <a:srgbClr val="8AF7FB"/>
            </a:solidFill>
            <a:prstDash val="solid"/>
          </a:ln>
        </p:spPr>
        <p:txBody>
          <a:bodyPr/>
          <a:lstStyle/>
          <a:p>
            <a:endParaRPr lang="en-TR"/>
          </a:p>
        </p:txBody>
      </p:sp>
      <p:sp>
        <p:nvSpPr>
          <p:cNvPr id="6" name="Shape 4"/>
          <p:cNvSpPr/>
          <p:nvPr/>
        </p:nvSpPr>
        <p:spPr>
          <a:xfrm>
            <a:off x="1417320" y="1828800"/>
            <a:ext cx="365760" cy="320040"/>
          </a:xfrm>
          <a:prstGeom prst="rect">
            <a:avLst/>
          </a:prstGeom>
          <a:solidFill>
            <a:srgbClr val="8AF7FB"/>
          </a:solidFill>
          <a:ln w="12700">
            <a:solidFill>
              <a:srgbClr val="8AF7FB"/>
            </a:solidFill>
            <a:prstDash val="solid"/>
          </a:ln>
        </p:spPr>
        <p:txBody>
          <a:bodyPr/>
          <a:lstStyle/>
          <a:p>
            <a:endParaRPr lang="en-TR"/>
          </a:p>
        </p:txBody>
      </p:sp>
      <p:sp>
        <p:nvSpPr>
          <p:cNvPr id="7" name="Shape 5"/>
          <p:cNvSpPr/>
          <p:nvPr/>
        </p:nvSpPr>
        <p:spPr>
          <a:xfrm>
            <a:off x="1920240" y="1828800"/>
            <a:ext cx="365760" cy="320040"/>
          </a:xfrm>
          <a:prstGeom prst="rect">
            <a:avLst/>
          </a:prstGeom>
          <a:solidFill>
            <a:srgbClr val="8AF7FB"/>
          </a:solidFill>
          <a:ln w="12700">
            <a:solidFill>
              <a:srgbClr val="8AF7FB"/>
            </a:solidFill>
            <a:prstDash val="solid"/>
          </a:ln>
        </p:spPr>
        <p:txBody>
          <a:bodyPr/>
          <a:lstStyle/>
          <a:p>
            <a:endParaRPr lang="en-TR"/>
          </a:p>
        </p:txBody>
      </p:sp>
      <p:sp>
        <p:nvSpPr>
          <p:cNvPr id="8" name="Shape 6"/>
          <p:cNvSpPr/>
          <p:nvPr/>
        </p:nvSpPr>
        <p:spPr>
          <a:xfrm>
            <a:off x="2423160" y="1828800"/>
            <a:ext cx="365760" cy="320040"/>
          </a:xfrm>
          <a:prstGeom prst="rect">
            <a:avLst/>
          </a:prstGeom>
          <a:solidFill>
            <a:srgbClr val="8AF7FB"/>
          </a:solidFill>
          <a:ln w="12700">
            <a:solidFill>
              <a:srgbClr val="8AF7FB"/>
            </a:solidFill>
            <a:prstDash val="solid"/>
          </a:ln>
        </p:spPr>
        <p:txBody>
          <a:bodyPr/>
          <a:lstStyle/>
          <a:p>
            <a:endParaRPr lang="en-TR"/>
          </a:p>
        </p:txBody>
      </p:sp>
      <p:sp>
        <p:nvSpPr>
          <p:cNvPr id="9" name="Shape 7"/>
          <p:cNvSpPr/>
          <p:nvPr/>
        </p:nvSpPr>
        <p:spPr>
          <a:xfrm>
            <a:off x="914400" y="2331720"/>
            <a:ext cx="365760" cy="320040"/>
          </a:xfrm>
          <a:prstGeom prst="rect">
            <a:avLst/>
          </a:prstGeom>
          <a:solidFill>
            <a:srgbClr val="8AF7FB"/>
          </a:solidFill>
          <a:ln w="12700">
            <a:solidFill>
              <a:srgbClr val="8AF7FB"/>
            </a:solidFill>
            <a:prstDash val="solid"/>
          </a:ln>
        </p:spPr>
        <p:txBody>
          <a:bodyPr/>
          <a:lstStyle/>
          <a:p>
            <a:endParaRPr lang="en-TR"/>
          </a:p>
        </p:txBody>
      </p:sp>
      <p:sp>
        <p:nvSpPr>
          <p:cNvPr id="10" name="Shape 8"/>
          <p:cNvSpPr/>
          <p:nvPr/>
        </p:nvSpPr>
        <p:spPr>
          <a:xfrm>
            <a:off x="1417320" y="2331720"/>
            <a:ext cx="365760" cy="320040"/>
          </a:xfrm>
          <a:prstGeom prst="rect">
            <a:avLst/>
          </a:prstGeom>
          <a:solidFill>
            <a:srgbClr val="8AF7FB"/>
          </a:solidFill>
          <a:ln w="12700">
            <a:solidFill>
              <a:srgbClr val="8AF7FB"/>
            </a:solidFill>
            <a:prstDash val="solid"/>
          </a:ln>
        </p:spPr>
        <p:txBody>
          <a:bodyPr/>
          <a:lstStyle/>
          <a:p>
            <a:endParaRPr lang="en-TR"/>
          </a:p>
        </p:txBody>
      </p:sp>
      <p:sp>
        <p:nvSpPr>
          <p:cNvPr id="11" name="Shape 9"/>
          <p:cNvSpPr/>
          <p:nvPr/>
        </p:nvSpPr>
        <p:spPr>
          <a:xfrm>
            <a:off x="1920240" y="2331720"/>
            <a:ext cx="365760" cy="320040"/>
          </a:xfrm>
          <a:prstGeom prst="rect">
            <a:avLst/>
          </a:prstGeom>
          <a:solidFill>
            <a:srgbClr val="8AF7FB"/>
          </a:solidFill>
          <a:ln w="12700">
            <a:solidFill>
              <a:srgbClr val="8AF7FB"/>
            </a:solidFill>
            <a:prstDash val="solid"/>
          </a:ln>
        </p:spPr>
        <p:txBody>
          <a:bodyPr/>
          <a:lstStyle/>
          <a:p>
            <a:endParaRPr lang="en-TR"/>
          </a:p>
        </p:txBody>
      </p:sp>
      <p:sp>
        <p:nvSpPr>
          <p:cNvPr id="12" name="Shape 10"/>
          <p:cNvSpPr/>
          <p:nvPr/>
        </p:nvSpPr>
        <p:spPr>
          <a:xfrm>
            <a:off x="2423160" y="2331720"/>
            <a:ext cx="365760" cy="320040"/>
          </a:xfrm>
          <a:prstGeom prst="rect">
            <a:avLst/>
          </a:prstGeom>
          <a:solidFill>
            <a:srgbClr val="8AF7FB"/>
          </a:solidFill>
          <a:ln w="12700">
            <a:solidFill>
              <a:srgbClr val="8AF7FB"/>
            </a:solidFill>
            <a:prstDash val="solid"/>
          </a:ln>
        </p:spPr>
        <p:txBody>
          <a:bodyPr/>
          <a:lstStyle/>
          <a:p>
            <a:endParaRPr lang="en-TR"/>
          </a:p>
        </p:txBody>
      </p:sp>
      <p:sp>
        <p:nvSpPr>
          <p:cNvPr id="13" name="Shape 11"/>
          <p:cNvSpPr/>
          <p:nvPr/>
        </p:nvSpPr>
        <p:spPr>
          <a:xfrm>
            <a:off x="914400" y="2834640"/>
            <a:ext cx="365760" cy="320040"/>
          </a:xfrm>
          <a:prstGeom prst="rect">
            <a:avLst/>
          </a:prstGeom>
          <a:solidFill>
            <a:srgbClr val="8AF7FB"/>
          </a:solidFill>
          <a:ln w="12700">
            <a:solidFill>
              <a:srgbClr val="8AF7FB"/>
            </a:solidFill>
            <a:prstDash val="solid"/>
          </a:ln>
        </p:spPr>
        <p:txBody>
          <a:bodyPr/>
          <a:lstStyle/>
          <a:p>
            <a:endParaRPr lang="en-TR"/>
          </a:p>
        </p:txBody>
      </p:sp>
      <p:sp>
        <p:nvSpPr>
          <p:cNvPr id="14" name="Shape 12"/>
          <p:cNvSpPr/>
          <p:nvPr/>
        </p:nvSpPr>
        <p:spPr>
          <a:xfrm>
            <a:off x="1417320" y="2834640"/>
            <a:ext cx="365760" cy="320040"/>
          </a:xfrm>
          <a:prstGeom prst="rect">
            <a:avLst/>
          </a:prstGeom>
          <a:solidFill>
            <a:srgbClr val="8AF7FB"/>
          </a:solidFill>
          <a:ln w="12700">
            <a:solidFill>
              <a:srgbClr val="8AF7FB"/>
            </a:solidFill>
            <a:prstDash val="solid"/>
          </a:ln>
        </p:spPr>
        <p:txBody>
          <a:bodyPr/>
          <a:lstStyle/>
          <a:p>
            <a:endParaRPr lang="en-TR"/>
          </a:p>
        </p:txBody>
      </p:sp>
      <p:sp>
        <p:nvSpPr>
          <p:cNvPr id="15" name="Shape 13"/>
          <p:cNvSpPr/>
          <p:nvPr/>
        </p:nvSpPr>
        <p:spPr>
          <a:xfrm>
            <a:off x="1920240" y="2834640"/>
            <a:ext cx="365760" cy="320040"/>
          </a:xfrm>
          <a:prstGeom prst="rect">
            <a:avLst/>
          </a:prstGeom>
          <a:solidFill>
            <a:srgbClr val="8AF7FB"/>
          </a:solidFill>
          <a:ln w="12700">
            <a:solidFill>
              <a:srgbClr val="8AF7FB"/>
            </a:solidFill>
            <a:prstDash val="solid"/>
          </a:ln>
        </p:spPr>
        <p:txBody>
          <a:bodyPr/>
          <a:lstStyle/>
          <a:p>
            <a:endParaRPr lang="en-TR"/>
          </a:p>
        </p:txBody>
      </p:sp>
      <p:sp>
        <p:nvSpPr>
          <p:cNvPr id="16" name="Shape 14"/>
          <p:cNvSpPr/>
          <p:nvPr/>
        </p:nvSpPr>
        <p:spPr>
          <a:xfrm>
            <a:off x="2423160" y="2834640"/>
            <a:ext cx="365760" cy="320040"/>
          </a:xfrm>
          <a:prstGeom prst="rect">
            <a:avLst/>
          </a:prstGeom>
          <a:solidFill>
            <a:srgbClr val="8AF7FB"/>
          </a:solidFill>
          <a:ln w="12700">
            <a:solidFill>
              <a:srgbClr val="8AF7FB"/>
            </a:solidFill>
            <a:prstDash val="solid"/>
          </a:ln>
        </p:spPr>
        <p:txBody>
          <a:bodyPr/>
          <a:lstStyle/>
          <a:p>
            <a:endParaRPr lang="en-TR"/>
          </a:p>
        </p:txBody>
      </p:sp>
      <p:sp>
        <p:nvSpPr>
          <p:cNvPr id="17" name="Shape 15"/>
          <p:cNvSpPr/>
          <p:nvPr/>
        </p:nvSpPr>
        <p:spPr>
          <a:xfrm>
            <a:off x="914400" y="3337560"/>
            <a:ext cx="365760" cy="320040"/>
          </a:xfrm>
          <a:prstGeom prst="rect">
            <a:avLst/>
          </a:prstGeom>
          <a:solidFill>
            <a:srgbClr val="8AF7FB"/>
          </a:solidFill>
          <a:ln w="12700">
            <a:solidFill>
              <a:srgbClr val="8AF7FB"/>
            </a:solidFill>
            <a:prstDash val="solid"/>
          </a:ln>
        </p:spPr>
        <p:txBody>
          <a:bodyPr/>
          <a:lstStyle/>
          <a:p>
            <a:endParaRPr lang="en-TR"/>
          </a:p>
        </p:txBody>
      </p:sp>
      <p:sp>
        <p:nvSpPr>
          <p:cNvPr id="18" name="Shape 16"/>
          <p:cNvSpPr/>
          <p:nvPr/>
        </p:nvSpPr>
        <p:spPr>
          <a:xfrm>
            <a:off x="1417320" y="3337560"/>
            <a:ext cx="365760" cy="320040"/>
          </a:xfrm>
          <a:prstGeom prst="rect">
            <a:avLst/>
          </a:prstGeom>
          <a:solidFill>
            <a:srgbClr val="8AF7FB"/>
          </a:solidFill>
          <a:ln w="12700">
            <a:solidFill>
              <a:srgbClr val="8AF7FB"/>
            </a:solidFill>
            <a:prstDash val="solid"/>
          </a:ln>
        </p:spPr>
        <p:txBody>
          <a:bodyPr/>
          <a:lstStyle/>
          <a:p>
            <a:endParaRPr lang="en-TR"/>
          </a:p>
        </p:txBody>
      </p:sp>
      <p:sp>
        <p:nvSpPr>
          <p:cNvPr id="19" name="Shape 17"/>
          <p:cNvSpPr/>
          <p:nvPr/>
        </p:nvSpPr>
        <p:spPr>
          <a:xfrm>
            <a:off x="1920240" y="3337560"/>
            <a:ext cx="365760" cy="320040"/>
          </a:xfrm>
          <a:prstGeom prst="rect">
            <a:avLst/>
          </a:prstGeom>
          <a:solidFill>
            <a:srgbClr val="8AF7FB"/>
          </a:solidFill>
          <a:ln w="12700">
            <a:solidFill>
              <a:srgbClr val="8AF7FB"/>
            </a:solidFill>
            <a:prstDash val="solid"/>
          </a:ln>
        </p:spPr>
        <p:txBody>
          <a:bodyPr/>
          <a:lstStyle/>
          <a:p>
            <a:endParaRPr lang="en-TR"/>
          </a:p>
        </p:txBody>
      </p:sp>
      <p:sp>
        <p:nvSpPr>
          <p:cNvPr id="20" name="Shape 18"/>
          <p:cNvSpPr/>
          <p:nvPr/>
        </p:nvSpPr>
        <p:spPr>
          <a:xfrm>
            <a:off x="2423160" y="3337560"/>
            <a:ext cx="365760" cy="320040"/>
          </a:xfrm>
          <a:prstGeom prst="rect">
            <a:avLst/>
          </a:prstGeom>
          <a:solidFill>
            <a:srgbClr val="8AF7FB"/>
          </a:solidFill>
          <a:ln w="12700">
            <a:solidFill>
              <a:srgbClr val="8AF7FB"/>
            </a:solidFill>
            <a:prstDash val="solid"/>
          </a:ln>
        </p:spPr>
        <p:txBody>
          <a:bodyPr/>
          <a:lstStyle/>
          <a:p>
            <a:endParaRPr lang="en-TR"/>
          </a:p>
        </p:txBody>
      </p:sp>
      <p:sp>
        <p:nvSpPr>
          <p:cNvPr id="21" name="Shape 19"/>
          <p:cNvSpPr/>
          <p:nvPr/>
        </p:nvSpPr>
        <p:spPr>
          <a:xfrm>
            <a:off x="1463040" y="1280160"/>
            <a:ext cx="914400" cy="457200"/>
          </a:xfrm>
          <a:prstGeom prst="ellipse">
            <a:avLst/>
          </a:prstGeom>
          <a:solidFill>
            <a:srgbClr val="65D7DE"/>
          </a:solidFill>
          <a:ln w="12700">
            <a:solidFill>
              <a:srgbClr val="65D7DE"/>
            </a:solidFill>
            <a:prstDash val="solid"/>
          </a:ln>
        </p:spPr>
        <p:txBody>
          <a:bodyPr/>
          <a:lstStyle/>
          <a:p>
            <a:endParaRPr lang="en-TR"/>
          </a:p>
        </p:txBody>
      </p:sp>
      <p:sp>
        <p:nvSpPr>
          <p:cNvPr id="22" name="Text 20"/>
          <p:cNvSpPr/>
          <p:nvPr/>
        </p:nvSpPr>
        <p:spPr>
          <a:xfrm>
            <a:off x="1463040" y="1280160"/>
            <a:ext cx="914400" cy="457200"/>
          </a:xfrm>
          <a:prstGeom prst="rect">
            <a:avLst/>
          </a:prstGeom>
          <a:noFill/>
          <a:ln/>
        </p:spPr>
        <p:txBody>
          <a:bodyPr wrap="square" rtlCol="0" anchor="ctr"/>
          <a:lstStyle/>
          <a:p>
            <a:pPr marL="0" indent="0" algn="ctr">
              <a:buNone/>
            </a:pPr>
            <a:r>
              <a:rPr lang="en-US" sz="2400" b="1" dirty="0">
                <a:solidFill>
                  <a:srgbClr val="393939"/>
                </a:solidFill>
                <a:latin typeface="Calibri" pitchFamily="34" charset="0"/>
                <a:ea typeface="Calibri" pitchFamily="34" charset="-122"/>
                <a:cs typeface="Calibri" pitchFamily="34" charset="-120"/>
              </a:rPr>
              <a:t>⚙</a:t>
            </a:r>
            <a:endParaRPr lang="en-US" sz="2400" dirty="0"/>
          </a:p>
        </p:txBody>
      </p:sp>
      <p:sp>
        <p:nvSpPr>
          <p:cNvPr id="23" name="Text 21"/>
          <p:cNvSpPr/>
          <p:nvPr/>
        </p:nvSpPr>
        <p:spPr>
          <a:xfrm>
            <a:off x="731520" y="4434840"/>
            <a:ext cx="2377440" cy="228600"/>
          </a:xfrm>
          <a:prstGeom prst="rect">
            <a:avLst/>
          </a:prstGeom>
          <a:noFill/>
          <a:ln/>
        </p:spPr>
        <p:txBody>
          <a:bodyPr wrap="square" rtlCol="0" anchor="ctr"/>
          <a:lstStyle/>
          <a:p>
            <a:pPr marL="0" indent="0" algn="ctr">
              <a:buNone/>
            </a:pPr>
            <a:r>
              <a:rPr lang="en-US" sz="1000" b="1" kern="0" spc="400" dirty="0">
                <a:solidFill>
                  <a:srgbClr val="393939"/>
                </a:solidFill>
                <a:latin typeface="Calibri" pitchFamily="34" charset="0"/>
                <a:ea typeface="Calibri" pitchFamily="34" charset="-122"/>
                <a:cs typeface="Calibri" pitchFamily="34" charset="-120"/>
              </a:rPr>
              <a:t>REGÜLE KURUM</a:t>
            </a:r>
            <a:endParaRPr lang="en-US" sz="1000" dirty="0"/>
          </a:p>
        </p:txBody>
      </p:sp>
      <p:sp>
        <p:nvSpPr>
          <p:cNvPr id="24" name="Shape 22"/>
          <p:cNvSpPr/>
          <p:nvPr/>
        </p:nvSpPr>
        <p:spPr>
          <a:xfrm>
            <a:off x="3383280" y="1554480"/>
            <a:ext cx="274320" cy="274320"/>
          </a:xfrm>
          <a:prstGeom prst="ellipse">
            <a:avLst/>
          </a:prstGeom>
          <a:solidFill>
            <a:srgbClr val="AB80AD"/>
          </a:solidFill>
          <a:ln w="12700">
            <a:solidFill>
              <a:srgbClr val="AB80AD"/>
            </a:solidFill>
            <a:prstDash val="solid"/>
          </a:ln>
        </p:spPr>
        <p:txBody>
          <a:bodyPr/>
          <a:lstStyle/>
          <a:p>
            <a:endParaRPr lang="en-TR"/>
          </a:p>
        </p:txBody>
      </p:sp>
      <p:sp>
        <p:nvSpPr>
          <p:cNvPr id="25" name="Text 23"/>
          <p:cNvSpPr/>
          <p:nvPr/>
        </p:nvSpPr>
        <p:spPr>
          <a:xfrm>
            <a:off x="3383280" y="1554480"/>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6" name="Text 24"/>
          <p:cNvSpPr/>
          <p:nvPr/>
        </p:nvSpPr>
        <p:spPr>
          <a:xfrm>
            <a:off x="3749040" y="1536192"/>
            <a:ext cx="5029200" cy="320040"/>
          </a:xfrm>
          <a:prstGeom prst="rect">
            <a:avLst/>
          </a:prstGeom>
          <a:noFill/>
          <a:ln/>
        </p:spPr>
        <p:txBody>
          <a:bodyPr wrap="square" rtlCol="0" anchor="ctr"/>
          <a:lstStyle/>
          <a:p>
            <a:pPr marL="0" indent="0">
              <a:buNone/>
            </a:pPr>
            <a:r>
              <a:rPr lang="en-US" sz="1200" dirty="0">
                <a:solidFill>
                  <a:srgbClr val="393939"/>
                </a:solidFill>
                <a:latin typeface="Calibri" pitchFamily="34" charset="0"/>
                <a:ea typeface="Calibri" pitchFamily="34" charset="-122"/>
                <a:cs typeface="Calibri" pitchFamily="34" charset="-120"/>
              </a:rPr>
              <a:t>Veri nerede işleniyor?</a:t>
            </a:r>
            <a:endParaRPr lang="en-US" sz="1200" dirty="0"/>
          </a:p>
        </p:txBody>
      </p:sp>
      <p:sp>
        <p:nvSpPr>
          <p:cNvPr id="27" name="Shape 25"/>
          <p:cNvSpPr/>
          <p:nvPr/>
        </p:nvSpPr>
        <p:spPr>
          <a:xfrm>
            <a:off x="3383280" y="1938528"/>
            <a:ext cx="274320" cy="274320"/>
          </a:xfrm>
          <a:prstGeom prst="ellipse">
            <a:avLst/>
          </a:prstGeom>
          <a:solidFill>
            <a:srgbClr val="AB80AD"/>
          </a:solidFill>
          <a:ln w="12700">
            <a:solidFill>
              <a:srgbClr val="AB80AD"/>
            </a:solidFill>
            <a:prstDash val="solid"/>
          </a:ln>
        </p:spPr>
        <p:txBody>
          <a:bodyPr/>
          <a:lstStyle/>
          <a:p>
            <a:endParaRPr lang="en-TR"/>
          </a:p>
        </p:txBody>
      </p:sp>
      <p:sp>
        <p:nvSpPr>
          <p:cNvPr id="28" name="Text 26"/>
          <p:cNvSpPr/>
          <p:nvPr/>
        </p:nvSpPr>
        <p:spPr>
          <a:xfrm>
            <a:off x="3383280" y="1938528"/>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9" name="Text 27"/>
          <p:cNvSpPr/>
          <p:nvPr/>
        </p:nvSpPr>
        <p:spPr>
          <a:xfrm>
            <a:off x="3749040" y="1920240"/>
            <a:ext cx="5029200" cy="320040"/>
          </a:xfrm>
          <a:prstGeom prst="rect">
            <a:avLst/>
          </a:prstGeom>
          <a:noFill/>
          <a:ln/>
        </p:spPr>
        <p:txBody>
          <a:bodyPr wrap="square" rtlCol="0" anchor="ctr"/>
          <a:lstStyle/>
          <a:p>
            <a:pPr marL="0" indent="0">
              <a:buNone/>
            </a:pPr>
            <a:r>
              <a:rPr lang="en-US" sz="1200" dirty="0">
                <a:solidFill>
                  <a:srgbClr val="393939"/>
                </a:solidFill>
                <a:latin typeface="Calibri" pitchFamily="34" charset="0"/>
                <a:ea typeface="Calibri" pitchFamily="34" charset="-122"/>
                <a:cs typeface="Calibri" pitchFamily="34" charset="-120"/>
              </a:rPr>
              <a:t>Model çağrısı hangi gateway'den çıkıyor?</a:t>
            </a:r>
            <a:endParaRPr lang="en-US" sz="1200" dirty="0"/>
          </a:p>
        </p:txBody>
      </p:sp>
      <p:sp>
        <p:nvSpPr>
          <p:cNvPr id="30" name="Shape 28"/>
          <p:cNvSpPr/>
          <p:nvPr/>
        </p:nvSpPr>
        <p:spPr>
          <a:xfrm>
            <a:off x="3383280" y="2322576"/>
            <a:ext cx="274320" cy="274320"/>
          </a:xfrm>
          <a:prstGeom prst="ellipse">
            <a:avLst/>
          </a:prstGeom>
          <a:solidFill>
            <a:srgbClr val="AB80AD"/>
          </a:solidFill>
          <a:ln w="12700">
            <a:solidFill>
              <a:srgbClr val="AB80AD"/>
            </a:solidFill>
            <a:prstDash val="solid"/>
          </a:ln>
        </p:spPr>
        <p:txBody>
          <a:bodyPr/>
          <a:lstStyle/>
          <a:p>
            <a:endParaRPr lang="en-TR"/>
          </a:p>
        </p:txBody>
      </p:sp>
      <p:sp>
        <p:nvSpPr>
          <p:cNvPr id="31" name="Text 29"/>
          <p:cNvSpPr/>
          <p:nvPr/>
        </p:nvSpPr>
        <p:spPr>
          <a:xfrm>
            <a:off x="3383280" y="2322576"/>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2" name="Text 30"/>
          <p:cNvSpPr/>
          <p:nvPr/>
        </p:nvSpPr>
        <p:spPr>
          <a:xfrm>
            <a:off x="3749040" y="2304288"/>
            <a:ext cx="5029200" cy="320040"/>
          </a:xfrm>
          <a:prstGeom prst="rect">
            <a:avLst/>
          </a:prstGeom>
          <a:noFill/>
          <a:ln/>
        </p:spPr>
        <p:txBody>
          <a:bodyPr wrap="square" rtlCol="0" anchor="ctr"/>
          <a:lstStyle/>
          <a:p>
            <a:pPr marL="0" indent="0">
              <a:buNone/>
            </a:pPr>
            <a:r>
              <a:rPr lang="en-US" sz="1200" dirty="0">
                <a:solidFill>
                  <a:srgbClr val="393939"/>
                </a:solidFill>
                <a:latin typeface="Calibri" pitchFamily="34" charset="0"/>
                <a:ea typeface="Calibri" pitchFamily="34" charset="-122"/>
                <a:cs typeface="Calibri" pitchFamily="34" charset="-120"/>
              </a:rPr>
              <a:t>Müşteri verisi memory'ye yazılıyor mu?</a:t>
            </a:r>
            <a:endParaRPr lang="en-US" sz="1200" dirty="0"/>
          </a:p>
        </p:txBody>
      </p:sp>
      <p:sp>
        <p:nvSpPr>
          <p:cNvPr id="33" name="Shape 31"/>
          <p:cNvSpPr/>
          <p:nvPr/>
        </p:nvSpPr>
        <p:spPr>
          <a:xfrm>
            <a:off x="3383280" y="2706624"/>
            <a:ext cx="274320" cy="274320"/>
          </a:xfrm>
          <a:prstGeom prst="ellipse">
            <a:avLst/>
          </a:prstGeom>
          <a:solidFill>
            <a:srgbClr val="AB80AD"/>
          </a:solidFill>
          <a:ln w="12700">
            <a:solidFill>
              <a:srgbClr val="AB80AD"/>
            </a:solidFill>
            <a:prstDash val="solid"/>
          </a:ln>
        </p:spPr>
        <p:txBody>
          <a:bodyPr/>
          <a:lstStyle/>
          <a:p>
            <a:endParaRPr lang="en-TR"/>
          </a:p>
        </p:txBody>
      </p:sp>
      <p:sp>
        <p:nvSpPr>
          <p:cNvPr id="34" name="Text 32"/>
          <p:cNvSpPr/>
          <p:nvPr/>
        </p:nvSpPr>
        <p:spPr>
          <a:xfrm>
            <a:off x="3383280" y="2706624"/>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5" name="Text 33"/>
          <p:cNvSpPr/>
          <p:nvPr/>
        </p:nvSpPr>
        <p:spPr>
          <a:xfrm>
            <a:off x="3749040" y="2688336"/>
            <a:ext cx="5029200" cy="320040"/>
          </a:xfrm>
          <a:prstGeom prst="rect">
            <a:avLst/>
          </a:prstGeom>
          <a:noFill/>
          <a:ln/>
        </p:spPr>
        <p:txBody>
          <a:bodyPr wrap="square" rtlCol="0" anchor="ctr"/>
          <a:lstStyle/>
          <a:p>
            <a:pPr marL="0" indent="0">
              <a:buNone/>
            </a:pPr>
            <a:r>
              <a:rPr lang="en-US" sz="1200" dirty="0">
                <a:solidFill>
                  <a:srgbClr val="393939"/>
                </a:solidFill>
                <a:latin typeface="Calibri" pitchFamily="34" charset="0"/>
                <a:ea typeface="Calibri" pitchFamily="34" charset="-122"/>
                <a:cs typeface="Calibri" pitchFamily="34" charset="-120"/>
              </a:rPr>
              <a:t>Tool çağrıları kullanıcı adına mı?</a:t>
            </a:r>
            <a:endParaRPr lang="en-US" sz="1200" dirty="0"/>
          </a:p>
        </p:txBody>
      </p:sp>
      <p:sp>
        <p:nvSpPr>
          <p:cNvPr id="36" name="Shape 34"/>
          <p:cNvSpPr/>
          <p:nvPr/>
        </p:nvSpPr>
        <p:spPr>
          <a:xfrm>
            <a:off x="3383280" y="3090672"/>
            <a:ext cx="274320" cy="274320"/>
          </a:xfrm>
          <a:prstGeom prst="ellipse">
            <a:avLst/>
          </a:prstGeom>
          <a:solidFill>
            <a:srgbClr val="AB80AD"/>
          </a:solidFill>
          <a:ln w="12700">
            <a:solidFill>
              <a:srgbClr val="AB80AD"/>
            </a:solidFill>
            <a:prstDash val="solid"/>
          </a:ln>
        </p:spPr>
        <p:txBody>
          <a:bodyPr/>
          <a:lstStyle/>
          <a:p>
            <a:endParaRPr lang="en-TR"/>
          </a:p>
        </p:txBody>
      </p:sp>
      <p:sp>
        <p:nvSpPr>
          <p:cNvPr id="37" name="Text 35"/>
          <p:cNvSpPr/>
          <p:nvPr/>
        </p:nvSpPr>
        <p:spPr>
          <a:xfrm>
            <a:off x="3383280" y="3090672"/>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8" name="Text 36"/>
          <p:cNvSpPr/>
          <p:nvPr/>
        </p:nvSpPr>
        <p:spPr>
          <a:xfrm>
            <a:off x="3749040" y="3072384"/>
            <a:ext cx="5029200" cy="320040"/>
          </a:xfrm>
          <a:prstGeom prst="rect">
            <a:avLst/>
          </a:prstGeom>
          <a:noFill/>
          <a:ln/>
        </p:spPr>
        <p:txBody>
          <a:bodyPr wrap="square" rtlCol="0" anchor="ctr"/>
          <a:lstStyle/>
          <a:p>
            <a:pPr marL="0" indent="0">
              <a:buNone/>
            </a:pPr>
            <a:r>
              <a:rPr lang="en-US" sz="1200" dirty="0">
                <a:solidFill>
                  <a:srgbClr val="393939"/>
                </a:solidFill>
                <a:latin typeface="Calibri" pitchFamily="34" charset="0"/>
                <a:ea typeface="Calibri" pitchFamily="34" charset="-122"/>
                <a:cs typeface="Calibri" pitchFamily="34" charset="-120"/>
              </a:rPr>
              <a:t>Prompt-output logları maskeleniyor mu?</a:t>
            </a:r>
            <a:endParaRPr lang="en-US" sz="1200" dirty="0"/>
          </a:p>
        </p:txBody>
      </p:sp>
      <p:sp>
        <p:nvSpPr>
          <p:cNvPr id="39" name="Shape 37"/>
          <p:cNvSpPr/>
          <p:nvPr/>
        </p:nvSpPr>
        <p:spPr>
          <a:xfrm>
            <a:off x="3383280" y="3474720"/>
            <a:ext cx="274320" cy="274320"/>
          </a:xfrm>
          <a:prstGeom prst="ellipse">
            <a:avLst/>
          </a:prstGeom>
          <a:solidFill>
            <a:srgbClr val="AB80AD"/>
          </a:solidFill>
          <a:ln w="12700">
            <a:solidFill>
              <a:srgbClr val="AB80AD"/>
            </a:solidFill>
            <a:prstDash val="solid"/>
          </a:ln>
        </p:spPr>
        <p:txBody>
          <a:bodyPr/>
          <a:lstStyle/>
          <a:p>
            <a:endParaRPr lang="en-TR"/>
          </a:p>
        </p:txBody>
      </p:sp>
      <p:sp>
        <p:nvSpPr>
          <p:cNvPr id="40" name="Text 38"/>
          <p:cNvSpPr/>
          <p:nvPr/>
        </p:nvSpPr>
        <p:spPr>
          <a:xfrm>
            <a:off x="3383280" y="3474720"/>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1" name="Text 39"/>
          <p:cNvSpPr/>
          <p:nvPr/>
        </p:nvSpPr>
        <p:spPr>
          <a:xfrm>
            <a:off x="3749040" y="3456432"/>
            <a:ext cx="5029200" cy="320040"/>
          </a:xfrm>
          <a:prstGeom prst="rect">
            <a:avLst/>
          </a:prstGeom>
          <a:noFill/>
          <a:ln/>
        </p:spPr>
        <p:txBody>
          <a:bodyPr wrap="square" rtlCol="0" anchor="ctr"/>
          <a:lstStyle/>
          <a:p>
            <a:pPr marL="0" indent="0">
              <a:buNone/>
            </a:pPr>
            <a:r>
              <a:rPr lang="en-US" sz="1200" dirty="0">
                <a:solidFill>
                  <a:srgbClr val="393939"/>
                </a:solidFill>
                <a:latin typeface="Calibri" pitchFamily="34" charset="0"/>
                <a:ea typeface="Calibri" pitchFamily="34" charset="-122"/>
                <a:cs typeface="Calibri" pitchFamily="34" charset="-120"/>
              </a:rPr>
              <a:t>Agent kararları denetlenebilir mi?</a:t>
            </a:r>
            <a:endParaRPr lang="en-US" sz="1200" dirty="0"/>
          </a:p>
        </p:txBody>
      </p:sp>
      <p:sp>
        <p:nvSpPr>
          <p:cNvPr id="42" name="Shape 40"/>
          <p:cNvSpPr/>
          <p:nvPr/>
        </p:nvSpPr>
        <p:spPr>
          <a:xfrm>
            <a:off x="3383280" y="3858768"/>
            <a:ext cx="274320" cy="274320"/>
          </a:xfrm>
          <a:prstGeom prst="ellipse">
            <a:avLst/>
          </a:prstGeom>
          <a:solidFill>
            <a:srgbClr val="AB80AD"/>
          </a:solidFill>
          <a:ln w="12700">
            <a:solidFill>
              <a:srgbClr val="AB80AD"/>
            </a:solidFill>
            <a:prstDash val="solid"/>
          </a:ln>
        </p:spPr>
        <p:txBody>
          <a:bodyPr/>
          <a:lstStyle/>
          <a:p>
            <a:endParaRPr lang="en-TR"/>
          </a:p>
        </p:txBody>
      </p:sp>
      <p:sp>
        <p:nvSpPr>
          <p:cNvPr id="43" name="Text 41"/>
          <p:cNvSpPr/>
          <p:nvPr/>
        </p:nvSpPr>
        <p:spPr>
          <a:xfrm>
            <a:off x="3383280" y="3858768"/>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4" name="Text 42"/>
          <p:cNvSpPr/>
          <p:nvPr/>
        </p:nvSpPr>
        <p:spPr>
          <a:xfrm>
            <a:off x="3749040" y="3840480"/>
            <a:ext cx="5029200" cy="320040"/>
          </a:xfrm>
          <a:prstGeom prst="rect">
            <a:avLst/>
          </a:prstGeom>
          <a:noFill/>
          <a:ln/>
        </p:spPr>
        <p:txBody>
          <a:bodyPr wrap="square" rtlCol="0" anchor="ctr"/>
          <a:lstStyle/>
          <a:p>
            <a:pPr marL="0" indent="0">
              <a:buNone/>
            </a:pPr>
            <a:r>
              <a:rPr lang="en-US" sz="1200" dirty="0">
                <a:solidFill>
                  <a:srgbClr val="393939"/>
                </a:solidFill>
                <a:latin typeface="Calibri" pitchFamily="34" charset="0"/>
                <a:ea typeface="Calibri" pitchFamily="34" charset="-122"/>
                <a:cs typeface="Calibri" pitchFamily="34" charset="-120"/>
              </a:rPr>
              <a:t>Hangi adımda HITL gerekiyor?</a:t>
            </a:r>
            <a:endParaRPr lang="en-US" sz="1200" dirty="0"/>
          </a:p>
        </p:txBody>
      </p:sp>
      <p:sp>
        <p:nvSpPr>
          <p:cNvPr id="45" name="Shape 43"/>
          <p:cNvSpPr/>
          <p:nvPr/>
        </p:nvSpPr>
        <p:spPr>
          <a:xfrm>
            <a:off x="3383280" y="4242816"/>
            <a:ext cx="274320" cy="274320"/>
          </a:xfrm>
          <a:prstGeom prst="ellipse">
            <a:avLst/>
          </a:prstGeom>
          <a:solidFill>
            <a:srgbClr val="AB80AD"/>
          </a:solidFill>
          <a:ln w="12700">
            <a:solidFill>
              <a:srgbClr val="AB80AD"/>
            </a:solidFill>
            <a:prstDash val="solid"/>
          </a:ln>
        </p:spPr>
        <p:txBody>
          <a:bodyPr/>
          <a:lstStyle/>
          <a:p>
            <a:endParaRPr lang="en-TR"/>
          </a:p>
        </p:txBody>
      </p:sp>
      <p:sp>
        <p:nvSpPr>
          <p:cNvPr id="46" name="Text 44"/>
          <p:cNvSpPr/>
          <p:nvPr/>
        </p:nvSpPr>
        <p:spPr>
          <a:xfrm>
            <a:off x="3383280" y="4242816"/>
            <a:ext cx="2743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7" name="Text 45"/>
          <p:cNvSpPr/>
          <p:nvPr/>
        </p:nvSpPr>
        <p:spPr>
          <a:xfrm>
            <a:off x="3749040" y="4224528"/>
            <a:ext cx="5029200" cy="320040"/>
          </a:xfrm>
          <a:prstGeom prst="rect">
            <a:avLst/>
          </a:prstGeom>
          <a:noFill/>
          <a:ln/>
        </p:spPr>
        <p:txBody>
          <a:bodyPr wrap="square" rtlCol="0" anchor="ctr"/>
          <a:lstStyle/>
          <a:p>
            <a:pPr marL="0" indent="0">
              <a:buNone/>
            </a:pPr>
            <a:r>
              <a:rPr lang="en-US" sz="1200" dirty="0">
                <a:solidFill>
                  <a:srgbClr val="393939"/>
                </a:solidFill>
                <a:latin typeface="Calibri" pitchFamily="34" charset="0"/>
                <a:ea typeface="Calibri" pitchFamily="34" charset="-122"/>
                <a:cs typeface="Calibri" pitchFamily="34" charset="-120"/>
              </a:rPr>
              <a:t>Agent sürümü geriye dönük incelenebilir mi?</a:t>
            </a:r>
            <a:endParaRPr lang="en-US" sz="1200" dirty="0"/>
          </a:p>
        </p:txBody>
      </p:sp>
      <p:sp>
        <p:nvSpPr>
          <p:cNvPr id="48" name="Text 46"/>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545454"/>
                </a:solidFill>
                <a:latin typeface="Calibri" pitchFamily="34" charset="0"/>
                <a:ea typeface="Calibri" pitchFamily="34" charset="-122"/>
                <a:cs typeface="Calibri" pitchFamily="34" charset="-120"/>
              </a:rPr>
              <a:t>25 / 29  •  Kurumsal</a:t>
            </a:r>
            <a:endParaRPr lang="en-US" sz="900" dirty="0"/>
          </a:p>
        </p:txBody>
      </p:sp>
      <p:sp>
        <p:nvSpPr>
          <p:cNvPr id="49" name="Text 47"/>
          <p:cNvSpPr/>
          <p:nvPr/>
        </p:nvSpPr>
        <p:spPr>
          <a:xfrm>
            <a:off x="274320" y="4846320"/>
            <a:ext cx="1371600" cy="228600"/>
          </a:xfrm>
          <a:prstGeom prst="rect">
            <a:avLst/>
          </a:prstGeom>
          <a:noFill/>
          <a:ln/>
        </p:spPr>
        <p:txBody>
          <a:bodyPr wrap="square" rtlCol="0" anchor="ctr"/>
          <a:lstStyle/>
          <a:p>
            <a:pPr marL="0" indent="0">
              <a:buNone/>
            </a:pPr>
            <a:r>
              <a:rPr lang="en-US" sz="900" dirty="0">
                <a:solidFill>
                  <a:srgbClr val="545454"/>
                </a:solidFill>
                <a:latin typeface="Calibri" pitchFamily="34" charset="0"/>
                <a:ea typeface="Calibri" pitchFamily="34" charset="-122"/>
                <a:cs typeface="Calibri" pitchFamily="34" charset="-120"/>
              </a:rPr>
              <a:t>&lt; softtech</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457200"/>
          </a:xfrm>
          <a:prstGeom prst="rect">
            <a:avLst/>
          </a:prstGeom>
          <a:noFill/>
          <a:ln/>
        </p:spPr>
        <p:txBody>
          <a:bodyPr wrap="square" rtlCol="0" anchor="ctr"/>
          <a:lstStyle/>
          <a:p>
            <a:pPr marL="0" indent="0">
              <a:buNone/>
            </a:pPr>
            <a:r>
              <a:rPr lang="en-US" sz="2400" b="1" dirty="0">
                <a:solidFill>
                  <a:srgbClr val="393939"/>
                </a:solidFill>
                <a:latin typeface="Calibri" pitchFamily="34" charset="0"/>
                <a:ea typeface="Calibri" pitchFamily="34" charset="-122"/>
                <a:cs typeface="Calibri" pitchFamily="34" charset="-120"/>
              </a:rPr>
              <a:t>Maistro: Yerli Kurumsal Agent Harness Platformu</a:t>
            </a:r>
            <a:endParaRPr lang="en-US" sz="2400" dirty="0"/>
          </a:p>
        </p:txBody>
      </p:sp>
      <p:sp>
        <p:nvSpPr>
          <p:cNvPr id="3" name="Text 1"/>
          <p:cNvSpPr/>
          <p:nvPr/>
        </p:nvSpPr>
        <p:spPr>
          <a:xfrm>
            <a:off x="548640" y="777240"/>
            <a:ext cx="8229600" cy="274320"/>
          </a:xfrm>
          <a:prstGeom prst="rect">
            <a:avLst/>
          </a:prstGeom>
          <a:noFill/>
          <a:ln/>
        </p:spPr>
        <p:txBody>
          <a:bodyPr wrap="square" rtlCol="0" anchor="ctr"/>
          <a:lstStyle/>
          <a:p>
            <a:pPr marL="0" indent="0">
              <a:buNone/>
            </a:pPr>
            <a:r>
              <a:rPr lang="en-US" sz="1200" i="1" dirty="0">
                <a:solidFill>
                  <a:srgbClr val="2D9BA3"/>
                </a:solidFill>
                <a:latin typeface="Calibri" pitchFamily="34" charset="0"/>
                <a:ea typeface="Calibri" pitchFamily="34" charset="-122"/>
                <a:cs typeface="Calibri" pitchFamily="34" charset="-120"/>
              </a:rPr>
              <a:t>Türkiye İş Bankası'na lisanslanan, Softtech'te geliştirilen kurumsal agent işletim katmanı.</a:t>
            </a:r>
            <a:endParaRPr lang="en-US" sz="1200" dirty="0"/>
          </a:p>
        </p:txBody>
      </p:sp>
      <p:sp>
        <p:nvSpPr>
          <p:cNvPr id="4" name="Shape 2"/>
          <p:cNvSpPr/>
          <p:nvPr/>
        </p:nvSpPr>
        <p:spPr>
          <a:xfrm>
            <a:off x="548640" y="1280160"/>
            <a:ext cx="3931920" cy="2926080"/>
          </a:xfrm>
          <a:prstGeom prst="rect">
            <a:avLst/>
          </a:prstGeom>
          <a:solidFill>
            <a:srgbClr val="8AF7FB"/>
          </a:solidFill>
          <a:ln w="12700">
            <a:solidFill>
              <a:srgbClr val="65D7DE"/>
            </a:solidFill>
            <a:prstDash val="solid"/>
          </a:ln>
        </p:spPr>
        <p:txBody>
          <a:bodyPr/>
          <a:lstStyle/>
          <a:p>
            <a:endParaRPr lang="en-TR"/>
          </a:p>
        </p:txBody>
      </p:sp>
      <p:sp>
        <p:nvSpPr>
          <p:cNvPr id="5" name="Text 3"/>
          <p:cNvSpPr/>
          <p:nvPr/>
        </p:nvSpPr>
        <p:spPr>
          <a:xfrm>
            <a:off x="731520" y="1417320"/>
            <a:ext cx="3657600" cy="457200"/>
          </a:xfrm>
          <a:prstGeom prst="rect">
            <a:avLst/>
          </a:prstGeom>
          <a:noFill/>
          <a:ln/>
        </p:spPr>
        <p:txBody>
          <a:bodyPr wrap="square" rtlCol="0" anchor="ctr"/>
          <a:lstStyle/>
          <a:p>
            <a:pPr marL="0" indent="0">
              <a:buNone/>
            </a:pPr>
            <a:r>
              <a:rPr lang="en-US" sz="1600" b="1" dirty="0">
                <a:solidFill>
                  <a:srgbClr val="393939"/>
                </a:solidFill>
                <a:latin typeface="Consolas" pitchFamily="34" charset="0"/>
                <a:ea typeface="Consolas" pitchFamily="34" charset="-122"/>
                <a:cs typeface="Consolas" pitchFamily="34" charset="-120"/>
              </a:rPr>
              <a:t>&lt;/ Görünen Maistro /&gt;</a:t>
            </a:r>
            <a:endParaRPr lang="en-US" sz="1600" dirty="0"/>
          </a:p>
        </p:txBody>
      </p:sp>
      <p:sp>
        <p:nvSpPr>
          <p:cNvPr id="6" name="Shape 4"/>
          <p:cNvSpPr/>
          <p:nvPr/>
        </p:nvSpPr>
        <p:spPr>
          <a:xfrm>
            <a:off x="731520" y="1874520"/>
            <a:ext cx="1371600" cy="0"/>
          </a:xfrm>
          <a:prstGeom prst="line">
            <a:avLst/>
          </a:prstGeom>
          <a:noFill/>
          <a:ln w="25400">
            <a:solidFill>
              <a:srgbClr val="2D9BA3"/>
            </a:solidFill>
            <a:prstDash val="solid"/>
          </a:ln>
        </p:spPr>
        <p:txBody>
          <a:bodyPr/>
          <a:lstStyle/>
          <a:p>
            <a:endParaRPr lang="en-TR"/>
          </a:p>
        </p:txBody>
      </p:sp>
      <p:sp>
        <p:nvSpPr>
          <p:cNvPr id="7" name="Text 5"/>
          <p:cNvSpPr/>
          <p:nvPr/>
        </p:nvSpPr>
        <p:spPr>
          <a:xfrm>
            <a:off x="731520" y="2103120"/>
            <a:ext cx="3657600" cy="365760"/>
          </a:xfrm>
          <a:prstGeom prst="rect">
            <a:avLst/>
          </a:prstGeom>
          <a:noFill/>
          <a:ln/>
        </p:spPr>
        <p:txBody>
          <a:bodyPr wrap="square" rtlCol="0" anchor="ctr"/>
          <a:lstStyle/>
          <a:p>
            <a:pPr marL="0" indent="0">
              <a:buNone/>
            </a:pPr>
            <a:r>
              <a:rPr lang="en-US" sz="1400" dirty="0">
                <a:solidFill>
                  <a:srgbClr val="393939"/>
                </a:solidFill>
                <a:latin typeface="Calibri" pitchFamily="34" charset="0"/>
                <a:ea typeface="Calibri" pitchFamily="34" charset="-122"/>
                <a:cs typeface="Calibri" pitchFamily="34" charset="-120"/>
              </a:rPr>
              <a:t>•  Konuşan agent</a:t>
            </a:r>
            <a:endParaRPr lang="en-US" sz="1400" dirty="0"/>
          </a:p>
        </p:txBody>
      </p:sp>
      <p:sp>
        <p:nvSpPr>
          <p:cNvPr id="8" name="Text 6"/>
          <p:cNvSpPr/>
          <p:nvPr/>
        </p:nvSpPr>
        <p:spPr>
          <a:xfrm>
            <a:off x="731520" y="2514600"/>
            <a:ext cx="3657600" cy="365760"/>
          </a:xfrm>
          <a:prstGeom prst="rect">
            <a:avLst/>
          </a:prstGeom>
          <a:noFill/>
          <a:ln/>
        </p:spPr>
        <p:txBody>
          <a:bodyPr wrap="square" rtlCol="0" anchor="ctr"/>
          <a:lstStyle/>
          <a:p>
            <a:pPr marL="0" indent="0">
              <a:buNone/>
            </a:pPr>
            <a:r>
              <a:rPr lang="en-US" sz="1400" dirty="0">
                <a:solidFill>
                  <a:srgbClr val="393939"/>
                </a:solidFill>
                <a:latin typeface="Calibri" pitchFamily="34" charset="0"/>
                <a:ea typeface="Calibri" pitchFamily="34" charset="-122"/>
                <a:cs typeface="Calibri" pitchFamily="34" charset="-120"/>
              </a:rPr>
              <a:t>•  RAG ile cevap veren agent</a:t>
            </a:r>
            <a:endParaRPr lang="en-US" sz="1400" dirty="0"/>
          </a:p>
        </p:txBody>
      </p:sp>
      <p:sp>
        <p:nvSpPr>
          <p:cNvPr id="9" name="Text 7"/>
          <p:cNvSpPr/>
          <p:nvPr/>
        </p:nvSpPr>
        <p:spPr>
          <a:xfrm>
            <a:off x="731520" y="2926080"/>
            <a:ext cx="3657600" cy="365760"/>
          </a:xfrm>
          <a:prstGeom prst="rect">
            <a:avLst/>
          </a:prstGeom>
          <a:noFill/>
          <a:ln/>
        </p:spPr>
        <p:txBody>
          <a:bodyPr wrap="square" rtlCol="0" anchor="ctr"/>
          <a:lstStyle/>
          <a:p>
            <a:pPr marL="0" indent="0">
              <a:buNone/>
            </a:pPr>
            <a:r>
              <a:rPr lang="en-US" sz="1400" dirty="0">
                <a:solidFill>
                  <a:srgbClr val="393939"/>
                </a:solidFill>
                <a:latin typeface="Calibri" pitchFamily="34" charset="0"/>
                <a:ea typeface="Calibri" pitchFamily="34" charset="-122"/>
                <a:cs typeface="Calibri" pitchFamily="34" charset="-120"/>
              </a:rPr>
              <a:t>•  Tool çağıran agent</a:t>
            </a:r>
            <a:endParaRPr lang="en-US" sz="1400" dirty="0"/>
          </a:p>
        </p:txBody>
      </p:sp>
      <p:sp>
        <p:nvSpPr>
          <p:cNvPr id="10" name="Text 8"/>
          <p:cNvSpPr/>
          <p:nvPr/>
        </p:nvSpPr>
        <p:spPr>
          <a:xfrm>
            <a:off x="731520" y="3337560"/>
            <a:ext cx="3657600" cy="365760"/>
          </a:xfrm>
          <a:prstGeom prst="rect">
            <a:avLst/>
          </a:prstGeom>
          <a:noFill/>
          <a:ln/>
        </p:spPr>
        <p:txBody>
          <a:bodyPr wrap="square" rtlCol="0" anchor="ctr"/>
          <a:lstStyle/>
          <a:p>
            <a:pPr marL="0" indent="0">
              <a:buNone/>
            </a:pPr>
            <a:r>
              <a:rPr lang="en-US" sz="1400" dirty="0">
                <a:solidFill>
                  <a:srgbClr val="393939"/>
                </a:solidFill>
                <a:latin typeface="Calibri" pitchFamily="34" charset="0"/>
                <a:ea typeface="Calibri" pitchFamily="34" charset="-122"/>
                <a:cs typeface="Calibri" pitchFamily="34" charset="-120"/>
              </a:rPr>
              <a:t>•  İş akışı yürüten agent</a:t>
            </a:r>
            <a:endParaRPr lang="en-US" sz="1400" dirty="0"/>
          </a:p>
        </p:txBody>
      </p:sp>
      <p:sp>
        <p:nvSpPr>
          <p:cNvPr id="11" name="Shape 9"/>
          <p:cNvSpPr/>
          <p:nvPr/>
        </p:nvSpPr>
        <p:spPr>
          <a:xfrm>
            <a:off x="4663440" y="1280160"/>
            <a:ext cx="3931920" cy="2926080"/>
          </a:xfrm>
          <a:prstGeom prst="rect">
            <a:avLst/>
          </a:prstGeom>
          <a:solidFill>
            <a:srgbClr val="393939"/>
          </a:solidFill>
          <a:ln w="12700">
            <a:solidFill>
              <a:srgbClr val="393939"/>
            </a:solidFill>
            <a:prstDash val="solid"/>
          </a:ln>
        </p:spPr>
        <p:txBody>
          <a:bodyPr/>
          <a:lstStyle/>
          <a:p>
            <a:endParaRPr lang="en-TR"/>
          </a:p>
        </p:txBody>
      </p:sp>
      <p:sp>
        <p:nvSpPr>
          <p:cNvPr id="12" name="Text 10"/>
          <p:cNvSpPr/>
          <p:nvPr/>
        </p:nvSpPr>
        <p:spPr>
          <a:xfrm>
            <a:off x="4846320" y="1417320"/>
            <a:ext cx="3657600" cy="457200"/>
          </a:xfrm>
          <a:prstGeom prst="rect">
            <a:avLst/>
          </a:prstGeom>
          <a:noFill/>
          <a:ln/>
        </p:spPr>
        <p:txBody>
          <a:bodyPr wrap="square" rtlCol="0" anchor="ctr"/>
          <a:lstStyle/>
          <a:p>
            <a:pPr marL="0" indent="0">
              <a:buNone/>
            </a:pPr>
            <a:r>
              <a:rPr lang="en-US" sz="1600" b="1" dirty="0">
                <a:solidFill>
                  <a:srgbClr val="65D7DE"/>
                </a:solidFill>
                <a:latin typeface="Consolas" pitchFamily="34" charset="0"/>
                <a:ea typeface="Consolas" pitchFamily="34" charset="-122"/>
                <a:cs typeface="Consolas" pitchFamily="34" charset="-120"/>
              </a:rPr>
              <a:t>&lt;/ Görünmeyen Harness /&gt;</a:t>
            </a:r>
            <a:endParaRPr lang="en-US" sz="1600" dirty="0"/>
          </a:p>
        </p:txBody>
      </p:sp>
      <p:sp>
        <p:nvSpPr>
          <p:cNvPr id="13" name="Shape 11"/>
          <p:cNvSpPr/>
          <p:nvPr/>
        </p:nvSpPr>
        <p:spPr>
          <a:xfrm>
            <a:off x="4846320" y="1874520"/>
            <a:ext cx="1371600" cy="0"/>
          </a:xfrm>
          <a:prstGeom prst="line">
            <a:avLst/>
          </a:prstGeom>
          <a:noFill/>
          <a:ln w="25400">
            <a:solidFill>
              <a:srgbClr val="65D7DE"/>
            </a:solidFill>
            <a:prstDash val="solid"/>
          </a:ln>
        </p:spPr>
        <p:txBody>
          <a:bodyPr/>
          <a:lstStyle/>
          <a:p>
            <a:endParaRPr lang="en-TR"/>
          </a:p>
        </p:txBody>
      </p:sp>
      <p:sp>
        <p:nvSpPr>
          <p:cNvPr id="14" name="Text 12"/>
          <p:cNvSpPr/>
          <p:nvPr/>
        </p:nvSpPr>
        <p:spPr>
          <a:xfrm>
            <a:off x="4846320" y="2103120"/>
            <a:ext cx="3657600" cy="3200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Agent runtime, state yönetimi</a:t>
            </a:r>
            <a:endParaRPr lang="en-US" sz="1300" dirty="0"/>
          </a:p>
        </p:txBody>
      </p:sp>
      <p:sp>
        <p:nvSpPr>
          <p:cNvPr id="15" name="Text 13"/>
          <p:cNvSpPr/>
          <p:nvPr/>
        </p:nvSpPr>
        <p:spPr>
          <a:xfrm>
            <a:off x="4846320" y="2468880"/>
            <a:ext cx="3657600" cy="320040"/>
          </a:xfrm>
          <a:prstGeom prst="rect">
            <a:avLst/>
          </a:prstGeom>
          <a:noFill/>
          <a:ln/>
        </p:spPr>
        <p:txBody>
          <a:bodyPr wrap="square" rtlCol="0" anchor="ctr"/>
          <a:lstStyle/>
          <a:p>
            <a:r>
              <a:rPr lang="en-US" sz="1300" dirty="0">
                <a:solidFill>
                  <a:srgbClr val="FFFFFF"/>
                </a:solidFill>
                <a:latin typeface="Calibri" pitchFamily="34" charset="0"/>
                <a:ea typeface="Calibri" pitchFamily="34" charset="-122"/>
                <a:cs typeface="Calibri" pitchFamily="34" charset="-120"/>
              </a:rPr>
              <a:t>•  Tool registry, access control list, governance</a:t>
            </a:r>
            <a:endParaRPr lang="en-US" sz="1300" dirty="0"/>
          </a:p>
        </p:txBody>
      </p:sp>
      <p:sp>
        <p:nvSpPr>
          <p:cNvPr id="16" name="Text 14"/>
          <p:cNvSpPr/>
          <p:nvPr/>
        </p:nvSpPr>
        <p:spPr>
          <a:xfrm>
            <a:off x="4846320" y="2834640"/>
            <a:ext cx="3657600" cy="3200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PII anonymization, OAuth2</a:t>
            </a:r>
            <a:endParaRPr lang="en-US" sz="1300" dirty="0"/>
          </a:p>
        </p:txBody>
      </p:sp>
      <p:sp>
        <p:nvSpPr>
          <p:cNvPr id="17" name="Text 15"/>
          <p:cNvSpPr/>
          <p:nvPr/>
        </p:nvSpPr>
        <p:spPr>
          <a:xfrm>
            <a:off x="4846320" y="3200400"/>
            <a:ext cx="3657600" cy="3200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Hibrit LLM (cloud + on-prem)</a:t>
            </a:r>
            <a:endParaRPr lang="en-US" sz="1300" dirty="0"/>
          </a:p>
        </p:txBody>
      </p:sp>
      <p:sp>
        <p:nvSpPr>
          <p:cNvPr id="18" name="Text 16"/>
          <p:cNvSpPr/>
          <p:nvPr/>
        </p:nvSpPr>
        <p:spPr>
          <a:xfrm>
            <a:off x="4846320" y="3566160"/>
            <a:ext cx="3657600" cy="3200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Audit, lifecycle, deployment</a:t>
            </a:r>
            <a:endParaRPr lang="en-US" sz="1300" dirty="0"/>
          </a:p>
        </p:txBody>
      </p:sp>
      <p:sp>
        <p:nvSpPr>
          <p:cNvPr id="19" name="Shape 17"/>
          <p:cNvSpPr/>
          <p:nvPr/>
        </p:nvSpPr>
        <p:spPr>
          <a:xfrm>
            <a:off x="0" y="4434840"/>
            <a:ext cx="9144000" cy="548640"/>
          </a:xfrm>
          <a:prstGeom prst="rect">
            <a:avLst/>
          </a:prstGeom>
          <a:solidFill>
            <a:srgbClr val="AB80AD"/>
          </a:solidFill>
          <a:ln w="12700">
            <a:solidFill>
              <a:srgbClr val="AB80AD"/>
            </a:solidFill>
            <a:prstDash val="solid"/>
          </a:ln>
        </p:spPr>
        <p:txBody>
          <a:bodyPr/>
          <a:lstStyle/>
          <a:p>
            <a:endParaRPr lang="en-TR"/>
          </a:p>
        </p:txBody>
      </p:sp>
      <p:sp>
        <p:nvSpPr>
          <p:cNvPr id="20" name="Text 18"/>
          <p:cNvSpPr/>
          <p:nvPr/>
        </p:nvSpPr>
        <p:spPr>
          <a:xfrm>
            <a:off x="548640" y="4480560"/>
            <a:ext cx="8229600" cy="457200"/>
          </a:xfrm>
          <a:prstGeom prst="rect">
            <a:avLst/>
          </a:prstGeom>
          <a:noFill/>
          <a:ln/>
        </p:spPr>
        <p:txBody>
          <a:bodyPr wrap="square" rtlCol="0" anchor="ctr"/>
          <a:lstStyle/>
          <a:p>
            <a:pPr marL="0" indent="0" algn="ctr">
              <a:buNone/>
            </a:pPr>
            <a:r>
              <a:rPr lang="en-US" sz="1200" b="1" i="1" dirty="0">
                <a:solidFill>
                  <a:srgbClr val="FFFFFF"/>
                </a:solidFill>
                <a:latin typeface="Calibri" pitchFamily="34" charset="0"/>
                <a:ea typeface="Calibri" pitchFamily="34" charset="-122"/>
                <a:cs typeface="Calibri" pitchFamily="34" charset="-120"/>
              </a:rPr>
              <a:t>Türkiye de </a:t>
            </a:r>
            <a:r>
              <a:rPr lang="en-US" sz="1200" b="1" i="1" dirty="0" err="1">
                <a:solidFill>
                  <a:srgbClr val="FFFFFF"/>
                </a:solidFill>
                <a:latin typeface="Calibri" pitchFamily="34" charset="0"/>
                <a:ea typeface="Calibri" pitchFamily="34" charset="-122"/>
                <a:cs typeface="Calibri" pitchFamily="34" charset="-120"/>
              </a:rPr>
              <a:t>kurumsal</a:t>
            </a:r>
            <a:r>
              <a:rPr lang="en-US" sz="1200" b="1" i="1" dirty="0">
                <a:solidFill>
                  <a:srgbClr val="FFFFFF"/>
                </a:solidFill>
                <a:latin typeface="Calibri" pitchFamily="34" charset="0"/>
                <a:ea typeface="Calibri" pitchFamily="34" charset="-122"/>
                <a:cs typeface="Calibri" pitchFamily="34" charset="-120"/>
              </a:rPr>
              <a:t> </a:t>
            </a:r>
            <a:r>
              <a:rPr lang="en-US" sz="1200" b="1" i="1" dirty="0" err="1">
                <a:solidFill>
                  <a:srgbClr val="FFFFFF"/>
                </a:solidFill>
                <a:latin typeface="Calibri" pitchFamily="34" charset="0"/>
                <a:ea typeface="Calibri" pitchFamily="34" charset="-122"/>
                <a:cs typeface="Calibri" pitchFamily="34" charset="-120"/>
              </a:rPr>
              <a:t>ölçekte</a:t>
            </a:r>
            <a:r>
              <a:rPr lang="en-US" sz="1200" b="1" i="1" dirty="0">
                <a:solidFill>
                  <a:srgbClr val="FFFFFF"/>
                </a:solidFill>
                <a:latin typeface="Calibri" pitchFamily="34" charset="0"/>
                <a:ea typeface="Calibri" pitchFamily="34" charset="-122"/>
                <a:cs typeface="Calibri" pitchFamily="34" charset="-120"/>
              </a:rPr>
              <a:t> </a:t>
            </a:r>
            <a:r>
              <a:rPr lang="en-US" sz="1200" b="1" i="1" dirty="0" err="1">
                <a:solidFill>
                  <a:srgbClr val="FFFFFF"/>
                </a:solidFill>
                <a:latin typeface="Calibri" pitchFamily="34" charset="0"/>
                <a:ea typeface="Calibri" pitchFamily="34" charset="-122"/>
                <a:cs typeface="Calibri" pitchFamily="34" charset="-120"/>
              </a:rPr>
              <a:t>pek</a:t>
            </a:r>
            <a:r>
              <a:rPr lang="en-US" sz="1200" b="1" i="1" dirty="0">
                <a:solidFill>
                  <a:srgbClr val="FFFFFF"/>
                </a:solidFill>
                <a:latin typeface="Calibri" pitchFamily="34" charset="0"/>
                <a:ea typeface="Calibri" pitchFamily="34" charset="-122"/>
                <a:cs typeface="Calibri" pitchFamily="34" charset="-120"/>
              </a:rPr>
              <a:t> </a:t>
            </a:r>
            <a:r>
              <a:rPr lang="en-US" sz="1200" b="1" i="1" dirty="0" err="1">
                <a:solidFill>
                  <a:srgbClr val="FFFFFF"/>
                </a:solidFill>
                <a:latin typeface="Calibri" pitchFamily="34" charset="0"/>
                <a:ea typeface="Calibri" pitchFamily="34" charset="-122"/>
                <a:cs typeface="Calibri" pitchFamily="34" charset="-120"/>
              </a:rPr>
              <a:t>fazla</a:t>
            </a:r>
            <a:r>
              <a:rPr lang="en-US" sz="1200" b="1" i="1" dirty="0">
                <a:solidFill>
                  <a:srgbClr val="FFFFFF"/>
                </a:solidFill>
                <a:latin typeface="Calibri" pitchFamily="34" charset="0"/>
                <a:ea typeface="Calibri" pitchFamily="34" charset="-122"/>
                <a:cs typeface="Calibri" pitchFamily="34" charset="-120"/>
              </a:rPr>
              <a:t> </a:t>
            </a:r>
            <a:r>
              <a:rPr lang="en-US" sz="1200" b="1" i="1" dirty="0" err="1">
                <a:solidFill>
                  <a:srgbClr val="FFFFFF"/>
                </a:solidFill>
                <a:latin typeface="Calibri" pitchFamily="34" charset="0"/>
                <a:ea typeface="Calibri" pitchFamily="34" charset="-122"/>
                <a:cs typeface="Calibri" pitchFamily="34" charset="-120"/>
              </a:rPr>
              <a:t>örneği</a:t>
            </a:r>
            <a:r>
              <a:rPr lang="en-US" sz="1200" b="1" i="1" dirty="0">
                <a:solidFill>
                  <a:srgbClr val="FFFFFF"/>
                </a:solidFill>
                <a:latin typeface="Calibri" pitchFamily="34" charset="0"/>
                <a:ea typeface="Calibri" pitchFamily="34" charset="-122"/>
                <a:cs typeface="Calibri" pitchFamily="34" charset="-120"/>
              </a:rPr>
              <a:t> </a:t>
            </a:r>
            <a:r>
              <a:rPr lang="en-US" sz="1200" b="1" i="1" dirty="0" err="1">
                <a:solidFill>
                  <a:srgbClr val="FFFFFF"/>
                </a:solidFill>
                <a:latin typeface="Calibri" pitchFamily="34" charset="0"/>
                <a:ea typeface="Calibri" pitchFamily="34" charset="-122"/>
                <a:cs typeface="Calibri" pitchFamily="34" charset="-120"/>
              </a:rPr>
              <a:t>bulunmamakla</a:t>
            </a:r>
            <a:r>
              <a:rPr lang="en-US" sz="1200" b="1" i="1" dirty="0">
                <a:solidFill>
                  <a:srgbClr val="FFFFFF"/>
                </a:solidFill>
                <a:latin typeface="Calibri" pitchFamily="34" charset="0"/>
                <a:ea typeface="Calibri" pitchFamily="34" charset="-122"/>
                <a:cs typeface="Calibri" pitchFamily="34" charset="-120"/>
              </a:rPr>
              <a:t> </a:t>
            </a:r>
            <a:r>
              <a:rPr lang="en-US" sz="1200" b="1" i="1" dirty="0" err="1">
                <a:solidFill>
                  <a:srgbClr val="FFFFFF"/>
                </a:solidFill>
                <a:latin typeface="Calibri" pitchFamily="34" charset="0"/>
                <a:ea typeface="Calibri" pitchFamily="34" charset="-122"/>
                <a:cs typeface="Calibri" pitchFamily="34" charset="-120"/>
              </a:rPr>
              <a:t>birlikte</a:t>
            </a:r>
            <a:r>
              <a:rPr lang="en-US" sz="1200" b="1" i="1" dirty="0">
                <a:solidFill>
                  <a:srgbClr val="FFFFFF"/>
                </a:solidFill>
                <a:latin typeface="Calibri" pitchFamily="34" charset="0"/>
                <a:ea typeface="Calibri" pitchFamily="34" charset="-122"/>
                <a:cs typeface="Calibri" pitchFamily="34" charset="-120"/>
              </a:rPr>
              <a:t> </a:t>
            </a:r>
            <a:r>
              <a:rPr lang="en-US" sz="1200" b="1" i="1" dirty="0" err="1">
                <a:solidFill>
                  <a:srgbClr val="FFFFFF"/>
                </a:solidFill>
                <a:latin typeface="Calibri" pitchFamily="34" charset="0"/>
                <a:ea typeface="Calibri" pitchFamily="34" charset="-122"/>
                <a:cs typeface="Calibri" pitchFamily="34" charset="-120"/>
              </a:rPr>
              <a:t>çalışmaları</a:t>
            </a:r>
            <a:r>
              <a:rPr lang="en-US" sz="1200" b="1" i="1" dirty="0">
                <a:solidFill>
                  <a:srgbClr val="FFFFFF"/>
                </a:solidFill>
                <a:latin typeface="Calibri" pitchFamily="34" charset="0"/>
                <a:ea typeface="Calibri" pitchFamily="34" charset="-122"/>
                <a:cs typeface="Calibri" pitchFamily="34" charset="-120"/>
              </a:rPr>
              <a:t> </a:t>
            </a:r>
            <a:r>
              <a:rPr lang="en-US" sz="1200" b="1" i="1" dirty="0" err="1">
                <a:solidFill>
                  <a:srgbClr val="FFFFFF"/>
                </a:solidFill>
                <a:latin typeface="Calibri" pitchFamily="34" charset="0"/>
                <a:ea typeface="Calibri" pitchFamily="34" charset="-122"/>
                <a:cs typeface="Calibri" pitchFamily="34" charset="-120"/>
              </a:rPr>
              <a:t>regülasyon</a:t>
            </a:r>
            <a:r>
              <a:rPr lang="en-US" sz="1200" b="1" i="1" dirty="0">
                <a:solidFill>
                  <a:srgbClr val="FFFFFF"/>
                </a:solidFill>
                <a:latin typeface="Calibri" pitchFamily="34" charset="0"/>
                <a:ea typeface="Calibri" pitchFamily="34" charset="-122"/>
                <a:cs typeface="Calibri" pitchFamily="34" charset="-120"/>
              </a:rPr>
              <a:t> </a:t>
            </a:r>
            <a:r>
              <a:rPr lang="en-US" sz="1200" b="1" i="1" dirty="0" err="1">
                <a:solidFill>
                  <a:srgbClr val="FFFFFF"/>
                </a:solidFill>
                <a:latin typeface="Calibri" pitchFamily="34" charset="0"/>
                <a:ea typeface="Calibri" pitchFamily="34" charset="-122"/>
                <a:cs typeface="Calibri" pitchFamily="34" charset="-120"/>
              </a:rPr>
              <a:t>gerekliliğinden</a:t>
            </a:r>
            <a:r>
              <a:rPr lang="en-US" sz="1200" b="1" i="1" dirty="0">
                <a:solidFill>
                  <a:srgbClr val="FFFFFF"/>
                </a:solidFill>
                <a:latin typeface="Calibri" pitchFamily="34" charset="0"/>
                <a:ea typeface="Calibri" pitchFamily="34" charset="-122"/>
                <a:cs typeface="Calibri" pitchFamily="34" charset="-120"/>
              </a:rPr>
              <a:t> </a:t>
            </a:r>
            <a:r>
              <a:rPr lang="en-US" sz="1200" b="1" i="1" dirty="0" err="1">
                <a:solidFill>
                  <a:srgbClr val="FFFFFF"/>
                </a:solidFill>
                <a:latin typeface="Calibri" pitchFamily="34" charset="0"/>
                <a:ea typeface="Calibri" pitchFamily="34" charset="-122"/>
                <a:cs typeface="Calibri" pitchFamily="34" charset="-120"/>
              </a:rPr>
              <a:t>giderek</a:t>
            </a:r>
            <a:r>
              <a:rPr lang="en-US" sz="1200" b="1" i="1" dirty="0">
                <a:solidFill>
                  <a:srgbClr val="FFFFFF"/>
                </a:solidFill>
                <a:latin typeface="Calibri" pitchFamily="34" charset="0"/>
                <a:ea typeface="Calibri" pitchFamily="34" charset="-122"/>
                <a:cs typeface="Calibri" pitchFamily="34" charset="-120"/>
              </a:rPr>
              <a:t> </a:t>
            </a:r>
            <a:r>
              <a:rPr lang="en-US" sz="1200" b="1" i="1" dirty="0" err="1">
                <a:solidFill>
                  <a:srgbClr val="FFFFFF"/>
                </a:solidFill>
                <a:latin typeface="Calibri" pitchFamily="34" charset="0"/>
                <a:ea typeface="Calibri" pitchFamily="34" charset="-122"/>
                <a:cs typeface="Calibri" pitchFamily="34" charset="-120"/>
              </a:rPr>
              <a:t>artacaktır</a:t>
            </a:r>
            <a:r>
              <a:rPr lang="en-US" sz="1200" b="1" i="1" dirty="0">
                <a:solidFill>
                  <a:srgbClr val="FFFFFF"/>
                </a:solidFill>
                <a:latin typeface="Calibri" pitchFamily="34" charset="0"/>
                <a:ea typeface="Calibri" pitchFamily="34" charset="-122"/>
                <a:cs typeface="Calibri" pitchFamily="34" charset="-120"/>
              </a:rPr>
              <a:t>.</a:t>
            </a:r>
            <a:endParaRPr lang="en-US" sz="1200" dirty="0"/>
          </a:p>
        </p:txBody>
      </p:sp>
      <p:sp>
        <p:nvSpPr>
          <p:cNvPr id="21" name="Text 19"/>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545454"/>
                </a:solidFill>
                <a:latin typeface="Calibri" pitchFamily="34" charset="0"/>
                <a:ea typeface="Calibri" pitchFamily="34" charset="-122"/>
                <a:cs typeface="Calibri" pitchFamily="34" charset="-120"/>
              </a:rPr>
              <a:t>26 / 29  •  Kurumsal</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457200"/>
          </a:xfrm>
          <a:prstGeom prst="rect">
            <a:avLst/>
          </a:prstGeom>
          <a:noFill/>
          <a:ln/>
        </p:spPr>
        <p:txBody>
          <a:bodyPr wrap="square" rtlCol="0" anchor="ctr"/>
          <a:lstStyle/>
          <a:p>
            <a:pPr marL="0" indent="0">
              <a:buNone/>
            </a:pPr>
            <a:r>
              <a:rPr lang="en-US" sz="2600" b="1" dirty="0">
                <a:solidFill>
                  <a:srgbClr val="393939"/>
                </a:solidFill>
                <a:latin typeface="Calibri" pitchFamily="34" charset="0"/>
                <a:ea typeface="Calibri" pitchFamily="34" charset="-122"/>
                <a:cs typeface="Calibri" pitchFamily="34" charset="-120"/>
              </a:rPr>
              <a:t>Production Readiness Checklist</a:t>
            </a:r>
            <a:endParaRPr lang="en-US" sz="2600" dirty="0"/>
          </a:p>
        </p:txBody>
      </p:sp>
      <p:sp>
        <p:nvSpPr>
          <p:cNvPr id="3" name="Text 1"/>
          <p:cNvSpPr/>
          <p:nvPr/>
        </p:nvSpPr>
        <p:spPr>
          <a:xfrm>
            <a:off x="548640" y="777240"/>
            <a:ext cx="8229600" cy="274320"/>
          </a:xfrm>
          <a:prstGeom prst="rect">
            <a:avLst/>
          </a:prstGeom>
          <a:noFill/>
          <a:ln/>
        </p:spPr>
        <p:txBody>
          <a:bodyPr wrap="square" rtlCol="0" anchor="ctr"/>
          <a:lstStyle/>
          <a:p>
            <a:pPr marL="0" indent="0">
              <a:buNone/>
            </a:pPr>
            <a:r>
              <a:rPr lang="en-US" sz="1100" i="1" dirty="0">
                <a:solidFill>
                  <a:srgbClr val="2D9BA3"/>
                </a:solidFill>
                <a:latin typeface="Calibri" pitchFamily="34" charset="0"/>
                <a:ea typeface="Calibri" pitchFamily="34" charset="-122"/>
                <a:cs typeface="Calibri" pitchFamily="34" charset="-120"/>
              </a:rPr>
              <a:t>Production-ready agent: doğru cevap veren değil; doğru sınırlar içinde, doğru izlerle çalışan agent.</a:t>
            </a:r>
            <a:endParaRPr lang="en-US" sz="1100" dirty="0"/>
          </a:p>
        </p:txBody>
      </p:sp>
      <p:sp>
        <p:nvSpPr>
          <p:cNvPr id="4" name="Shape 2"/>
          <p:cNvSpPr/>
          <p:nvPr/>
        </p:nvSpPr>
        <p:spPr>
          <a:xfrm>
            <a:off x="502920" y="1188720"/>
            <a:ext cx="2743200" cy="365760"/>
          </a:xfrm>
          <a:prstGeom prst="rect">
            <a:avLst/>
          </a:prstGeom>
          <a:solidFill>
            <a:srgbClr val="65D7DE"/>
          </a:solidFill>
          <a:ln w="12700">
            <a:solidFill>
              <a:srgbClr val="65D7DE"/>
            </a:solidFill>
            <a:prstDash val="solid"/>
          </a:ln>
        </p:spPr>
        <p:txBody>
          <a:bodyPr/>
          <a:lstStyle/>
          <a:p>
            <a:endParaRPr lang="en-TR"/>
          </a:p>
        </p:txBody>
      </p:sp>
      <p:sp>
        <p:nvSpPr>
          <p:cNvPr id="5" name="Text 3"/>
          <p:cNvSpPr/>
          <p:nvPr/>
        </p:nvSpPr>
        <p:spPr>
          <a:xfrm>
            <a:off x="502920" y="1188720"/>
            <a:ext cx="2743200" cy="365760"/>
          </a:xfrm>
          <a:prstGeom prst="rect">
            <a:avLst/>
          </a:prstGeom>
          <a:noFill/>
          <a:ln/>
        </p:spPr>
        <p:txBody>
          <a:bodyPr wrap="square" rtlCol="0" anchor="ctr"/>
          <a:lstStyle/>
          <a:p>
            <a:pPr marL="0" indent="0" algn="ctr">
              <a:buNone/>
            </a:pPr>
            <a:r>
              <a:rPr lang="en-US" sz="1100" b="1" kern="0" spc="300" dirty="0">
                <a:solidFill>
                  <a:srgbClr val="393939"/>
                </a:solidFill>
                <a:latin typeface="Calibri" pitchFamily="34" charset="0"/>
                <a:ea typeface="Calibri" pitchFamily="34" charset="-122"/>
                <a:cs typeface="Calibri" pitchFamily="34" charset="-120"/>
              </a:rPr>
              <a:t>KİMLİK &amp; YETKİ</a:t>
            </a:r>
            <a:endParaRPr lang="en-US" sz="1100" dirty="0"/>
          </a:p>
        </p:txBody>
      </p:sp>
      <p:sp>
        <p:nvSpPr>
          <p:cNvPr id="6" name="Text 4"/>
          <p:cNvSpPr/>
          <p:nvPr/>
        </p:nvSpPr>
        <p:spPr>
          <a:xfrm>
            <a:off x="548640" y="1691640"/>
            <a:ext cx="365760" cy="320040"/>
          </a:xfrm>
          <a:prstGeom prst="rect">
            <a:avLst/>
          </a:prstGeom>
          <a:noFill/>
          <a:ln/>
        </p:spPr>
        <p:txBody>
          <a:bodyPr wrap="square" rtlCol="0" anchor="ctr"/>
          <a:lstStyle/>
          <a:p>
            <a:pPr marL="0" indent="0">
              <a:buNone/>
            </a:pPr>
            <a:r>
              <a:rPr lang="en-US" sz="1100" b="1" dirty="0">
                <a:solidFill>
                  <a:srgbClr val="65D7DE"/>
                </a:solidFill>
                <a:latin typeface="Calibri" pitchFamily="34" charset="0"/>
                <a:ea typeface="Calibri" pitchFamily="34" charset="-122"/>
                <a:cs typeface="Calibri" pitchFamily="34" charset="-120"/>
              </a:rPr>
              <a:t>01</a:t>
            </a:r>
            <a:endParaRPr lang="en-US" sz="1100" dirty="0"/>
          </a:p>
        </p:txBody>
      </p:sp>
      <p:sp>
        <p:nvSpPr>
          <p:cNvPr id="7" name="Shape 5"/>
          <p:cNvSpPr/>
          <p:nvPr/>
        </p:nvSpPr>
        <p:spPr>
          <a:xfrm>
            <a:off x="868680" y="1737360"/>
            <a:ext cx="201168" cy="201168"/>
          </a:xfrm>
          <a:prstGeom prst="rect">
            <a:avLst/>
          </a:prstGeom>
          <a:solidFill>
            <a:srgbClr val="FFFFFF"/>
          </a:solidFill>
          <a:ln w="19050">
            <a:solidFill>
              <a:srgbClr val="65D7DE"/>
            </a:solidFill>
            <a:prstDash val="solid"/>
          </a:ln>
        </p:spPr>
        <p:txBody>
          <a:bodyPr/>
          <a:lstStyle/>
          <a:p>
            <a:endParaRPr lang="en-TR"/>
          </a:p>
        </p:txBody>
      </p:sp>
      <p:sp>
        <p:nvSpPr>
          <p:cNvPr id="8" name="Text 6"/>
          <p:cNvSpPr/>
          <p:nvPr/>
        </p:nvSpPr>
        <p:spPr>
          <a:xfrm>
            <a:off x="1143000" y="1691640"/>
            <a:ext cx="2103120" cy="365760"/>
          </a:xfrm>
          <a:prstGeom prst="rect">
            <a:avLst/>
          </a:prstGeom>
          <a:noFill/>
          <a:ln/>
        </p:spPr>
        <p:txBody>
          <a:bodyPr wrap="square" rtlCol="0" anchor="ctr"/>
          <a:lstStyle/>
          <a:p>
            <a:pPr marL="0" indent="0">
              <a:buNone/>
            </a:pPr>
            <a:r>
              <a:rPr lang="en-US" sz="1000" dirty="0">
                <a:solidFill>
                  <a:srgbClr val="393939"/>
                </a:solidFill>
                <a:latin typeface="Calibri" pitchFamily="34" charset="0"/>
                <a:ea typeface="Calibri" pitchFamily="34" charset="-122"/>
                <a:cs typeface="Calibri" pitchFamily="34" charset="-120"/>
              </a:rPr>
              <a:t>Agent kimliği tanımlı mı?</a:t>
            </a:r>
            <a:endParaRPr lang="en-US" sz="1000" dirty="0"/>
          </a:p>
        </p:txBody>
      </p:sp>
      <p:sp>
        <p:nvSpPr>
          <p:cNvPr id="9" name="Text 7"/>
          <p:cNvSpPr/>
          <p:nvPr/>
        </p:nvSpPr>
        <p:spPr>
          <a:xfrm>
            <a:off x="548640" y="2075688"/>
            <a:ext cx="365760" cy="320040"/>
          </a:xfrm>
          <a:prstGeom prst="rect">
            <a:avLst/>
          </a:prstGeom>
          <a:noFill/>
          <a:ln/>
        </p:spPr>
        <p:txBody>
          <a:bodyPr wrap="square" rtlCol="0" anchor="ctr"/>
          <a:lstStyle/>
          <a:p>
            <a:pPr marL="0" indent="0">
              <a:buNone/>
            </a:pPr>
            <a:r>
              <a:rPr lang="en-US" sz="1100" b="1" dirty="0">
                <a:solidFill>
                  <a:srgbClr val="65D7DE"/>
                </a:solidFill>
                <a:latin typeface="Calibri" pitchFamily="34" charset="0"/>
                <a:ea typeface="Calibri" pitchFamily="34" charset="-122"/>
                <a:cs typeface="Calibri" pitchFamily="34" charset="-120"/>
              </a:rPr>
              <a:t>02</a:t>
            </a:r>
            <a:endParaRPr lang="en-US" sz="1100" dirty="0"/>
          </a:p>
        </p:txBody>
      </p:sp>
      <p:sp>
        <p:nvSpPr>
          <p:cNvPr id="10" name="Shape 8"/>
          <p:cNvSpPr/>
          <p:nvPr/>
        </p:nvSpPr>
        <p:spPr>
          <a:xfrm>
            <a:off x="868680" y="2121408"/>
            <a:ext cx="201168" cy="201168"/>
          </a:xfrm>
          <a:prstGeom prst="rect">
            <a:avLst/>
          </a:prstGeom>
          <a:solidFill>
            <a:srgbClr val="FFFFFF"/>
          </a:solidFill>
          <a:ln w="19050">
            <a:solidFill>
              <a:srgbClr val="65D7DE"/>
            </a:solidFill>
            <a:prstDash val="solid"/>
          </a:ln>
        </p:spPr>
        <p:txBody>
          <a:bodyPr/>
          <a:lstStyle/>
          <a:p>
            <a:endParaRPr lang="en-TR"/>
          </a:p>
        </p:txBody>
      </p:sp>
      <p:sp>
        <p:nvSpPr>
          <p:cNvPr id="11" name="Text 9"/>
          <p:cNvSpPr/>
          <p:nvPr/>
        </p:nvSpPr>
        <p:spPr>
          <a:xfrm>
            <a:off x="1143000" y="2075688"/>
            <a:ext cx="2103120" cy="365760"/>
          </a:xfrm>
          <a:prstGeom prst="rect">
            <a:avLst/>
          </a:prstGeom>
          <a:noFill/>
          <a:ln/>
        </p:spPr>
        <p:txBody>
          <a:bodyPr wrap="square" rtlCol="0" anchor="ctr"/>
          <a:lstStyle/>
          <a:p>
            <a:pPr marL="0" indent="0">
              <a:buNone/>
            </a:pPr>
            <a:r>
              <a:rPr lang="en-US" sz="1000" dirty="0">
                <a:solidFill>
                  <a:srgbClr val="393939"/>
                </a:solidFill>
                <a:latin typeface="Calibri" pitchFamily="34" charset="0"/>
                <a:ea typeface="Calibri" pitchFamily="34" charset="-122"/>
                <a:cs typeface="Calibri" pitchFamily="34" charset="-120"/>
              </a:rPr>
              <a:t>User on-behalf-of var mı?</a:t>
            </a:r>
            <a:endParaRPr lang="en-US" sz="1000" dirty="0"/>
          </a:p>
        </p:txBody>
      </p:sp>
      <p:sp>
        <p:nvSpPr>
          <p:cNvPr id="12" name="Text 10"/>
          <p:cNvSpPr/>
          <p:nvPr/>
        </p:nvSpPr>
        <p:spPr>
          <a:xfrm>
            <a:off x="548640" y="2459736"/>
            <a:ext cx="365760" cy="320040"/>
          </a:xfrm>
          <a:prstGeom prst="rect">
            <a:avLst/>
          </a:prstGeom>
          <a:noFill/>
          <a:ln/>
        </p:spPr>
        <p:txBody>
          <a:bodyPr wrap="square" rtlCol="0" anchor="ctr"/>
          <a:lstStyle/>
          <a:p>
            <a:pPr marL="0" indent="0">
              <a:buNone/>
            </a:pPr>
            <a:r>
              <a:rPr lang="en-US" sz="1100" b="1" dirty="0">
                <a:solidFill>
                  <a:srgbClr val="65D7DE"/>
                </a:solidFill>
                <a:latin typeface="Calibri" pitchFamily="34" charset="0"/>
                <a:ea typeface="Calibri" pitchFamily="34" charset="-122"/>
                <a:cs typeface="Calibri" pitchFamily="34" charset="-120"/>
              </a:rPr>
              <a:t>03</a:t>
            </a:r>
            <a:endParaRPr lang="en-US" sz="1100" dirty="0"/>
          </a:p>
        </p:txBody>
      </p:sp>
      <p:sp>
        <p:nvSpPr>
          <p:cNvPr id="13" name="Shape 11"/>
          <p:cNvSpPr/>
          <p:nvPr/>
        </p:nvSpPr>
        <p:spPr>
          <a:xfrm>
            <a:off x="868680" y="2505456"/>
            <a:ext cx="201168" cy="201168"/>
          </a:xfrm>
          <a:prstGeom prst="rect">
            <a:avLst/>
          </a:prstGeom>
          <a:solidFill>
            <a:srgbClr val="FFFFFF"/>
          </a:solidFill>
          <a:ln w="19050">
            <a:solidFill>
              <a:srgbClr val="65D7DE"/>
            </a:solidFill>
            <a:prstDash val="solid"/>
          </a:ln>
        </p:spPr>
        <p:txBody>
          <a:bodyPr/>
          <a:lstStyle/>
          <a:p>
            <a:endParaRPr lang="en-TR"/>
          </a:p>
        </p:txBody>
      </p:sp>
      <p:sp>
        <p:nvSpPr>
          <p:cNvPr id="14" name="Text 12"/>
          <p:cNvSpPr/>
          <p:nvPr/>
        </p:nvSpPr>
        <p:spPr>
          <a:xfrm>
            <a:off x="1143000" y="2459736"/>
            <a:ext cx="2103120" cy="365760"/>
          </a:xfrm>
          <a:prstGeom prst="rect">
            <a:avLst/>
          </a:prstGeom>
          <a:noFill/>
          <a:ln/>
        </p:spPr>
        <p:txBody>
          <a:bodyPr wrap="square" rtlCol="0" anchor="ctr"/>
          <a:lstStyle/>
          <a:p>
            <a:pPr marL="0" indent="0">
              <a:buNone/>
            </a:pPr>
            <a:r>
              <a:rPr lang="en-US" sz="1000" dirty="0">
                <a:solidFill>
                  <a:srgbClr val="393939"/>
                </a:solidFill>
                <a:latin typeface="Calibri" pitchFamily="34" charset="0"/>
                <a:ea typeface="Calibri" pitchFamily="34" charset="-122"/>
                <a:cs typeface="Calibri" pitchFamily="34" charset="-120"/>
              </a:rPr>
              <a:t>Agent ACL ayrılmış mı?</a:t>
            </a:r>
            <a:endParaRPr lang="en-US" sz="1000" dirty="0"/>
          </a:p>
        </p:txBody>
      </p:sp>
      <p:sp>
        <p:nvSpPr>
          <p:cNvPr id="15" name="Text 13"/>
          <p:cNvSpPr/>
          <p:nvPr/>
        </p:nvSpPr>
        <p:spPr>
          <a:xfrm>
            <a:off x="548640" y="2843784"/>
            <a:ext cx="365760" cy="320040"/>
          </a:xfrm>
          <a:prstGeom prst="rect">
            <a:avLst/>
          </a:prstGeom>
          <a:noFill/>
          <a:ln/>
        </p:spPr>
        <p:txBody>
          <a:bodyPr wrap="square" rtlCol="0" anchor="ctr"/>
          <a:lstStyle/>
          <a:p>
            <a:pPr marL="0" indent="0">
              <a:buNone/>
            </a:pPr>
            <a:r>
              <a:rPr lang="en-US" sz="1100" b="1" dirty="0">
                <a:solidFill>
                  <a:srgbClr val="65D7DE"/>
                </a:solidFill>
                <a:latin typeface="Calibri" pitchFamily="34" charset="0"/>
                <a:ea typeface="Calibri" pitchFamily="34" charset="-122"/>
                <a:cs typeface="Calibri" pitchFamily="34" charset="-120"/>
              </a:rPr>
              <a:t>04</a:t>
            </a:r>
            <a:endParaRPr lang="en-US" sz="1100" dirty="0"/>
          </a:p>
        </p:txBody>
      </p:sp>
      <p:sp>
        <p:nvSpPr>
          <p:cNvPr id="16" name="Shape 14"/>
          <p:cNvSpPr/>
          <p:nvPr/>
        </p:nvSpPr>
        <p:spPr>
          <a:xfrm>
            <a:off x="868680" y="2889504"/>
            <a:ext cx="201168" cy="201168"/>
          </a:xfrm>
          <a:prstGeom prst="rect">
            <a:avLst/>
          </a:prstGeom>
          <a:solidFill>
            <a:srgbClr val="FFFFFF"/>
          </a:solidFill>
          <a:ln w="19050">
            <a:solidFill>
              <a:srgbClr val="65D7DE"/>
            </a:solidFill>
            <a:prstDash val="solid"/>
          </a:ln>
        </p:spPr>
        <p:txBody>
          <a:bodyPr/>
          <a:lstStyle/>
          <a:p>
            <a:endParaRPr lang="en-TR"/>
          </a:p>
        </p:txBody>
      </p:sp>
      <p:sp>
        <p:nvSpPr>
          <p:cNvPr id="17" name="Text 15"/>
          <p:cNvSpPr/>
          <p:nvPr/>
        </p:nvSpPr>
        <p:spPr>
          <a:xfrm>
            <a:off x="1143000" y="2843784"/>
            <a:ext cx="2103120" cy="365760"/>
          </a:xfrm>
          <a:prstGeom prst="rect">
            <a:avLst/>
          </a:prstGeom>
          <a:noFill/>
          <a:ln/>
        </p:spPr>
        <p:txBody>
          <a:bodyPr wrap="square" rtlCol="0" anchor="ctr"/>
          <a:lstStyle/>
          <a:p>
            <a:pPr marL="0" indent="0">
              <a:buNone/>
            </a:pPr>
            <a:r>
              <a:rPr lang="en-US" sz="1000" dirty="0">
                <a:solidFill>
                  <a:srgbClr val="393939"/>
                </a:solidFill>
                <a:latin typeface="Calibri" pitchFamily="34" charset="0"/>
                <a:ea typeface="Calibri" pitchFamily="34" charset="-122"/>
                <a:cs typeface="Calibri" pitchFamily="34" charset="-120"/>
              </a:rPr>
              <a:t>Tool ACL ayrılmış mı?</a:t>
            </a:r>
            <a:endParaRPr lang="en-US" sz="1000" dirty="0"/>
          </a:p>
        </p:txBody>
      </p:sp>
      <p:sp>
        <p:nvSpPr>
          <p:cNvPr id="18" name="Text 16"/>
          <p:cNvSpPr/>
          <p:nvPr/>
        </p:nvSpPr>
        <p:spPr>
          <a:xfrm>
            <a:off x="548640" y="3227832"/>
            <a:ext cx="365760" cy="320040"/>
          </a:xfrm>
          <a:prstGeom prst="rect">
            <a:avLst/>
          </a:prstGeom>
          <a:noFill/>
          <a:ln/>
        </p:spPr>
        <p:txBody>
          <a:bodyPr wrap="square" rtlCol="0" anchor="ctr"/>
          <a:lstStyle/>
          <a:p>
            <a:pPr marL="0" indent="0">
              <a:buNone/>
            </a:pPr>
            <a:r>
              <a:rPr lang="en-US" sz="1100" b="1" dirty="0">
                <a:solidFill>
                  <a:srgbClr val="65D7DE"/>
                </a:solidFill>
                <a:latin typeface="Calibri" pitchFamily="34" charset="0"/>
                <a:ea typeface="Calibri" pitchFamily="34" charset="-122"/>
                <a:cs typeface="Calibri" pitchFamily="34" charset="-120"/>
              </a:rPr>
              <a:t>05</a:t>
            </a:r>
            <a:endParaRPr lang="en-US" sz="1100" dirty="0"/>
          </a:p>
        </p:txBody>
      </p:sp>
      <p:sp>
        <p:nvSpPr>
          <p:cNvPr id="19" name="Shape 17"/>
          <p:cNvSpPr/>
          <p:nvPr/>
        </p:nvSpPr>
        <p:spPr>
          <a:xfrm>
            <a:off x="868680" y="3273552"/>
            <a:ext cx="201168" cy="201168"/>
          </a:xfrm>
          <a:prstGeom prst="rect">
            <a:avLst/>
          </a:prstGeom>
          <a:solidFill>
            <a:srgbClr val="FFFFFF"/>
          </a:solidFill>
          <a:ln w="19050">
            <a:solidFill>
              <a:srgbClr val="65D7DE"/>
            </a:solidFill>
            <a:prstDash val="solid"/>
          </a:ln>
        </p:spPr>
        <p:txBody>
          <a:bodyPr/>
          <a:lstStyle/>
          <a:p>
            <a:endParaRPr lang="en-TR"/>
          </a:p>
        </p:txBody>
      </p:sp>
      <p:sp>
        <p:nvSpPr>
          <p:cNvPr id="20" name="Text 18"/>
          <p:cNvSpPr/>
          <p:nvPr/>
        </p:nvSpPr>
        <p:spPr>
          <a:xfrm>
            <a:off x="1143000" y="3227832"/>
            <a:ext cx="2103120" cy="365760"/>
          </a:xfrm>
          <a:prstGeom prst="rect">
            <a:avLst/>
          </a:prstGeom>
          <a:noFill/>
          <a:ln/>
        </p:spPr>
        <p:txBody>
          <a:bodyPr wrap="square" rtlCol="0" anchor="ctr"/>
          <a:lstStyle/>
          <a:p>
            <a:pPr marL="0" indent="0">
              <a:buNone/>
            </a:pPr>
            <a:r>
              <a:rPr lang="en-US" sz="1000" dirty="0">
                <a:solidFill>
                  <a:srgbClr val="393939"/>
                </a:solidFill>
                <a:latin typeface="Calibri" pitchFamily="34" charset="0"/>
                <a:ea typeface="Calibri" pitchFamily="34" charset="-122"/>
                <a:cs typeface="Calibri" pitchFamily="34" charset="-120"/>
              </a:rPr>
              <a:t>Tenant boundary net mi?</a:t>
            </a:r>
            <a:endParaRPr lang="en-US" sz="1000" dirty="0"/>
          </a:p>
        </p:txBody>
      </p:sp>
      <p:sp>
        <p:nvSpPr>
          <p:cNvPr id="21" name="Text 19"/>
          <p:cNvSpPr/>
          <p:nvPr/>
        </p:nvSpPr>
        <p:spPr>
          <a:xfrm>
            <a:off x="548640" y="3611880"/>
            <a:ext cx="365760" cy="320040"/>
          </a:xfrm>
          <a:prstGeom prst="rect">
            <a:avLst/>
          </a:prstGeom>
          <a:noFill/>
          <a:ln/>
        </p:spPr>
        <p:txBody>
          <a:bodyPr wrap="square" rtlCol="0" anchor="ctr"/>
          <a:lstStyle/>
          <a:p>
            <a:pPr marL="0" indent="0">
              <a:buNone/>
            </a:pPr>
            <a:r>
              <a:rPr lang="en-US" sz="1100" b="1" dirty="0">
                <a:solidFill>
                  <a:srgbClr val="65D7DE"/>
                </a:solidFill>
                <a:latin typeface="Calibri" pitchFamily="34" charset="0"/>
                <a:ea typeface="Calibri" pitchFamily="34" charset="-122"/>
                <a:cs typeface="Calibri" pitchFamily="34" charset="-120"/>
              </a:rPr>
              <a:t>06</a:t>
            </a:r>
            <a:endParaRPr lang="en-US" sz="1100" dirty="0"/>
          </a:p>
        </p:txBody>
      </p:sp>
      <p:sp>
        <p:nvSpPr>
          <p:cNvPr id="22" name="Shape 20"/>
          <p:cNvSpPr/>
          <p:nvPr/>
        </p:nvSpPr>
        <p:spPr>
          <a:xfrm>
            <a:off x="868680" y="3657600"/>
            <a:ext cx="201168" cy="201168"/>
          </a:xfrm>
          <a:prstGeom prst="rect">
            <a:avLst/>
          </a:prstGeom>
          <a:solidFill>
            <a:srgbClr val="FFFFFF"/>
          </a:solidFill>
          <a:ln w="19050">
            <a:solidFill>
              <a:srgbClr val="65D7DE"/>
            </a:solidFill>
            <a:prstDash val="solid"/>
          </a:ln>
        </p:spPr>
        <p:txBody>
          <a:bodyPr/>
          <a:lstStyle/>
          <a:p>
            <a:endParaRPr lang="en-TR"/>
          </a:p>
        </p:txBody>
      </p:sp>
      <p:sp>
        <p:nvSpPr>
          <p:cNvPr id="23" name="Text 21"/>
          <p:cNvSpPr/>
          <p:nvPr/>
        </p:nvSpPr>
        <p:spPr>
          <a:xfrm>
            <a:off x="1143000" y="3611880"/>
            <a:ext cx="2103120" cy="365760"/>
          </a:xfrm>
          <a:prstGeom prst="rect">
            <a:avLst/>
          </a:prstGeom>
          <a:noFill/>
          <a:ln/>
        </p:spPr>
        <p:txBody>
          <a:bodyPr wrap="square" rtlCol="0" anchor="ctr"/>
          <a:lstStyle/>
          <a:p>
            <a:pPr marL="0" indent="0">
              <a:buNone/>
            </a:pPr>
            <a:r>
              <a:rPr lang="en-US" sz="1000" dirty="0">
                <a:solidFill>
                  <a:srgbClr val="393939"/>
                </a:solidFill>
                <a:latin typeface="Calibri" pitchFamily="34" charset="0"/>
                <a:ea typeface="Calibri" pitchFamily="34" charset="-122"/>
                <a:cs typeface="Calibri" pitchFamily="34" charset="-120"/>
              </a:rPr>
              <a:t>Sub-agent yetki devri tanımlı mı?</a:t>
            </a:r>
            <a:endParaRPr lang="en-US" sz="1000" dirty="0"/>
          </a:p>
        </p:txBody>
      </p:sp>
      <p:sp>
        <p:nvSpPr>
          <p:cNvPr id="24" name="Shape 22"/>
          <p:cNvSpPr/>
          <p:nvPr/>
        </p:nvSpPr>
        <p:spPr>
          <a:xfrm>
            <a:off x="3319272" y="1188720"/>
            <a:ext cx="2743200" cy="365760"/>
          </a:xfrm>
          <a:prstGeom prst="rect">
            <a:avLst/>
          </a:prstGeom>
          <a:solidFill>
            <a:srgbClr val="AB80AD"/>
          </a:solidFill>
          <a:ln w="12700">
            <a:solidFill>
              <a:srgbClr val="AB80AD"/>
            </a:solidFill>
            <a:prstDash val="solid"/>
          </a:ln>
        </p:spPr>
        <p:txBody>
          <a:bodyPr/>
          <a:lstStyle/>
          <a:p>
            <a:endParaRPr lang="en-TR"/>
          </a:p>
        </p:txBody>
      </p:sp>
      <p:sp>
        <p:nvSpPr>
          <p:cNvPr id="25" name="Text 23"/>
          <p:cNvSpPr/>
          <p:nvPr/>
        </p:nvSpPr>
        <p:spPr>
          <a:xfrm>
            <a:off x="3319272" y="1188720"/>
            <a:ext cx="2743200" cy="365760"/>
          </a:xfrm>
          <a:prstGeom prst="rect">
            <a:avLst/>
          </a:prstGeom>
          <a:noFill/>
          <a:ln/>
        </p:spPr>
        <p:txBody>
          <a:bodyPr wrap="square" rtlCol="0" anchor="ctr"/>
          <a:lstStyle/>
          <a:p>
            <a:pPr marL="0" indent="0" algn="ctr">
              <a:buNone/>
            </a:pPr>
            <a:r>
              <a:rPr lang="en-US" sz="1100" b="1" kern="0" spc="300" dirty="0">
                <a:solidFill>
                  <a:srgbClr val="393939"/>
                </a:solidFill>
                <a:latin typeface="Calibri" pitchFamily="34" charset="0"/>
                <a:ea typeface="Calibri" pitchFamily="34" charset="-122"/>
                <a:cs typeface="Calibri" pitchFamily="34" charset="-120"/>
              </a:rPr>
              <a:t>ÇALIŞMA &amp; İZLEME</a:t>
            </a:r>
            <a:endParaRPr lang="en-US" sz="1100" dirty="0"/>
          </a:p>
        </p:txBody>
      </p:sp>
      <p:sp>
        <p:nvSpPr>
          <p:cNvPr id="26" name="Text 24"/>
          <p:cNvSpPr/>
          <p:nvPr/>
        </p:nvSpPr>
        <p:spPr>
          <a:xfrm>
            <a:off x="3364992" y="1691640"/>
            <a:ext cx="365760" cy="320040"/>
          </a:xfrm>
          <a:prstGeom prst="rect">
            <a:avLst/>
          </a:prstGeom>
          <a:noFill/>
          <a:ln/>
        </p:spPr>
        <p:txBody>
          <a:bodyPr wrap="square" rtlCol="0" anchor="ctr"/>
          <a:lstStyle/>
          <a:p>
            <a:pPr marL="0" indent="0">
              <a:buNone/>
            </a:pPr>
            <a:r>
              <a:rPr lang="en-US" sz="1100" b="1" dirty="0">
                <a:solidFill>
                  <a:srgbClr val="AB80AD"/>
                </a:solidFill>
                <a:latin typeface="Calibri" pitchFamily="34" charset="0"/>
                <a:ea typeface="Calibri" pitchFamily="34" charset="-122"/>
                <a:cs typeface="Calibri" pitchFamily="34" charset="-120"/>
              </a:rPr>
              <a:t>07</a:t>
            </a:r>
            <a:endParaRPr lang="en-US" sz="1100" dirty="0"/>
          </a:p>
        </p:txBody>
      </p:sp>
      <p:sp>
        <p:nvSpPr>
          <p:cNvPr id="27" name="Shape 25"/>
          <p:cNvSpPr/>
          <p:nvPr/>
        </p:nvSpPr>
        <p:spPr>
          <a:xfrm>
            <a:off x="3685032" y="1737360"/>
            <a:ext cx="201168" cy="201168"/>
          </a:xfrm>
          <a:prstGeom prst="rect">
            <a:avLst/>
          </a:prstGeom>
          <a:solidFill>
            <a:srgbClr val="FFFFFF"/>
          </a:solidFill>
          <a:ln w="19050">
            <a:solidFill>
              <a:srgbClr val="AB80AD"/>
            </a:solidFill>
            <a:prstDash val="solid"/>
          </a:ln>
        </p:spPr>
        <p:txBody>
          <a:bodyPr/>
          <a:lstStyle/>
          <a:p>
            <a:endParaRPr lang="en-TR"/>
          </a:p>
        </p:txBody>
      </p:sp>
      <p:sp>
        <p:nvSpPr>
          <p:cNvPr id="28" name="Text 26"/>
          <p:cNvSpPr/>
          <p:nvPr/>
        </p:nvSpPr>
        <p:spPr>
          <a:xfrm>
            <a:off x="3959352" y="1691640"/>
            <a:ext cx="2103120" cy="365760"/>
          </a:xfrm>
          <a:prstGeom prst="rect">
            <a:avLst/>
          </a:prstGeom>
          <a:noFill/>
          <a:ln/>
        </p:spPr>
        <p:txBody>
          <a:bodyPr wrap="square" rtlCol="0" anchor="ctr"/>
          <a:lstStyle/>
          <a:p>
            <a:pPr marL="0" indent="0">
              <a:buNone/>
            </a:pPr>
            <a:r>
              <a:rPr lang="en-US" sz="1000" dirty="0">
                <a:solidFill>
                  <a:srgbClr val="393939"/>
                </a:solidFill>
                <a:latin typeface="Calibri" pitchFamily="34" charset="0"/>
                <a:ea typeface="Calibri" pitchFamily="34" charset="-122"/>
                <a:cs typeface="Calibri" pitchFamily="34" charset="-120"/>
              </a:rPr>
              <a:t>State kalıcı ve izlenebilir mi?</a:t>
            </a:r>
            <a:endParaRPr lang="en-US" sz="1000" dirty="0"/>
          </a:p>
        </p:txBody>
      </p:sp>
      <p:sp>
        <p:nvSpPr>
          <p:cNvPr id="29" name="Text 27"/>
          <p:cNvSpPr/>
          <p:nvPr/>
        </p:nvSpPr>
        <p:spPr>
          <a:xfrm>
            <a:off x="3364992" y="2075688"/>
            <a:ext cx="365760" cy="320040"/>
          </a:xfrm>
          <a:prstGeom prst="rect">
            <a:avLst/>
          </a:prstGeom>
          <a:noFill/>
          <a:ln/>
        </p:spPr>
        <p:txBody>
          <a:bodyPr wrap="square" rtlCol="0" anchor="ctr"/>
          <a:lstStyle/>
          <a:p>
            <a:pPr marL="0" indent="0">
              <a:buNone/>
            </a:pPr>
            <a:r>
              <a:rPr lang="en-US" sz="1100" b="1" dirty="0">
                <a:solidFill>
                  <a:srgbClr val="AB80AD"/>
                </a:solidFill>
                <a:latin typeface="Calibri" pitchFamily="34" charset="0"/>
                <a:ea typeface="Calibri" pitchFamily="34" charset="-122"/>
                <a:cs typeface="Calibri" pitchFamily="34" charset="-120"/>
              </a:rPr>
              <a:t>08</a:t>
            </a:r>
            <a:endParaRPr lang="en-US" sz="1100" dirty="0"/>
          </a:p>
        </p:txBody>
      </p:sp>
      <p:sp>
        <p:nvSpPr>
          <p:cNvPr id="30" name="Shape 28"/>
          <p:cNvSpPr/>
          <p:nvPr/>
        </p:nvSpPr>
        <p:spPr>
          <a:xfrm>
            <a:off x="3685032" y="2121408"/>
            <a:ext cx="201168" cy="201168"/>
          </a:xfrm>
          <a:prstGeom prst="rect">
            <a:avLst/>
          </a:prstGeom>
          <a:solidFill>
            <a:srgbClr val="FFFFFF"/>
          </a:solidFill>
          <a:ln w="19050">
            <a:solidFill>
              <a:srgbClr val="AB80AD"/>
            </a:solidFill>
            <a:prstDash val="solid"/>
          </a:ln>
        </p:spPr>
        <p:txBody>
          <a:bodyPr/>
          <a:lstStyle/>
          <a:p>
            <a:endParaRPr lang="en-TR"/>
          </a:p>
        </p:txBody>
      </p:sp>
      <p:sp>
        <p:nvSpPr>
          <p:cNvPr id="31" name="Text 29"/>
          <p:cNvSpPr/>
          <p:nvPr/>
        </p:nvSpPr>
        <p:spPr>
          <a:xfrm>
            <a:off x="3959352" y="2075688"/>
            <a:ext cx="2103120" cy="365760"/>
          </a:xfrm>
          <a:prstGeom prst="rect">
            <a:avLst/>
          </a:prstGeom>
          <a:noFill/>
          <a:ln/>
        </p:spPr>
        <p:txBody>
          <a:bodyPr wrap="square" rtlCol="0" anchor="ctr"/>
          <a:lstStyle/>
          <a:p>
            <a:pPr marL="0" indent="0">
              <a:buNone/>
            </a:pPr>
            <a:r>
              <a:rPr lang="en-US" sz="1000" dirty="0">
                <a:solidFill>
                  <a:srgbClr val="393939"/>
                </a:solidFill>
                <a:latin typeface="Calibri" pitchFamily="34" charset="0"/>
                <a:ea typeface="Calibri" pitchFamily="34" charset="-122"/>
                <a:cs typeface="Calibri" pitchFamily="34" charset="-120"/>
              </a:rPr>
              <a:t>Resume çalışıyor mu?</a:t>
            </a:r>
            <a:endParaRPr lang="en-US" sz="1000" dirty="0"/>
          </a:p>
        </p:txBody>
      </p:sp>
      <p:sp>
        <p:nvSpPr>
          <p:cNvPr id="32" name="Text 30"/>
          <p:cNvSpPr/>
          <p:nvPr/>
        </p:nvSpPr>
        <p:spPr>
          <a:xfrm>
            <a:off x="3364992" y="2459736"/>
            <a:ext cx="365760" cy="320040"/>
          </a:xfrm>
          <a:prstGeom prst="rect">
            <a:avLst/>
          </a:prstGeom>
          <a:noFill/>
          <a:ln/>
        </p:spPr>
        <p:txBody>
          <a:bodyPr wrap="square" rtlCol="0" anchor="ctr"/>
          <a:lstStyle/>
          <a:p>
            <a:pPr marL="0" indent="0">
              <a:buNone/>
            </a:pPr>
            <a:r>
              <a:rPr lang="en-US" sz="1100" b="1" dirty="0">
                <a:solidFill>
                  <a:srgbClr val="AB80AD"/>
                </a:solidFill>
                <a:latin typeface="Calibri" pitchFamily="34" charset="0"/>
                <a:ea typeface="Calibri" pitchFamily="34" charset="-122"/>
                <a:cs typeface="Calibri" pitchFamily="34" charset="-120"/>
              </a:rPr>
              <a:t>09</a:t>
            </a:r>
            <a:endParaRPr lang="en-US" sz="1100" dirty="0"/>
          </a:p>
        </p:txBody>
      </p:sp>
      <p:sp>
        <p:nvSpPr>
          <p:cNvPr id="33" name="Shape 31"/>
          <p:cNvSpPr/>
          <p:nvPr/>
        </p:nvSpPr>
        <p:spPr>
          <a:xfrm>
            <a:off x="3685032" y="2505456"/>
            <a:ext cx="201168" cy="201168"/>
          </a:xfrm>
          <a:prstGeom prst="rect">
            <a:avLst/>
          </a:prstGeom>
          <a:solidFill>
            <a:srgbClr val="FFFFFF"/>
          </a:solidFill>
          <a:ln w="19050">
            <a:solidFill>
              <a:srgbClr val="AB80AD"/>
            </a:solidFill>
            <a:prstDash val="solid"/>
          </a:ln>
        </p:spPr>
        <p:txBody>
          <a:bodyPr/>
          <a:lstStyle/>
          <a:p>
            <a:endParaRPr lang="en-TR"/>
          </a:p>
        </p:txBody>
      </p:sp>
      <p:sp>
        <p:nvSpPr>
          <p:cNvPr id="34" name="Text 32"/>
          <p:cNvSpPr/>
          <p:nvPr/>
        </p:nvSpPr>
        <p:spPr>
          <a:xfrm>
            <a:off x="3959352" y="2459736"/>
            <a:ext cx="2103120" cy="365760"/>
          </a:xfrm>
          <a:prstGeom prst="rect">
            <a:avLst/>
          </a:prstGeom>
          <a:noFill/>
          <a:ln/>
        </p:spPr>
        <p:txBody>
          <a:bodyPr wrap="square" rtlCol="0" anchor="ctr"/>
          <a:lstStyle/>
          <a:p>
            <a:pPr marL="0" indent="0">
              <a:buNone/>
            </a:pPr>
            <a:r>
              <a:rPr lang="en-US" sz="1000" dirty="0">
                <a:solidFill>
                  <a:srgbClr val="393939"/>
                </a:solidFill>
                <a:latin typeface="Calibri" pitchFamily="34" charset="0"/>
                <a:ea typeface="Calibri" pitchFamily="34" charset="-122"/>
                <a:cs typeface="Calibri" pitchFamily="34" charset="-120"/>
              </a:rPr>
              <a:t>Memory policy tanımlı mı?</a:t>
            </a:r>
            <a:endParaRPr lang="en-US" sz="1000" dirty="0"/>
          </a:p>
        </p:txBody>
      </p:sp>
      <p:sp>
        <p:nvSpPr>
          <p:cNvPr id="35" name="Text 33"/>
          <p:cNvSpPr/>
          <p:nvPr/>
        </p:nvSpPr>
        <p:spPr>
          <a:xfrm>
            <a:off x="3364992" y="2843784"/>
            <a:ext cx="365760" cy="320040"/>
          </a:xfrm>
          <a:prstGeom prst="rect">
            <a:avLst/>
          </a:prstGeom>
          <a:noFill/>
          <a:ln/>
        </p:spPr>
        <p:txBody>
          <a:bodyPr wrap="square" rtlCol="0" anchor="ctr"/>
          <a:lstStyle/>
          <a:p>
            <a:pPr marL="0" indent="0">
              <a:buNone/>
            </a:pPr>
            <a:r>
              <a:rPr lang="en-US" sz="1100" b="1" dirty="0">
                <a:solidFill>
                  <a:srgbClr val="AB80AD"/>
                </a:solidFill>
                <a:latin typeface="Calibri" pitchFamily="34" charset="0"/>
                <a:ea typeface="Calibri" pitchFamily="34" charset="-122"/>
                <a:cs typeface="Calibri" pitchFamily="34" charset="-120"/>
              </a:rPr>
              <a:t>10</a:t>
            </a:r>
            <a:endParaRPr lang="en-US" sz="1100" dirty="0"/>
          </a:p>
        </p:txBody>
      </p:sp>
      <p:sp>
        <p:nvSpPr>
          <p:cNvPr id="36" name="Shape 34"/>
          <p:cNvSpPr/>
          <p:nvPr/>
        </p:nvSpPr>
        <p:spPr>
          <a:xfrm>
            <a:off x="3685032" y="2889504"/>
            <a:ext cx="201168" cy="201168"/>
          </a:xfrm>
          <a:prstGeom prst="rect">
            <a:avLst/>
          </a:prstGeom>
          <a:solidFill>
            <a:srgbClr val="FFFFFF"/>
          </a:solidFill>
          <a:ln w="19050">
            <a:solidFill>
              <a:srgbClr val="AB80AD"/>
            </a:solidFill>
            <a:prstDash val="solid"/>
          </a:ln>
        </p:spPr>
        <p:txBody>
          <a:bodyPr/>
          <a:lstStyle/>
          <a:p>
            <a:endParaRPr lang="en-TR"/>
          </a:p>
        </p:txBody>
      </p:sp>
      <p:sp>
        <p:nvSpPr>
          <p:cNvPr id="37" name="Text 35"/>
          <p:cNvSpPr/>
          <p:nvPr/>
        </p:nvSpPr>
        <p:spPr>
          <a:xfrm>
            <a:off x="3959352" y="2843784"/>
            <a:ext cx="2103120" cy="365760"/>
          </a:xfrm>
          <a:prstGeom prst="rect">
            <a:avLst/>
          </a:prstGeom>
          <a:noFill/>
          <a:ln/>
        </p:spPr>
        <p:txBody>
          <a:bodyPr wrap="square" rtlCol="0" anchor="ctr"/>
          <a:lstStyle/>
          <a:p>
            <a:pPr marL="0" indent="0">
              <a:buNone/>
            </a:pPr>
            <a:r>
              <a:rPr lang="en-US" sz="1000" dirty="0">
                <a:solidFill>
                  <a:srgbClr val="393939"/>
                </a:solidFill>
                <a:latin typeface="Calibri" pitchFamily="34" charset="0"/>
                <a:ea typeface="Calibri" pitchFamily="34" charset="-122"/>
                <a:cs typeface="Calibri" pitchFamily="34" charset="-120"/>
              </a:rPr>
              <a:t>RAG yetki filtresi var mı?</a:t>
            </a:r>
            <a:endParaRPr lang="en-US" sz="1000" dirty="0"/>
          </a:p>
        </p:txBody>
      </p:sp>
      <p:sp>
        <p:nvSpPr>
          <p:cNvPr id="38" name="Text 36"/>
          <p:cNvSpPr/>
          <p:nvPr/>
        </p:nvSpPr>
        <p:spPr>
          <a:xfrm>
            <a:off x="3364992" y="3227832"/>
            <a:ext cx="365760" cy="320040"/>
          </a:xfrm>
          <a:prstGeom prst="rect">
            <a:avLst/>
          </a:prstGeom>
          <a:noFill/>
          <a:ln/>
        </p:spPr>
        <p:txBody>
          <a:bodyPr wrap="square" rtlCol="0" anchor="ctr"/>
          <a:lstStyle/>
          <a:p>
            <a:pPr marL="0" indent="0">
              <a:buNone/>
            </a:pPr>
            <a:r>
              <a:rPr lang="en-US" sz="1100" b="1" dirty="0">
                <a:solidFill>
                  <a:srgbClr val="AB80AD"/>
                </a:solidFill>
                <a:latin typeface="Calibri" pitchFamily="34" charset="0"/>
                <a:ea typeface="Calibri" pitchFamily="34" charset="-122"/>
                <a:cs typeface="Calibri" pitchFamily="34" charset="-120"/>
              </a:rPr>
              <a:t>11</a:t>
            </a:r>
            <a:endParaRPr lang="en-US" sz="1100" dirty="0"/>
          </a:p>
        </p:txBody>
      </p:sp>
      <p:sp>
        <p:nvSpPr>
          <p:cNvPr id="39" name="Shape 37"/>
          <p:cNvSpPr/>
          <p:nvPr/>
        </p:nvSpPr>
        <p:spPr>
          <a:xfrm>
            <a:off x="3685032" y="3273552"/>
            <a:ext cx="201168" cy="201168"/>
          </a:xfrm>
          <a:prstGeom prst="rect">
            <a:avLst/>
          </a:prstGeom>
          <a:solidFill>
            <a:srgbClr val="FFFFFF"/>
          </a:solidFill>
          <a:ln w="19050">
            <a:solidFill>
              <a:srgbClr val="AB80AD"/>
            </a:solidFill>
            <a:prstDash val="solid"/>
          </a:ln>
        </p:spPr>
        <p:txBody>
          <a:bodyPr/>
          <a:lstStyle/>
          <a:p>
            <a:endParaRPr lang="en-TR"/>
          </a:p>
        </p:txBody>
      </p:sp>
      <p:sp>
        <p:nvSpPr>
          <p:cNvPr id="40" name="Text 38"/>
          <p:cNvSpPr/>
          <p:nvPr/>
        </p:nvSpPr>
        <p:spPr>
          <a:xfrm>
            <a:off x="3959352" y="3227832"/>
            <a:ext cx="2103120" cy="365760"/>
          </a:xfrm>
          <a:prstGeom prst="rect">
            <a:avLst/>
          </a:prstGeom>
          <a:noFill/>
          <a:ln/>
        </p:spPr>
        <p:txBody>
          <a:bodyPr wrap="square" rtlCol="0" anchor="ctr"/>
          <a:lstStyle/>
          <a:p>
            <a:pPr marL="0" indent="0">
              <a:buNone/>
            </a:pPr>
            <a:r>
              <a:rPr lang="en-US" sz="1000" dirty="0">
                <a:solidFill>
                  <a:srgbClr val="393939"/>
                </a:solidFill>
                <a:latin typeface="Calibri" pitchFamily="34" charset="0"/>
                <a:ea typeface="Calibri" pitchFamily="34" charset="-122"/>
                <a:cs typeface="Calibri" pitchFamily="34" charset="-120"/>
              </a:rPr>
              <a:t>Versiyonlar loglanıyor mu?</a:t>
            </a:r>
            <a:endParaRPr lang="en-US" sz="1000" dirty="0"/>
          </a:p>
        </p:txBody>
      </p:sp>
      <p:sp>
        <p:nvSpPr>
          <p:cNvPr id="41" name="Text 39"/>
          <p:cNvSpPr/>
          <p:nvPr/>
        </p:nvSpPr>
        <p:spPr>
          <a:xfrm>
            <a:off x="3364992" y="3611880"/>
            <a:ext cx="365760" cy="320040"/>
          </a:xfrm>
          <a:prstGeom prst="rect">
            <a:avLst/>
          </a:prstGeom>
          <a:noFill/>
          <a:ln/>
        </p:spPr>
        <p:txBody>
          <a:bodyPr wrap="square" rtlCol="0" anchor="ctr"/>
          <a:lstStyle/>
          <a:p>
            <a:pPr marL="0" indent="0">
              <a:buNone/>
            </a:pPr>
            <a:r>
              <a:rPr lang="en-US" sz="1100" b="1" dirty="0">
                <a:solidFill>
                  <a:srgbClr val="AB80AD"/>
                </a:solidFill>
                <a:latin typeface="Calibri" pitchFamily="34" charset="0"/>
                <a:ea typeface="Calibri" pitchFamily="34" charset="-122"/>
                <a:cs typeface="Calibri" pitchFamily="34" charset="-120"/>
              </a:rPr>
              <a:t>12</a:t>
            </a:r>
            <a:endParaRPr lang="en-US" sz="1100" dirty="0"/>
          </a:p>
        </p:txBody>
      </p:sp>
      <p:sp>
        <p:nvSpPr>
          <p:cNvPr id="42" name="Shape 40"/>
          <p:cNvSpPr/>
          <p:nvPr/>
        </p:nvSpPr>
        <p:spPr>
          <a:xfrm>
            <a:off x="3685032" y="3657600"/>
            <a:ext cx="201168" cy="201168"/>
          </a:xfrm>
          <a:prstGeom prst="rect">
            <a:avLst/>
          </a:prstGeom>
          <a:solidFill>
            <a:srgbClr val="FFFFFF"/>
          </a:solidFill>
          <a:ln w="19050">
            <a:solidFill>
              <a:srgbClr val="AB80AD"/>
            </a:solidFill>
            <a:prstDash val="solid"/>
          </a:ln>
        </p:spPr>
        <p:txBody>
          <a:bodyPr/>
          <a:lstStyle/>
          <a:p>
            <a:endParaRPr lang="en-TR"/>
          </a:p>
        </p:txBody>
      </p:sp>
      <p:sp>
        <p:nvSpPr>
          <p:cNvPr id="43" name="Text 41"/>
          <p:cNvSpPr/>
          <p:nvPr/>
        </p:nvSpPr>
        <p:spPr>
          <a:xfrm>
            <a:off x="3959352" y="3611880"/>
            <a:ext cx="2103120" cy="365760"/>
          </a:xfrm>
          <a:prstGeom prst="rect">
            <a:avLst/>
          </a:prstGeom>
          <a:noFill/>
          <a:ln/>
        </p:spPr>
        <p:txBody>
          <a:bodyPr wrap="square" rtlCol="0" anchor="ctr"/>
          <a:lstStyle/>
          <a:p>
            <a:pPr marL="0" indent="0">
              <a:buNone/>
            </a:pPr>
            <a:r>
              <a:rPr lang="en-US" sz="1000" dirty="0">
                <a:solidFill>
                  <a:srgbClr val="393939"/>
                </a:solidFill>
                <a:latin typeface="Calibri" pitchFamily="34" charset="0"/>
                <a:ea typeface="Calibri" pitchFamily="34" charset="-122"/>
                <a:cs typeface="Calibri" pitchFamily="34" charset="-120"/>
              </a:rPr>
              <a:t>Trace/lineage tutuluyor mu?</a:t>
            </a:r>
            <a:endParaRPr lang="en-US" sz="1000" dirty="0"/>
          </a:p>
        </p:txBody>
      </p:sp>
      <p:sp>
        <p:nvSpPr>
          <p:cNvPr id="44" name="Text 42"/>
          <p:cNvSpPr/>
          <p:nvPr/>
        </p:nvSpPr>
        <p:spPr>
          <a:xfrm>
            <a:off x="3364992" y="3995928"/>
            <a:ext cx="365760" cy="320040"/>
          </a:xfrm>
          <a:prstGeom prst="rect">
            <a:avLst/>
          </a:prstGeom>
          <a:noFill/>
          <a:ln/>
        </p:spPr>
        <p:txBody>
          <a:bodyPr wrap="square" rtlCol="0" anchor="ctr"/>
          <a:lstStyle/>
          <a:p>
            <a:pPr marL="0" indent="0">
              <a:buNone/>
            </a:pPr>
            <a:r>
              <a:rPr lang="en-US" sz="1100" b="1" dirty="0">
                <a:solidFill>
                  <a:srgbClr val="AB80AD"/>
                </a:solidFill>
                <a:latin typeface="Calibri" pitchFamily="34" charset="0"/>
                <a:ea typeface="Calibri" pitchFamily="34" charset="-122"/>
                <a:cs typeface="Calibri" pitchFamily="34" charset="-120"/>
              </a:rPr>
              <a:t>13</a:t>
            </a:r>
            <a:endParaRPr lang="en-US" sz="1100" dirty="0"/>
          </a:p>
        </p:txBody>
      </p:sp>
      <p:sp>
        <p:nvSpPr>
          <p:cNvPr id="45" name="Shape 43"/>
          <p:cNvSpPr/>
          <p:nvPr/>
        </p:nvSpPr>
        <p:spPr>
          <a:xfrm>
            <a:off x="3685032" y="4041648"/>
            <a:ext cx="201168" cy="201168"/>
          </a:xfrm>
          <a:prstGeom prst="rect">
            <a:avLst/>
          </a:prstGeom>
          <a:solidFill>
            <a:srgbClr val="FFFFFF"/>
          </a:solidFill>
          <a:ln w="19050">
            <a:solidFill>
              <a:srgbClr val="AB80AD"/>
            </a:solidFill>
            <a:prstDash val="solid"/>
          </a:ln>
        </p:spPr>
        <p:txBody>
          <a:bodyPr/>
          <a:lstStyle/>
          <a:p>
            <a:endParaRPr lang="en-TR"/>
          </a:p>
        </p:txBody>
      </p:sp>
      <p:sp>
        <p:nvSpPr>
          <p:cNvPr id="46" name="Text 44"/>
          <p:cNvSpPr/>
          <p:nvPr/>
        </p:nvSpPr>
        <p:spPr>
          <a:xfrm>
            <a:off x="3959352" y="3995928"/>
            <a:ext cx="2103120" cy="365760"/>
          </a:xfrm>
          <a:prstGeom prst="rect">
            <a:avLst/>
          </a:prstGeom>
          <a:noFill/>
          <a:ln/>
        </p:spPr>
        <p:txBody>
          <a:bodyPr wrap="square" rtlCol="0" anchor="ctr"/>
          <a:lstStyle/>
          <a:p>
            <a:pPr marL="0" indent="0">
              <a:buNone/>
            </a:pPr>
            <a:r>
              <a:rPr lang="en-US" sz="1000" dirty="0">
                <a:solidFill>
                  <a:srgbClr val="393939"/>
                </a:solidFill>
                <a:latin typeface="Calibri" pitchFamily="34" charset="0"/>
                <a:ea typeface="Calibri" pitchFamily="34" charset="-122"/>
                <a:cs typeface="Calibri" pitchFamily="34" charset="-120"/>
              </a:rPr>
              <a:t>Token/cost izleniyor mu?</a:t>
            </a:r>
            <a:endParaRPr lang="en-US" sz="1000" dirty="0"/>
          </a:p>
        </p:txBody>
      </p:sp>
      <p:sp>
        <p:nvSpPr>
          <p:cNvPr id="47" name="Text 45"/>
          <p:cNvSpPr/>
          <p:nvPr/>
        </p:nvSpPr>
        <p:spPr>
          <a:xfrm>
            <a:off x="3364992" y="4379976"/>
            <a:ext cx="365760" cy="320040"/>
          </a:xfrm>
          <a:prstGeom prst="rect">
            <a:avLst/>
          </a:prstGeom>
          <a:noFill/>
          <a:ln/>
        </p:spPr>
        <p:txBody>
          <a:bodyPr wrap="square" rtlCol="0" anchor="ctr"/>
          <a:lstStyle/>
          <a:p>
            <a:pPr marL="0" indent="0">
              <a:buNone/>
            </a:pPr>
            <a:r>
              <a:rPr lang="en-US" sz="1100" b="1" dirty="0">
                <a:solidFill>
                  <a:srgbClr val="AB80AD"/>
                </a:solidFill>
                <a:latin typeface="Calibri" pitchFamily="34" charset="0"/>
                <a:ea typeface="Calibri" pitchFamily="34" charset="-122"/>
                <a:cs typeface="Calibri" pitchFamily="34" charset="-120"/>
              </a:rPr>
              <a:t>14</a:t>
            </a:r>
            <a:endParaRPr lang="en-US" sz="1100" dirty="0"/>
          </a:p>
        </p:txBody>
      </p:sp>
      <p:sp>
        <p:nvSpPr>
          <p:cNvPr id="48" name="Shape 46"/>
          <p:cNvSpPr/>
          <p:nvPr/>
        </p:nvSpPr>
        <p:spPr>
          <a:xfrm>
            <a:off x="3685032" y="4425696"/>
            <a:ext cx="201168" cy="201168"/>
          </a:xfrm>
          <a:prstGeom prst="rect">
            <a:avLst/>
          </a:prstGeom>
          <a:solidFill>
            <a:srgbClr val="FFFFFF"/>
          </a:solidFill>
          <a:ln w="19050">
            <a:solidFill>
              <a:srgbClr val="AB80AD"/>
            </a:solidFill>
            <a:prstDash val="solid"/>
          </a:ln>
        </p:spPr>
        <p:txBody>
          <a:bodyPr/>
          <a:lstStyle/>
          <a:p>
            <a:endParaRPr lang="en-TR"/>
          </a:p>
        </p:txBody>
      </p:sp>
      <p:sp>
        <p:nvSpPr>
          <p:cNvPr id="49" name="Text 47"/>
          <p:cNvSpPr/>
          <p:nvPr/>
        </p:nvSpPr>
        <p:spPr>
          <a:xfrm>
            <a:off x="3959352" y="4379976"/>
            <a:ext cx="2103120" cy="365760"/>
          </a:xfrm>
          <a:prstGeom prst="rect">
            <a:avLst/>
          </a:prstGeom>
          <a:noFill/>
          <a:ln/>
        </p:spPr>
        <p:txBody>
          <a:bodyPr wrap="square" rtlCol="0" anchor="ctr"/>
          <a:lstStyle/>
          <a:p>
            <a:pPr marL="0" indent="0">
              <a:buNone/>
            </a:pPr>
            <a:r>
              <a:rPr lang="en-US" sz="1000" dirty="0">
                <a:solidFill>
                  <a:srgbClr val="393939"/>
                </a:solidFill>
                <a:latin typeface="Calibri" pitchFamily="34" charset="0"/>
                <a:ea typeface="Calibri" pitchFamily="34" charset="-122"/>
                <a:cs typeface="Calibri" pitchFamily="34" charset="-120"/>
              </a:rPr>
              <a:t>Guardrail ihlalleri ölçülüyor mu?</a:t>
            </a:r>
            <a:endParaRPr lang="en-US" sz="1000" dirty="0"/>
          </a:p>
        </p:txBody>
      </p:sp>
      <p:sp>
        <p:nvSpPr>
          <p:cNvPr id="50" name="Shape 48"/>
          <p:cNvSpPr/>
          <p:nvPr/>
        </p:nvSpPr>
        <p:spPr>
          <a:xfrm>
            <a:off x="6135624" y="1188720"/>
            <a:ext cx="2743200" cy="365760"/>
          </a:xfrm>
          <a:prstGeom prst="rect">
            <a:avLst/>
          </a:prstGeom>
          <a:solidFill>
            <a:srgbClr val="FFCC4F"/>
          </a:solidFill>
          <a:ln w="12700">
            <a:solidFill>
              <a:srgbClr val="FFCC4F"/>
            </a:solidFill>
            <a:prstDash val="solid"/>
          </a:ln>
        </p:spPr>
        <p:txBody>
          <a:bodyPr/>
          <a:lstStyle/>
          <a:p>
            <a:endParaRPr lang="en-TR"/>
          </a:p>
        </p:txBody>
      </p:sp>
      <p:sp>
        <p:nvSpPr>
          <p:cNvPr id="51" name="Text 49"/>
          <p:cNvSpPr/>
          <p:nvPr/>
        </p:nvSpPr>
        <p:spPr>
          <a:xfrm>
            <a:off x="6135624" y="1188720"/>
            <a:ext cx="2743200" cy="365760"/>
          </a:xfrm>
          <a:prstGeom prst="rect">
            <a:avLst/>
          </a:prstGeom>
          <a:noFill/>
          <a:ln/>
        </p:spPr>
        <p:txBody>
          <a:bodyPr wrap="square" rtlCol="0" anchor="ctr"/>
          <a:lstStyle/>
          <a:p>
            <a:pPr marL="0" indent="0" algn="ctr">
              <a:buNone/>
            </a:pPr>
            <a:r>
              <a:rPr lang="en-US" sz="1100" b="1" kern="0" spc="300" dirty="0">
                <a:solidFill>
                  <a:srgbClr val="393939"/>
                </a:solidFill>
                <a:latin typeface="Calibri" pitchFamily="34" charset="0"/>
                <a:ea typeface="Calibri" pitchFamily="34" charset="-122"/>
                <a:cs typeface="Calibri" pitchFamily="34" charset="-120"/>
              </a:rPr>
              <a:t>YÖNETİŞİM &amp; DEPLOY</a:t>
            </a:r>
            <a:endParaRPr lang="en-US" sz="1100" dirty="0"/>
          </a:p>
        </p:txBody>
      </p:sp>
      <p:sp>
        <p:nvSpPr>
          <p:cNvPr id="52" name="Text 50"/>
          <p:cNvSpPr/>
          <p:nvPr/>
        </p:nvSpPr>
        <p:spPr>
          <a:xfrm>
            <a:off x="6181344" y="1691640"/>
            <a:ext cx="365760" cy="320040"/>
          </a:xfrm>
          <a:prstGeom prst="rect">
            <a:avLst/>
          </a:prstGeom>
          <a:noFill/>
          <a:ln/>
        </p:spPr>
        <p:txBody>
          <a:bodyPr wrap="square" rtlCol="0" anchor="ctr"/>
          <a:lstStyle/>
          <a:p>
            <a:pPr marL="0" indent="0">
              <a:buNone/>
            </a:pPr>
            <a:r>
              <a:rPr lang="en-US" sz="1100" b="1" dirty="0">
                <a:solidFill>
                  <a:srgbClr val="FFCC4F"/>
                </a:solidFill>
                <a:latin typeface="Calibri" pitchFamily="34" charset="0"/>
                <a:ea typeface="Calibri" pitchFamily="34" charset="-122"/>
                <a:cs typeface="Calibri" pitchFamily="34" charset="-120"/>
              </a:rPr>
              <a:t>15</a:t>
            </a:r>
            <a:endParaRPr lang="en-US" sz="1100" dirty="0"/>
          </a:p>
        </p:txBody>
      </p:sp>
      <p:sp>
        <p:nvSpPr>
          <p:cNvPr id="53" name="Shape 51"/>
          <p:cNvSpPr/>
          <p:nvPr/>
        </p:nvSpPr>
        <p:spPr>
          <a:xfrm>
            <a:off x="6501384" y="1737360"/>
            <a:ext cx="201168" cy="201168"/>
          </a:xfrm>
          <a:prstGeom prst="rect">
            <a:avLst/>
          </a:prstGeom>
          <a:solidFill>
            <a:srgbClr val="FFFFFF"/>
          </a:solidFill>
          <a:ln w="19050">
            <a:solidFill>
              <a:srgbClr val="FFCC4F"/>
            </a:solidFill>
            <a:prstDash val="solid"/>
          </a:ln>
        </p:spPr>
        <p:txBody>
          <a:bodyPr/>
          <a:lstStyle/>
          <a:p>
            <a:endParaRPr lang="en-TR"/>
          </a:p>
        </p:txBody>
      </p:sp>
      <p:sp>
        <p:nvSpPr>
          <p:cNvPr id="54" name="Text 52"/>
          <p:cNvSpPr/>
          <p:nvPr/>
        </p:nvSpPr>
        <p:spPr>
          <a:xfrm>
            <a:off x="6775704" y="1691640"/>
            <a:ext cx="2103120" cy="365760"/>
          </a:xfrm>
          <a:prstGeom prst="rect">
            <a:avLst/>
          </a:prstGeom>
          <a:noFill/>
          <a:ln/>
        </p:spPr>
        <p:txBody>
          <a:bodyPr wrap="square" rtlCol="0" anchor="ctr"/>
          <a:lstStyle/>
          <a:p>
            <a:pPr marL="0" indent="0">
              <a:buNone/>
            </a:pPr>
            <a:r>
              <a:rPr lang="en-US" sz="1000" dirty="0">
                <a:solidFill>
                  <a:srgbClr val="393939"/>
                </a:solidFill>
                <a:latin typeface="Calibri" pitchFamily="34" charset="0"/>
                <a:ea typeface="Calibri" pitchFamily="34" charset="-122"/>
                <a:cs typeface="Calibri" pitchFamily="34" charset="-120"/>
              </a:rPr>
              <a:t>Risk seviyeli tool sınıflaması var mı?</a:t>
            </a:r>
            <a:endParaRPr lang="en-US" sz="1000" dirty="0"/>
          </a:p>
        </p:txBody>
      </p:sp>
      <p:sp>
        <p:nvSpPr>
          <p:cNvPr id="55" name="Text 53"/>
          <p:cNvSpPr/>
          <p:nvPr/>
        </p:nvSpPr>
        <p:spPr>
          <a:xfrm>
            <a:off x="6181344" y="2075688"/>
            <a:ext cx="365760" cy="320040"/>
          </a:xfrm>
          <a:prstGeom prst="rect">
            <a:avLst/>
          </a:prstGeom>
          <a:noFill/>
          <a:ln/>
        </p:spPr>
        <p:txBody>
          <a:bodyPr wrap="square" rtlCol="0" anchor="ctr"/>
          <a:lstStyle/>
          <a:p>
            <a:pPr marL="0" indent="0">
              <a:buNone/>
            </a:pPr>
            <a:r>
              <a:rPr lang="en-US" sz="1100" b="1" dirty="0">
                <a:solidFill>
                  <a:srgbClr val="FFCC4F"/>
                </a:solidFill>
                <a:latin typeface="Calibri" pitchFamily="34" charset="0"/>
                <a:ea typeface="Calibri" pitchFamily="34" charset="-122"/>
                <a:cs typeface="Calibri" pitchFamily="34" charset="-120"/>
              </a:rPr>
              <a:t>16</a:t>
            </a:r>
            <a:endParaRPr lang="en-US" sz="1100" dirty="0"/>
          </a:p>
        </p:txBody>
      </p:sp>
      <p:sp>
        <p:nvSpPr>
          <p:cNvPr id="56" name="Shape 54"/>
          <p:cNvSpPr/>
          <p:nvPr/>
        </p:nvSpPr>
        <p:spPr>
          <a:xfrm>
            <a:off x="6501384" y="2121408"/>
            <a:ext cx="201168" cy="201168"/>
          </a:xfrm>
          <a:prstGeom prst="rect">
            <a:avLst/>
          </a:prstGeom>
          <a:solidFill>
            <a:srgbClr val="FFFFFF"/>
          </a:solidFill>
          <a:ln w="19050">
            <a:solidFill>
              <a:srgbClr val="FFCC4F"/>
            </a:solidFill>
            <a:prstDash val="solid"/>
          </a:ln>
        </p:spPr>
        <p:txBody>
          <a:bodyPr/>
          <a:lstStyle/>
          <a:p>
            <a:endParaRPr lang="en-TR"/>
          </a:p>
        </p:txBody>
      </p:sp>
      <p:sp>
        <p:nvSpPr>
          <p:cNvPr id="57" name="Text 55"/>
          <p:cNvSpPr/>
          <p:nvPr/>
        </p:nvSpPr>
        <p:spPr>
          <a:xfrm>
            <a:off x="6775704" y="2075688"/>
            <a:ext cx="2103120" cy="365760"/>
          </a:xfrm>
          <a:prstGeom prst="rect">
            <a:avLst/>
          </a:prstGeom>
          <a:noFill/>
          <a:ln/>
        </p:spPr>
        <p:txBody>
          <a:bodyPr wrap="square" rtlCol="0" anchor="ctr"/>
          <a:lstStyle/>
          <a:p>
            <a:pPr marL="0" indent="0">
              <a:buNone/>
            </a:pPr>
            <a:r>
              <a:rPr lang="en-US" sz="1000" dirty="0">
                <a:solidFill>
                  <a:srgbClr val="393939"/>
                </a:solidFill>
                <a:latin typeface="Calibri" pitchFamily="34" charset="0"/>
                <a:ea typeface="Calibri" pitchFamily="34" charset="-122"/>
                <a:cs typeface="Calibri" pitchFamily="34" charset="-120"/>
              </a:rPr>
              <a:t>Approval kaydı tutuluyor mu?</a:t>
            </a:r>
            <a:endParaRPr lang="en-US" sz="1000" dirty="0"/>
          </a:p>
        </p:txBody>
      </p:sp>
      <p:sp>
        <p:nvSpPr>
          <p:cNvPr id="58" name="Text 56"/>
          <p:cNvSpPr/>
          <p:nvPr/>
        </p:nvSpPr>
        <p:spPr>
          <a:xfrm>
            <a:off x="6181344" y="2459736"/>
            <a:ext cx="365760" cy="320040"/>
          </a:xfrm>
          <a:prstGeom prst="rect">
            <a:avLst/>
          </a:prstGeom>
          <a:noFill/>
          <a:ln/>
        </p:spPr>
        <p:txBody>
          <a:bodyPr wrap="square" rtlCol="0" anchor="ctr"/>
          <a:lstStyle/>
          <a:p>
            <a:pPr marL="0" indent="0">
              <a:buNone/>
            </a:pPr>
            <a:r>
              <a:rPr lang="en-US" sz="1100" b="1" dirty="0">
                <a:solidFill>
                  <a:srgbClr val="FFCC4F"/>
                </a:solidFill>
                <a:latin typeface="Calibri" pitchFamily="34" charset="0"/>
                <a:ea typeface="Calibri" pitchFamily="34" charset="-122"/>
                <a:cs typeface="Calibri" pitchFamily="34" charset="-120"/>
              </a:rPr>
              <a:t>17</a:t>
            </a:r>
            <a:endParaRPr lang="en-US" sz="1100" dirty="0"/>
          </a:p>
        </p:txBody>
      </p:sp>
      <p:sp>
        <p:nvSpPr>
          <p:cNvPr id="59" name="Shape 57"/>
          <p:cNvSpPr/>
          <p:nvPr/>
        </p:nvSpPr>
        <p:spPr>
          <a:xfrm>
            <a:off x="6501384" y="2505456"/>
            <a:ext cx="201168" cy="201168"/>
          </a:xfrm>
          <a:prstGeom prst="rect">
            <a:avLst/>
          </a:prstGeom>
          <a:solidFill>
            <a:srgbClr val="FFFFFF"/>
          </a:solidFill>
          <a:ln w="19050">
            <a:solidFill>
              <a:srgbClr val="FFCC4F"/>
            </a:solidFill>
            <a:prstDash val="solid"/>
          </a:ln>
        </p:spPr>
        <p:txBody>
          <a:bodyPr/>
          <a:lstStyle/>
          <a:p>
            <a:endParaRPr lang="en-TR"/>
          </a:p>
        </p:txBody>
      </p:sp>
      <p:sp>
        <p:nvSpPr>
          <p:cNvPr id="60" name="Text 58"/>
          <p:cNvSpPr/>
          <p:nvPr/>
        </p:nvSpPr>
        <p:spPr>
          <a:xfrm>
            <a:off x="6775704" y="2459736"/>
            <a:ext cx="2103120" cy="365760"/>
          </a:xfrm>
          <a:prstGeom prst="rect">
            <a:avLst/>
          </a:prstGeom>
          <a:noFill/>
          <a:ln/>
        </p:spPr>
        <p:txBody>
          <a:bodyPr wrap="square" rtlCol="0" anchor="ctr"/>
          <a:lstStyle/>
          <a:p>
            <a:pPr marL="0" indent="0">
              <a:buNone/>
            </a:pPr>
            <a:r>
              <a:rPr lang="en-US" sz="1000" dirty="0">
                <a:solidFill>
                  <a:srgbClr val="393939"/>
                </a:solidFill>
                <a:latin typeface="Calibri" pitchFamily="34" charset="0"/>
                <a:ea typeface="Calibri" pitchFamily="34" charset="-122"/>
                <a:cs typeface="Calibri" pitchFamily="34" charset="-120"/>
              </a:rPr>
              <a:t>Deployment rollback mümkün mü?</a:t>
            </a:r>
            <a:endParaRPr lang="en-US" sz="1000" dirty="0"/>
          </a:p>
        </p:txBody>
      </p:sp>
      <p:sp>
        <p:nvSpPr>
          <p:cNvPr id="61" name="Text 59"/>
          <p:cNvSpPr/>
          <p:nvPr/>
        </p:nvSpPr>
        <p:spPr>
          <a:xfrm>
            <a:off x="6181344" y="2843784"/>
            <a:ext cx="365760" cy="320040"/>
          </a:xfrm>
          <a:prstGeom prst="rect">
            <a:avLst/>
          </a:prstGeom>
          <a:noFill/>
          <a:ln/>
        </p:spPr>
        <p:txBody>
          <a:bodyPr wrap="square" rtlCol="0" anchor="ctr"/>
          <a:lstStyle/>
          <a:p>
            <a:pPr marL="0" indent="0">
              <a:buNone/>
            </a:pPr>
            <a:r>
              <a:rPr lang="en-US" sz="1100" b="1" dirty="0">
                <a:solidFill>
                  <a:srgbClr val="FFCC4F"/>
                </a:solidFill>
                <a:latin typeface="Calibri" pitchFamily="34" charset="0"/>
                <a:ea typeface="Calibri" pitchFamily="34" charset="-122"/>
                <a:cs typeface="Calibri" pitchFamily="34" charset="-120"/>
              </a:rPr>
              <a:t>18</a:t>
            </a:r>
            <a:endParaRPr lang="en-US" sz="1100" dirty="0"/>
          </a:p>
        </p:txBody>
      </p:sp>
      <p:sp>
        <p:nvSpPr>
          <p:cNvPr id="62" name="Shape 60"/>
          <p:cNvSpPr/>
          <p:nvPr/>
        </p:nvSpPr>
        <p:spPr>
          <a:xfrm>
            <a:off x="6501384" y="2889504"/>
            <a:ext cx="201168" cy="201168"/>
          </a:xfrm>
          <a:prstGeom prst="rect">
            <a:avLst/>
          </a:prstGeom>
          <a:solidFill>
            <a:srgbClr val="FFFFFF"/>
          </a:solidFill>
          <a:ln w="19050">
            <a:solidFill>
              <a:srgbClr val="FFCC4F"/>
            </a:solidFill>
            <a:prstDash val="solid"/>
          </a:ln>
        </p:spPr>
        <p:txBody>
          <a:bodyPr/>
          <a:lstStyle/>
          <a:p>
            <a:endParaRPr lang="en-TR"/>
          </a:p>
        </p:txBody>
      </p:sp>
      <p:sp>
        <p:nvSpPr>
          <p:cNvPr id="63" name="Text 61"/>
          <p:cNvSpPr/>
          <p:nvPr/>
        </p:nvSpPr>
        <p:spPr>
          <a:xfrm>
            <a:off x="6775704" y="2843784"/>
            <a:ext cx="2103120" cy="365760"/>
          </a:xfrm>
          <a:prstGeom prst="rect">
            <a:avLst/>
          </a:prstGeom>
          <a:noFill/>
          <a:ln/>
        </p:spPr>
        <p:txBody>
          <a:bodyPr wrap="square" rtlCol="0" anchor="ctr"/>
          <a:lstStyle/>
          <a:p>
            <a:pPr marL="0" indent="0">
              <a:buNone/>
            </a:pPr>
            <a:r>
              <a:rPr lang="en-US" sz="1000" dirty="0">
                <a:solidFill>
                  <a:srgbClr val="393939"/>
                </a:solidFill>
                <a:latin typeface="Calibri" pitchFamily="34" charset="0"/>
                <a:ea typeface="Calibri" pitchFamily="34" charset="-122"/>
                <a:cs typeface="Calibri" pitchFamily="34" charset="-120"/>
              </a:rPr>
              <a:t>Canary/pilot ayrımı var mı?</a:t>
            </a:r>
            <a:endParaRPr lang="en-US" sz="1000" dirty="0"/>
          </a:p>
        </p:txBody>
      </p:sp>
      <p:sp>
        <p:nvSpPr>
          <p:cNvPr id="64" name="Text 62"/>
          <p:cNvSpPr/>
          <p:nvPr/>
        </p:nvSpPr>
        <p:spPr>
          <a:xfrm>
            <a:off x="6181344" y="3227832"/>
            <a:ext cx="365760" cy="320040"/>
          </a:xfrm>
          <a:prstGeom prst="rect">
            <a:avLst/>
          </a:prstGeom>
          <a:noFill/>
          <a:ln/>
        </p:spPr>
        <p:txBody>
          <a:bodyPr wrap="square" rtlCol="0" anchor="ctr"/>
          <a:lstStyle/>
          <a:p>
            <a:pPr marL="0" indent="0">
              <a:buNone/>
            </a:pPr>
            <a:r>
              <a:rPr lang="en-US" sz="1100" b="1" dirty="0">
                <a:solidFill>
                  <a:srgbClr val="FFCC4F"/>
                </a:solidFill>
                <a:latin typeface="Calibri" pitchFamily="34" charset="0"/>
                <a:ea typeface="Calibri" pitchFamily="34" charset="-122"/>
                <a:cs typeface="Calibri" pitchFamily="34" charset="-120"/>
              </a:rPr>
              <a:t>19</a:t>
            </a:r>
            <a:endParaRPr lang="en-US" sz="1100" dirty="0"/>
          </a:p>
        </p:txBody>
      </p:sp>
      <p:sp>
        <p:nvSpPr>
          <p:cNvPr id="65" name="Shape 63"/>
          <p:cNvSpPr/>
          <p:nvPr/>
        </p:nvSpPr>
        <p:spPr>
          <a:xfrm>
            <a:off x="6501384" y="3273552"/>
            <a:ext cx="201168" cy="201168"/>
          </a:xfrm>
          <a:prstGeom prst="rect">
            <a:avLst/>
          </a:prstGeom>
          <a:solidFill>
            <a:srgbClr val="FFFFFF"/>
          </a:solidFill>
          <a:ln w="19050">
            <a:solidFill>
              <a:srgbClr val="FFCC4F"/>
            </a:solidFill>
            <a:prstDash val="solid"/>
          </a:ln>
        </p:spPr>
        <p:txBody>
          <a:bodyPr/>
          <a:lstStyle/>
          <a:p>
            <a:endParaRPr lang="en-TR"/>
          </a:p>
        </p:txBody>
      </p:sp>
      <p:sp>
        <p:nvSpPr>
          <p:cNvPr id="66" name="Text 64"/>
          <p:cNvSpPr/>
          <p:nvPr/>
        </p:nvSpPr>
        <p:spPr>
          <a:xfrm>
            <a:off x="6775704" y="3227832"/>
            <a:ext cx="2103120" cy="365760"/>
          </a:xfrm>
          <a:prstGeom prst="rect">
            <a:avLst/>
          </a:prstGeom>
          <a:noFill/>
          <a:ln/>
        </p:spPr>
        <p:txBody>
          <a:bodyPr wrap="square" rtlCol="0" anchor="ctr"/>
          <a:lstStyle/>
          <a:p>
            <a:pPr marL="0" indent="0">
              <a:buNone/>
            </a:pPr>
            <a:r>
              <a:rPr lang="en-US" sz="1000" dirty="0">
                <a:solidFill>
                  <a:srgbClr val="393939"/>
                </a:solidFill>
                <a:latin typeface="Calibri" pitchFamily="34" charset="0"/>
                <a:ea typeface="Calibri" pitchFamily="34" charset="-122"/>
                <a:cs typeface="Calibri" pitchFamily="34" charset="-120"/>
              </a:rPr>
              <a:t>Evaluation karar izini ölçüyor mu?</a:t>
            </a:r>
            <a:endParaRPr lang="en-US" sz="1000" dirty="0"/>
          </a:p>
        </p:txBody>
      </p:sp>
      <p:sp>
        <p:nvSpPr>
          <p:cNvPr id="67" name="Text 65"/>
          <p:cNvSpPr/>
          <p:nvPr/>
        </p:nvSpPr>
        <p:spPr>
          <a:xfrm>
            <a:off x="6181344" y="3611880"/>
            <a:ext cx="365760" cy="320040"/>
          </a:xfrm>
          <a:prstGeom prst="rect">
            <a:avLst/>
          </a:prstGeom>
          <a:noFill/>
          <a:ln/>
        </p:spPr>
        <p:txBody>
          <a:bodyPr wrap="square" rtlCol="0" anchor="ctr"/>
          <a:lstStyle/>
          <a:p>
            <a:pPr marL="0" indent="0">
              <a:buNone/>
            </a:pPr>
            <a:r>
              <a:rPr lang="en-US" sz="1100" b="1" dirty="0">
                <a:solidFill>
                  <a:srgbClr val="FFCC4F"/>
                </a:solidFill>
                <a:latin typeface="Calibri" pitchFamily="34" charset="0"/>
                <a:ea typeface="Calibri" pitchFamily="34" charset="-122"/>
                <a:cs typeface="Calibri" pitchFamily="34" charset="-120"/>
              </a:rPr>
              <a:t>20</a:t>
            </a:r>
            <a:endParaRPr lang="en-US" sz="1100" dirty="0"/>
          </a:p>
        </p:txBody>
      </p:sp>
      <p:sp>
        <p:nvSpPr>
          <p:cNvPr id="68" name="Shape 66"/>
          <p:cNvSpPr/>
          <p:nvPr/>
        </p:nvSpPr>
        <p:spPr>
          <a:xfrm>
            <a:off x="6501384" y="3657600"/>
            <a:ext cx="201168" cy="201168"/>
          </a:xfrm>
          <a:prstGeom prst="rect">
            <a:avLst/>
          </a:prstGeom>
          <a:solidFill>
            <a:srgbClr val="FFFFFF"/>
          </a:solidFill>
          <a:ln w="19050">
            <a:solidFill>
              <a:srgbClr val="FFCC4F"/>
            </a:solidFill>
            <a:prstDash val="solid"/>
          </a:ln>
        </p:spPr>
        <p:txBody>
          <a:bodyPr/>
          <a:lstStyle/>
          <a:p>
            <a:endParaRPr lang="en-TR"/>
          </a:p>
        </p:txBody>
      </p:sp>
      <p:sp>
        <p:nvSpPr>
          <p:cNvPr id="69" name="Text 67"/>
          <p:cNvSpPr/>
          <p:nvPr/>
        </p:nvSpPr>
        <p:spPr>
          <a:xfrm>
            <a:off x="6775704" y="3611880"/>
            <a:ext cx="2103120" cy="365760"/>
          </a:xfrm>
          <a:prstGeom prst="rect">
            <a:avLst/>
          </a:prstGeom>
          <a:noFill/>
          <a:ln/>
        </p:spPr>
        <p:txBody>
          <a:bodyPr wrap="square" rtlCol="0" anchor="ctr"/>
          <a:lstStyle/>
          <a:p>
            <a:pPr marL="0" indent="0">
              <a:buNone/>
            </a:pPr>
            <a:r>
              <a:rPr lang="en-US" sz="1000" dirty="0">
                <a:solidFill>
                  <a:srgbClr val="393939"/>
                </a:solidFill>
                <a:latin typeface="Calibri" pitchFamily="34" charset="0"/>
                <a:ea typeface="Calibri" pitchFamily="34" charset="-122"/>
                <a:cs typeface="Calibri" pitchFamily="34" charset="-120"/>
              </a:rPr>
              <a:t>Davranış kurum politikalarıyla hizalı mı?</a:t>
            </a:r>
            <a:endParaRPr lang="en-US" sz="1000" dirty="0"/>
          </a:p>
        </p:txBody>
      </p:sp>
      <p:sp>
        <p:nvSpPr>
          <p:cNvPr id="70" name="Text 68"/>
          <p:cNvSpPr/>
          <p:nvPr/>
        </p:nvSpPr>
        <p:spPr>
          <a:xfrm>
            <a:off x="548640" y="4617720"/>
            <a:ext cx="8229600" cy="274320"/>
          </a:xfrm>
          <a:prstGeom prst="rect">
            <a:avLst/>
          </a:prstGeom>
          <a:noFill/>
          <a:ln/>
        </p:spPr>
        <p:txBody>
          <a:bodyPr wrap="square" rtlCol="0" anchor="ctr"/>
          <a:lstStyle/>
          <a:p>
            <a:pPr marL="0" indent="0" algn="ctr">
              <a:buNone/>
            </a:pPr>
            <a:r>
              <a:rPr lang="en-US" sz="1100" b="1" i="1" dirty="0">
                <a:solidFill>
                  <a:srgbClr val="393939"/>
                </a:solidFill>
                <a:latin typeface="Calibri" pitchFamily="34" charset="0"/>
                <a:ea typeface="Calibri" pitchFamily="34" charset="-122"/>
                <a:cs typeface="Calibri" pitchFamily="34" charset="-120"/>
              </a:rPr>
              <a:t>Onaylamadığınız bir madde varsa, henüz production'a hazır değilsiniz.</a:t>
            </a:r>
            <a:endParaRPr lang="en-US" sz="1100" dirty="0"/>
          </a:p>
        </p:txBody>
      </p:sp>
      <p:sp>
        <p:nvSpPr>
          <p:cNvPr id="71" name="Text 69"/>
          <p:cNvSpPr/>
          <p:nvPr/>
        </p:nvSpPr>
        <p:spPr>
          <a:xfrm>
            <a:off x="6400800" y="4846320"/>
            <a:ext cx="2560320" cy="228600"/>
          </a:xfrm>
          <a:prstGeom prst="rect">
            <a:avLst/>
          </a:prstGeom>
          <a:noFill/>
          <a:ln/>
        </p:spPr>
        <p:txBody>
          <a:bodyPr wrap="square" rtlCol="0" anchor="ctr"/>
          <a:lstStyle/>
          <a:p>
            <a:pPr marL="0" indent="0" algn="r">
              <a:buNone/>
            </a:pPr>
            <a:r>
              <a:rPr lang="en-US" sz="900" i="1" dirty="0">
                <a:solidFill>
                  <a:srgbClr val="545454"/>
                </a:solidFill>
                <a:latin typeface="Calibri" pitchFamily="34" charset="0"/>
                <a:ea typeface="Calibri" pitchFamily="34" charset="-122"/>
                <a:cs typeface="Calibri" pitchFamily="34" charset="-120"/>
              </a:rPr>
              <a:t>27 / 29  •  Kurumsal</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393939"/>
        </a:solidFill>
        <a:effectLst/>
      </p:bgPr>
    </p:bg>
    <p:spTree>
      <p:nvGrpSpPr>
        <p:cNvPr id="1" name=""/>
        <p:cNvGrpSpPr/>
        <p:nvPr/>
      </p:nvGrpSpPr>
      <p:grpSpPr>
        <a:xfrm>
          <a:off x="0" y="0"/>
          <a:ext cx="0" cy="0"/>
          <a:chOff x="0" y="0"/>
          <a:chExt cx="0" cy="0"/>
        </a:xfrm>
      </p:grpSpPr>
      <p:sp>
        <p:nvSpPr>
          <p:cNvPr id="2" name="Text 0"/>
          <p:cNvSpPr/>
          <p:nvPr/>
        </p:nvSpPr>
        <p:spPr>
          <a:xfrm>
            <a:off x="548640" y="548640"/>
            <a:ext cx="8229600" cy="274320"/>
          </a:xfrm>
          <a:prstGeom prst="rect">
            <a:avLst/>
          </a:prstGeom>
          <a:noFill/>
          <a:ln/>
        </p:spPr>
        <p:txBody>
          <a:bodyPr wrap="square" rtlCol="0" anchor="ctr"/>
          <a:lstStyle/>
          <a:p>
            <a:pPr marL="0" indent="0">
              <a:buNone/>
            </a:pPr>
            <a:r>
              <a:rPr lang="en-US" sz="1100" b="1" kern="0" spc="500" dirty="0">
                <a:solidFill>
                  <a:srgbClr val="65D7DE"/>
                </a:solidFill>
                <a:latin typeface="Calibri" pitchFamily="34" charset="0"/>
                <a:ea typeface="Calibri" pitchFamily="34" charset="-122"/>
                <a:cs typeface="Calibri" pitchFamily="34" charset="-120"/>
              </a:rPr>
              <a:t>KAPANIŞ</a:t>
            </a:r>
            <a:endParaRPr lang="en-US" sz="1100" dirty="0"/>
          </a:p>
        </p:txBody>
      </p:sp>
      <p:sp>
        <p:nvSpPr>
          <p:cNvPr id="3" name="Text 1"/>
          <p:cNvSpPr/>
          <p:nvPr/>
        </p:nvSpPr>
        <p:spPr>
          <a:xfrm>
            <a:off x="548640" y="1005840"/>
            <a:ext cx="8229600" cy="640080"/>
          </a:xfrm>
          <a:prstGeom prst="rect">
            <a:avLst/>
          </a:prstGeom>
          <a:noFill/>
          <a:ln/>
        </p:spPr>
        <p:txBody>
          <a:bodyPr wrap="square"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Agent çağında</a:t>
            </a:r>
            <a:endParaRPr lang="en-US" sz="4800" dirty="0"/>
          </a:p>
        </p:txBody>
      </p:sp>
      <p:sp>
        <p:nvSpPr>
          <p:cNvPr id="4" name="Text 2"/>
          <p:cNvSpPr/>
          <p:nvPr/>
        </p:nvSpPr>
        <p:spPr>
          <a:xfrm>
            <a:off x="548640" y="1691640"/>
            <a:ext cx="8229600" cy="640080"/>
          </a:xfrm>
          <a:prstGeom prst="rect">
            <a:avLst/>
          </a:prstGeom>
          <a:noFill/>
          <a:ln/>
        </p:spPr>
        <p:txBody>
          <a:bodyPr wrap="square" rtlCol="0" anchor="ctr"/>
          <a:lstStyle/>
          <a:p>
            <a:pPr marL="0" indent="0">
              <a:buNone/>
            </a:pPr>
            <a:r>
              <a:rPr lang="en-US" sz="4800" b="1" dirty="0">
                <a:solidFill>
                  <a:srgbClr val="65D7DE"/>
                </a:solidFill>
                <a:latin typeface="Calibri" pitchFamily="34" charset="0"/>
                <a:ea typeface="Calibri" pitchFamily="34" charset="-122"/>
                <a:cs typeface="Calibri" pitchFamily="34" charset="-120"/>
              </a:rPr>
              <a:t>kazanan kim olacak?</a:t>
            </a:r>
            <a:endParaRPr lang="en-US" sz="4800" dirty="0"/>
          </a:p>
        </p:txBody>
      </p:sp>
      <p:sp>
        <p:nvSpPr>
          <p:cNvPr id="5" name="Shape 3"/>
          <p:cNvSpPr/>
          <p:nvPr/>
        </p:nvSpPr>
        <p:spPr>
          <a:xfrm>
            <a:off x="548640" y="2606040"/>
            <a:ext cx="1371600" cy="0"/>
          </a:xfrm>
          <a:prstGeom prst="line">
            <a:avLst/>
          </a:prstGeom>
          <a:noFill/>
          <a:ln w="38100">
            <a:solidFill>
              <a:srgbClr val="FFCC4F"/>
            </a:solidFill>
            <a:prstDash val="solid"/>
          </a:ln>
        </p:spPr>
        <p:txBody>
          <a:bodyPr/>
          <a:lstStyle/>
          <a:p>
            <a:endParaRPr lang="en-TR"/>
          </a:p>
        </p:txBody>
      </p:sp>
      <p:sp>
        <p:nvSpPr>
          <p:cNvPr id="6" name="Text 4"/>
          <p:cNvSpPr/>
          <p:nvPr/>
        </p:nvSpPr>
        <p:spPr>
          <a:xfrm>
            <a:off x="548640" y="2788920"/>
            <a:ext cx="8229600" cy="1463040"/>
          </a:xfrm>
          <a:prstGeom prst="rect">
            <a:avLst/>
          </a:prstGeom>
          <a:noFill/>
          <a:ln/>
        </p:spPr>
        <p:txBody>
          <a:bodyPr wrap="square" rtlCol="0" anchor="ctr"/>
          <a:lstStyle/>
          <a:p>
            <a:pPr marL="0" indent="0">
              <a:buNone/>
            </a:pPr>
            <a:r>
              <a:rPr lang="en-US" sz="2200" i="1" dirty="0">
                <a:solidFill>
                  <a:srgbClr val="CCCCCC"/>
                </a:solidFill>
                <a:latin typeface="Calibri" pitchFamily="34" charset="0"/>
                <a:ea typeface="Calibri" pitchFamily="34" charset="-122"/>
                <a:cs typeface="Calibri" pitchFamily="34" charset="-120"/>
              </a:rPr>
              <a:t>Daha akıllı modelleri geliştirenlerin değil;
</a:t>
            </a:r>
            <a:r>
              <a:rPr lang="en-US" sz="2200" dirty="0">
                <a:solidFill>
                  <a:srgbClr val="FFFFFF"/>
                </a:solidFill>
                <a:latin typeface="Calibri" pitchFamily="34" charset="0"/>
                <a:ea typeface="Calibri" pitchFamily="34" charset="-122"/>
                <a:cs typeface="Calibri" pitchFamily="34" charset="-120"/>
              </a:rPr>
              <a:t>bu modelleri kurumsal dünyada </a:t>
            </a:r>
            <a:r>
              <a:rPr lang="en-US" sz="2200" b="1" dirty="0">
                <a:solidFill>
                  <a:srgbClr val="65D7DE"/>
                </a:solidFill>
                <a:latin typeface="Calibri" pitchFamily="34" charset="0"/>
                <a:ea typeface="Calibri" pitchFamily="34" charset="-122"/>
                <a:cs typeface="Calibri" pitchFamily="34" charset="-120"/>
              </a:rPr>
              <a:t>güvenilir sistemlere</a:t>
            </a:r>
            <a:endParaRPr lang="en-US" sz="2200" dirty="0"/>
          </a:p>
          <a:p>
            <a:pPr marL="0" indent="0">
              <a:buNone/>
            </a:pPr>
            <a:r>
              <a:rPr lang="en-US" sz="2200" b="1" dirty="0">
                <a:solidFill>
                  <a:srgbClr val="65D7DE"/>
                </a:solidFill>
                <a:latin typeface="Calibri" pitchFamily="34" charset="0"/>
                <a:ea typeface="Calibri" pitchFamily="34" charset="-122"/>
                <a:cs typeface="Calibri" pitchFamily="34" charset="-120"/>
              </a:rPr>
              <a:t>dönüştürebilenlerin</a:t>
            </a:r>
            <a:endParaRPr lang="en-US" sz="2200" dirty="0"/>
          </a:p>
          <a:p>
            <a:pPr marL="0" indent="0">
              <a:buNone/>
            </a:pPr>
            <a:r>
              <a:rPr lang="en-US" sz="2200" b="1" dirty="0">
                <a:solidFill>
                  <a:srgbClr val="FFCC4F"/>
                </a:solidFill>
                <a:latin typeface="Calibri" pitchFamily="34" charset="0"/>
                <a:ea typeface="Calibri" pitchFamily="34" charset="-122"/>
                <a:cs typeface="Calibri" pitchFamily="34" charset="-120"/>
              </a:rPr>
              <a:t> olacak.</a:t>
            </a:r>
            <a:endParaRPr lang="en-US" sz="2200" dirty="0"/>
          </a:p>
        </p:txBody>
      </p:sp>
      <p:sp>
        <p:nvSpPr>
          <p:cNvPr id="7" name="Text 5"/>
          <p:cNvSpPr/>
          <p:nvPr/>
        </p:nvSpPr>
        <p:spPr>
          <a:xfrm>
            <a:off x="548640" y="4434840"/>
            <a:ext cx="8229600" cy="365760"/>
          </a:xfrm>
          <a:prstGeom prst="rect">
            <a:avLst/>
          </a:prstGeom>
          <a:noFill/>
          <a:ln/>
        </p:spPr>
        <p:txBody>
          <a:bodyPr wrap="square" rtlCol="0" anchor="ctr"/>
          <a:lstStyle/>
          <a:p>
            <a:pPr marL="0" indent="0" algn="ctr">
              <a:buNone/>
            </a:pPr>
            <a:r>
              <a:rPr lang="en-US" sz="1200" i="1" dirty="0">
                <a:solidFill>
                  <a:srgbClr val="545454"/>
                </a:solidFill>
                <a:latin typeface="Calibri" pitchFamily="34" charset="0"/>
                <a:ea typeface="Calibri" pitchFamily="34" charset="-122"/>
                <a:cs typeface="Calibri" pitchFamily="34" charset="-120"/>
              </a:rPr>
              <a:t>Yarın kuracağınız sistem ne kadar otonom olursa, bugün düşünmeniz gereken kontroller o kadar derin olmalı.</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393939"/>
        </a:solidFill>
        <a:effectLst/>
      </p:bgPr>
    </p:bg>
    <p:spTree>
      <p:nvGrpSpPr>
        <p:cNvPr id="1" name=""/>
        <p:cNvGrpSpPr/>
        <p:nvPr/>
      </p:nvGrpSpPr>
      <p:grpSpPr>
        <a:xfrm>
          <a:off x="0" y="0"/>
          <a:ext cx="0" cy="0"/>
          <a:chOff x="0" y="0"/>
          <a:chExt cx="0" cy="0"/>
        </a:xfrm>
      </p:grpSpPr>
      <p:sp>
        <p:nvSpPr>
          <p:cNvPr id="2" name="Shape 0"/>
          <p:cNvSpPr/>
          <p:nvPr/>
        </p:nvSpPr>
        <p:spPr>
          <a:xfrm>
            <a:off x="5943600" y="182880"/>
            <a:ext cx="3200400" cy="0"/>
          </a:xfrm>
          <a:prstGeom prst="line">
            <a:avLst/>
          </a:prstGeom>
          <a:noFill/>
          <a:ln w="6350">
            <a:solidFill>
              <a:srgbClr val="65D7DE">
                <a:alpha val="30000"/>
              </a:srgbClr>
            </a:solidFill>
            <a:prstDash val="solid"/>
          </a:ln>
        </p:spPr>
        <p:txBody>
          <a:bodyPr/>
          <a:lstStyle/>
          <a:p>
            <a:endParaRPr lang="en-TR"/>
          </a:p>
        </p:txBody>
      </p:sp>
      <p:sp>
        <p:nvSpPr>
          <p:cNvPr id="3" name="Shape 1"/>
          <p:cNvSpPr/>
          <p:nvPr/>
        </p:nvSpPr>
        <p:spPr>
          <a:xfrm>
            <a:off x="5989320" y="256032"/>
            <a:ext cx="3154680" cy="0"/>
          </a:xfrm>
          <a:prstGeom prst="line">
            <a:avLst/>
          </a:prstGeom>
          <a:noFill/>
          <a:ln w="6350">
            <a:solidFill>
              <a:srgbClr val="65D7DE">
                <a:alpha val="30000"/>
              </a:srgbClr>
            </a:solidFill>
            <a:prstDash val="solid"/>
          </a:ln>
        </p:spPr>
        <p:txBody>
          <a:bodyPr/>
          <a:lstStyle/>
          <a:p>
            <a:endParaRPr lang="en-TR"/>
          </a:p>
        </p:txBody>
      </p:sp>
      <p:sp>
        <p:nvSpPr>
          <p:cNvPr id="4" name="Shape 2"/>
          <p:cNvSpPr/>
          <p:nvPr/>
        </p:nvSpPr>
        <p:spPr>
          <a:xfrm>
            <a:off x="6035040" y="329184"/>
            <a:ext cx="3108960" cy="0"/>
          </a:xfrm>
          <a:prstGeom prst="line">
            <a:avLst/>
          </a:prstGeom>
          <a:noFill/>
          <a:ln w="6350">
            <a:solidFill>
              <a:srgbClr val="65D7DE">
                <a:alpha val="30000"/>
              </a:srgbClr>
            </a:solidFill>
            <a:prstDash val="solid"/>
          </a:ln>
        </p:spPr>
        <p:txBody>
          <a:bodyPr/>
          <a:lstStyle/>
          <a:p>
            <a:endParaRPr lang="en-TR"/>
          </a:p>
        </p:txBody>
      </p:sp>
      <p:sp>
        <p:nvSpPr>
          <p:cNvPr id="5" name="Shape 3"/>
          <p:cNvSpPr/>
          <p:nvPr/>
        </p:nvSpPr>
        <p:spPr>
          <a:xfrm>
            <a:off x="6080760" y="402336"/>
            <a:ext cx="3063240" cy="0"/>
          </a:xfrm>
          <a:prstGeom prst="line">
            <a:avLst/>
          </a:prstGeom>
          <a:noFill/>
          <a:ln w="6350">
            <a:solidFill>
              <a:srgbClr val="65D7DE">
                <a:alpha val="30000"/>
              </a:srgbClr>
            </a:solidFill>
            <a:prstDash val="solid"/>
          </a:ln>
        </p:spPr>
        <p:txBody>
          <a:bodyPr/>
          <a:lstStyle/>
          <a:p>
            <a:endParaRPr lang="en-TR"/>
          </a:p>
        </p:txBody>
      </p:sp>
      <p:sp>
        <p:nvSpPr>
          <p:cNvPr id="6" name="Shape 4"/>
          <p:cNvSpPr/>
          <p:nvPr/>
        </p:nvSpPr>
        <p:spPr>
          <a:xfrm>
            <a:off x="6126480" y="475488"/>
            <a:ext cx="3017520" cy="0"/>
          </a:xfrm>
          <a:prstGeom prst="line">
            <a:avLst/>
          </a:prstGeom>
          <a:noFill/>
          <a:ln w="6350">
            <a:solidFill>
              <a:srgbClr val="65D7DE">
                <a:alpha val="30000"/>
              </a:srgbClr>
            </a:solidFill>
            <a:prstDash val="solid"/>
          </a:ln>
        </p:spPr>
        <p:txBody>
          <a:bodyPr/>
          <a:lstStyle/>
          <a:p>
            <a:endParaRPr lang="en-TR"/>
          </a:p>
        </p:txBody>
      </p:sp>
      <p:sp>
        <p:nvSpPr>
          <p:cNvPr id="7" name="Shape 5"/>
          <p:cNvSpPr/>
          <p:nvPr/>
        </p:nvSpPr>
        <p:spPr>
          <a:xfrm>
            <a:off x="6172200" y="548640"/>
            <a:ext cx="2971800" cy="0"/>
          </a:xfrm>
          <a:prstGeom prst="line">
            <a:avLst/>
          </a:prstGeom>
          <a:noFill/>
          <a:ln w="6350">
            <a:solidFill>
              <a:srgbClr val="65D7DE">
                <a:alpha val="30000"/>
              </a:srgbClr>
            </a:solidFill>
            <a:prstDash val="solid"/>
          </a:ln>
        </p:spPr>
        <p:txBody>
          <a:bodyPr/>
          <a:lstStyle/>
          <a:p>
            <a:endParaRPr lang="en-TR"/>
          </a:p>
        </p:txBody>
      </p:sp>
      <p:sp>
        <p:nvSpPr>
          <p:cNvPr id="8" name="Shape 6"/>
          <p:cNvSpPr/>
          <p:nvPr/>
        </p:nvSpPr>
        <p:spPr>
          <a:xfrm>
            <a:off x="6217920" y="621792"/>
            <a:ext cx="2926080" cy="0"/>
          </a:xfrm>
          <a:prstGeom prst="line">
            <a:avLst/>
          </a:prstGeom>
          <a:noFill/>
          <a:ln w="6350">
            <a:solidFill>
              <a:srgbClr val="65D7DE">
                <a:alpha val="30000"/>
              </a:srgbClr>
            </a:solidFill>
            <a:prstDash val="solid"/>
          </a:ln>
        </p:spPr>
        <p:txBody>
          <a:bodyPr/>
          <a:lstStyle/>
          <a:p>
            <a:endParaRPr lang="en-TR"/>
          </a:p>
        </p:txBody>
      </p:sp>
      <p:sp>
        <p:nvSpPr>
          <p:cNvPr id="9" name="Shape 7"/>
          <p:cNvSpPr/>
          <p:nvPr/>
        </p:nvSpPr>
        <p:spPr>
          <a:xfrm>
            <a:off x="6263640" y="694944"/>
            <a:ext cx="2880360" cy="0"/>
          </a:xfrm>
          <a:prstGeom prst="line">
            <a:avLst/>
          </a:prstGeom>
          <a:noFill/>
          <a:ln w="6350">
            <a:solidFill>
              <a:srgbClr val="65D7DE">
                <a:alpha val="30000"/>
              </a:srgbClr>
            </a:solidFill>
            <a:prstDash val="solid"/>
          </a:ln>
        </p:spPr>
        <p:txBody>
          <a:bodyPr/>
          <a:lstStyle/>
          <a:p>
            <a:endParaRPr lang="en-TR"/>
          </a:p>
        </p:txBody>
      </p:sp>
      <p:sp>
        <p:nvSpPr>
          <p:cNvPr id="10" name="Shape 8"/>
          <p:cNvSpPr/>
          <p:nvPr/>
        </p:nvSpPr>
        <p:spPr>
          <a:xfrm>
            <a:off x="6309360" y="768096"/>
            <a:ext cx="2834640" cy="0"/>
          </a:xfrm>
          <a:prstGeom prst="line">
            <a:avLst/>
          </a:prstGeom>
          <a:noFill/>
          <a:ln w="6350">
            <a:solidFill>
              <a:srgbClr val="65D7DE">
                <a:alpha val="30000"/>
              </a:srgbClr>
            </a:solidFill>
            <a:prstDash val="solid"/>
          </a:ln>
        </p:spPr>
        <p:txBody>
          <a:bodyPr/>
          <a:lstStyle/>
          <a:p>
            <a:endParaRPr lang="en-TR"/>
          </a:p>
        </p:txBody>
      </p:sp>
      <p:sp>
        <p:nvSpPr>
          <p:cNvPr id="11" name="Shape 9"/>
          <p:cNvSpPr/>
          <p:nvPr/>
        </p:nvSpPr>
        <p:spPr>
          <a:xfrm>
            <a:off x="6355080" y="841248"/>
            <a:ext cx="2788920" cy="0"/>
          </a:xfrm>
          <a:prstGeom prst="line">
            <a:avLst/>
          </a:prstGeom>
          <a:noFill/>
          <a:ln w="6350">
            <a:solidFill>
              <a:srgbClr val="65D7DE">
                <a:alpha val="30000"/>
              </a:srgbClr>
            </a:solidFill>
            <a:prstDash val="solid"/>
          </a:ln>
        </p:spPr>
        <p:txBody>
          <a:bodyPr/>
          <a:lstStyle/>
          <a:p>
            <a:endParaRPr lang="en-TR"/>
          </a:p>
        </p:txBody>
      </p:sp>
      <p:sp>
        <p:nvSpPr>
          <p:cNvPr id="12" name="Shape 10"/>
          <p:cNvSpPr/>
          <p:nvPr/>
        </p:nvSpPr>
        <p:spPr>
          <a:xfrm>
            <a:off x="6400800" y="914400"/>
            <a:ext cx="2743200" cy="0"/>
          </a:xfrm>
          <a:prstGeom prst="line">
            <a:avLst/>
          </a:prstGeom>
          <a:noFill/>
          <a:ln w="6350">
            <a:solidFill>
              <a:srgbClr val="65D7DE">
                <a:alpha val="30000"/>
              </a:srgbClr>
            </a:solidFill>
            <a:prstDash val="solid"/>
          </a:ln>
        </p:spPr>
        <p:txBody>
          <a:bodyPr/>
          <a:lstStyle/>
          <a:p>
            <a:endParaRPr lang="en-TR"/>
          </a:p>
        </p:txBody>
      </p:sp>
      <p:sp>
        <p:nvSpPr>
          <p:cNvPr id="13" name="Shape 11"/>
          <p:cNvSpPr/>
          <p:nvPr/>
        </p:nvSpPr>
        <p:spPr>
          <a:xfrm>
            <a:off x="6446520" y="987552"/>
            <a:ext cx="2697480" cy="0"/>
          </a:xfrm>
          <a:prstGeom prst="line">
            <a:avLst/>
          </a:prstGeom>
          <a:noFill/>
          <a:ln w="6350">
            <a:solidFill>
              <a:srgbClr val="65D7DE">
                <a:alpha val="30000"/>
              </a:srgbClr>
            </a:solidFill>
            <a:prstDash val="solid"/>
          </a:ln>
        </p:spPr>
        <p:txBody>
          <a:bodyPr/>
          <a:lstStyle/>
          <a:p>
            <a:endParaRPr lang="en-TR"/>
          </a:p>
        </p:txBody>
      </p:sp>
      <p:sp>
        <p:nvSpPr>
          <p:cNvPr id="14" name="Text 12"/>
          <p:cNvSpPr/>
          <p:nvPr/>
        </p:nvSpPr>
        <p:spPr>
          <a:xfrm>
            <a:off x="457200" y="365760"/>
            <a:ext cx="731520" cy="731520"/>
          </a:xfrm>
          <a:prstGeom prst="rect">
            <a:avLst/>
          </a:prstGeom>
          <a:noFill/>
          <a:ln/>
        </p:spPr>
        <p:txBody>
          <a:bodyPr wrap="square" rtlCol="0" anchor="ctr"/>
          <a:lstStyle/>
          <a:p>
            <a:pPr marL="0" indent="0">
              <a:buNone/>
            </a:pPr>
            <a:r>
              <a:rPr lang="en-US" sz="5600" b="1" dirty="0">
                <a:solidFill>
                  <a:srgbClr val="65D7DE"/>
                </a:solidFill>
                <a:latin typeface="Calibri" pitchFamily="34" charset="0"/>
                <a:ea typeface="Calibri" pitchFamily="34" charset="-122"/>
                <a:cs typeface="Calibri" pitchFamily="34" charset="-120"/>
              </a:rPr>
              <a:t>&lt;</a:t>
            </a:r>
            <a:endParaRPr lang="en-US" sz="5600" dirty="0"/>
          </a:p>
        </p:txBody>
      </p:sp>
      <p:sp>
        <p:nvSpPr>
          <p:cNvPr id="15" name="Text 13"/>
          <p:cNvSpPr/>
          <p:nvPr/>
        </p:nvSpPr>
        <p:spPr>
          <a:xfrm>
            <a:off x="548640" y="1280160"/>
            <a:ext cx="5029200" cy="914400"/>
          </a:xfrm>
          <a:prstGeom prst="rect">
            <a:avLst/>
          </a:prstGeom>
          <a:noFill/>
          <a:ln/>
        </p:spPr>
        <p:txBody>
          <a:bodyPr wrap="square" rtlCol="0" anchor="ctr"/>
          <a:lstStyle/>
          <a:p>
            <a:pPr marL="0" indent="0">
              <a:buNone/>
            </a:pPr>
            <a:r>
              <a:rPr lang="en-US" sz="6400" b="1" dirty="0">
                <a:solidFill>
                  <a:srgbClr val="65D7DE"/>
                </a:solidFill>
                <a:latin typeface="Calibri" pitchFamily="34" charset="0"/>
                <a:ea typeface="Calibri" pitchFamily="34" charset="-122"/>
                <a:cs typeface="Calibri" pitchFamily="34" charset="-120"/>
              </a:rPr>
              <a:t>Teşekkürler.</a:t>
            </a:r>
            <a:endParaRPr lang="en-US" sz="6400" dirty="0"/>
          </a:p>
        </p:txBody>
      </p:sp>
      <p:sp>
        <p:nvSpPr>
          <p:cNvPr id="16" name="Text 14"/>
          <p:cNvSpPr/>
          <p:nvPr/>
        </p:nvSpPr>
        <p:spPr>
          <a:xfrm>
            <a:off x="548640" y="2286000"/>
            <a:ext cx="5029200" cy="640080"/>
          </a:xfrm>
          <a:prstGeom prst="rect">
            <a:avLst/>
          </a:prstGeom>
          <a:noFill/>
          <a:ln/>
        </p:spPr>
        <p:txBody>
          <a:bodyPr wrap="square" rtlCol="0" anchor="ctr"/>
          <a:lstStyle/>
          <a:p>
            <a:pPr marL="0" indent="0">
              <a:buNone/>
            </a:pPr>
            <a:r>
              <a:rPr lang="en-US" sz="2800" i="1" dirty="0">
                <a:solidFill>
                  <a:srgbClr val="FFFFFF"/>
                </a:solidFill>
                <a:latin typeface="Calibri" pitchFamily="34" charset="0"/>
                <a:ea typeface="Calibri" pitchFamily="34" charset="-122"/>
                <a:cs typeface="Calibri" pitchFamily="34" charset="-120"/>
              </a:rPr>
              <a:t>Sorularınız?</a:t>
            </a:r>
            <a:endParaRPr lang="en-US" sz="2800" dirty="0"/>
          </a:p>
        </p:txBody>
      </p:sp>
      <p:sp>
        <p:nvSpPr>
          <p:cNvPr id="17" name="Shape 15"/>
          <p:cNvSpPr/>
          <p:nvPr/>
        </p:nvSpPr>
        <p:spPr>
          <a:xfrm>
            <a:off x="6400800" y="1371600"/>
            <a:ext cx="1828800" cy="1828800"/>
          </a:xfrm>
          <a:prstGeom prst="ellipse">
            <a:avLst/>
          </a:prstGeom>
          <a:solidFill>
            <a:srgbClr val="65D7DE"/>
          </a:solidFill>
          <a:ln w="12700">
            <a:solidFill>
              <a:srgbClr val="65D7DE"/>
            </a:solidFill>
            <a:prstDash val="solid"/>
          </a:ln>
        </p:spPr>
        <p:txBody>
          <a:bodyPr/>
          <a:lstStyle/>
          <a:p>
            <a:endParaRPr lang="en-TR"/>
          </a:p>
        </p:txBody>
      </p:sp>
      <p:sp>
        <p:nvSpPr>
          <p:cNvPr id="18" name="Text 16"/>
          <p:cNvSpPr/>
          <p:nvPr/>
        </p:nvSpPr>
        <p:spPr>
          <a:xfrm>
            <a:off x="6400800" y="1371600"/>
            <a:ext cx="1828800" cy="1828800"/>
          </a:xfrm>
          <a:prstGeom prst="rect">
            <a:avLst/>
          </a:prstGeom>
          <a:noFill/>
          <a:ln/>
        </p:spPr>
        <p:txBody>
          <a:bodyPr wrap="square" rtlCol="0" anchor="ctr"/>
          <a:lstStyle/>
          <a:p>
            <a:pPr marL="0" indent="0" algn="ctr">
              <a:buNone/>
            </a:pPr>
            <a:r>
              <a:rPr lang="en-US" sz="6000" b="1" dirty="0">
                <a:solidFill>
                  <a:srgbClr val="393939"/>
                </a:solidFill>
                <a:latin typeface="Calibri" pitchFamily="34" charset="0"/>
                <a:ea typeface="Calibri" pitchFamily="34" charset="-122"/>
                <a:cs typeface="Calibri" pitchFamily="34" charset="-120"/>
              </a:rPr>
              <a:t>ŞS</a:t>
            </a:r>
            <a:endParaRPr lang="en-US" sz="6000" dirty="0"/>
          </a:p>
        </p:txBody>
      </p:sp>
      <p:sp>
        <p:nvSpPr>
          <p:cNvPr id="19" name="Text 17"/>
          <p:cNvSpPr/>
          <p:nvPr/>
        </p:nvSpPr>
        <p:spPr>
          <a:xfrm>
            <a:off x="5943600" y="3383280"/>
            <a:ext cx="2743200" cy="36576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Şeyma Sarıgıl</a:t>
            </a:r>
            <a:endParaRPr lang="en-US" sz="1800" dirty="0"/>
          </a:p>
        </p:txBody>
      </p:sp>
      <p:sp>
        <p:nvSpPr>
          <p:cNvPr id="20" name="Text 18"/>
          <p:cNvSpPr/>
          <p:nvPr/>
        </p:nvSpPr>
        <p:spPr>
          <a:xfrm>
            <a:off x="5943600" y="3749040"/>
            <a:ext cx="2743200" cy="274320"/>
          </a:xfrm>
          <a:prstGeom prst="rect">
            <a:avLst/>
          </a:prstGeom>
          <a:noFill/>
          <a:ln/>
        </p:spPr>
        <p:txBody>
          <a:bodyPr wrap="square" rtlCol="0" anchor="ctr"/>
          <a:lstStyle/>
          <a:p>
            <a:pPr marL="0" indent="0" algn="ctr">
              <a:buNone/>
            </a:pPr>
            <a:r>
              <a:rPr lang="en-US" sz="1300" dirty="0">
                <a:solidFill>
                  <a:srgbClr val="65D7DE"/>
                </a:solidFill>
                <a:latin typeface="Calibri" pitchFamily="34" charset="0"/>
                <a:ea typeface="Calibri" pitchFamily="34" charset="-122"/>
                <a:cs typeface="Calibri" pitchFamily="34" charset="-120"/>
              </a:rPr>
              <a:t>Generative AI Architect</a:t>
            </a:r>
            <a:endParaRPr lang="en-US" sz="1300" dirty="0"/>
          </a:p>
        </p:txBody>
      </p:sp>
      <p:sp>
        <p:nvSpPr>
          <p:cNvPr id="21" name="Text 19"/>
          <p:cNvSpPr/>
          <p:nvPr/>
        </p:nvSpPr>
        <p:spPr>
          <a:xfrm>
            <a:off x="5943600" y="4023360"/>
            <a:ext cx="2743200" cy="274320"/>
          </a:xfrm>
          <a:prstGeom prst="rect">
            <a:avLst/>
          </a:prstGeom>
          <a:noFill/>
          <a:ln/>
        </p:spPr>
        <p:txBody>
          <a:bodyPr wrap="square" rtlCol="0" anchor="ctr"/>
          <a:lstStyle/>
          <a:p>
            <a:pPr marL="0" indent="0" algn="ctr">
              <a:buNone/>
            </a:pPr>
            <a:r>
              <a:rPr lang="en-US" sz="1200" i="1" dirty="0">
                <a:solidFill>
                  <a:srgbClr val="545454"/>
                </a:solidFill>
                <a:latin typeface="Calibri" pitchFamily="34" charset="0"/>
                <a:ea typeface="Calibri" pitchFamily="34" charset="-122"/>
                <a:cs typeface="Calibri" pitchFamily="34" charset="-120"/>
              </a:rPr>
              <a:t>Softtech</a:t>
            </a:r>
            <a:endParaRPr lang="en-US" sz="1200" dirty="0"/>
          </a:p>
        </p:txBody>
      </p:sp>
      <p:sp>
        <p:nvSpPr>
          <p:cNvPr id="22" name="Text 20"/>
          <p:cNvSpPr/>
          <p:nvPr/>
        </p:nvSpPr>
        <p:spPr>
          <a:xfrm>
            <a:off x="548640" y="4663440"/>
            <a:ext cx="2743200" cy="274320"/>
          </a:xfrm>
          <a:prstGeom prst="rect">
            <a:avLst/>
          </a:prstGeom>
          <a:noFill/>
          <a:ln/>
        </p:spPr>
        <p:txBody>
          <a:bodyPr wrap="square" rtlCol="0" anchor="ctr"/>
          <a:lstStyle/>
          <a:p>
            <a:pPr marL="0" indent="0">
              <a:buNone/>
            </a:pPr>
            <a:r>
              <a:rPr lang="en-US" sz="1400" b="1" dirty="0">
                <a:solidFill>
                  <a:srgbClr val="65D7DE"/>
                </a:solidFill>
                <a:latin typeface="Calibri" pitchFamily="34" charset="0"/>
                <a:ea typeface="Calibri" pitchFamily="34" charset="-122"/>
                <a:cs typeface="Calibri" pitchFamily="34" charset="-120"/>
              </a:rPr>
              <a:t>&lt; softtech</a:t>
            </a:r>
            <a:endParaRPr lang="en-US" sz="1400" dirty="0"/>
          </a:p>
        </p:txBody>
      </p:sp>
      <p:sp>
        <p:nvSpPr>
          <p:cNvPr id="23" name="Text 21"/>
          <p:cNvSpPr/>
          <p:nvPr/>
        </p:nvSpPr>
        <p:spPr>
          <a:xfrm>
            <a:off x="5486400" y="4663440"/>
            <a:ext cx="3200400" cy="274320"/>
          </a:xfrm>
          <a:prstGeom prst="rect">
            <a:avLst/>
          </a:prstGeom>
          <a:noFill/>
          <a:ln/>
        </p:spPr>
        <p:txBody>
          <a:bodyPr wrap="square" rtlCol="0" anchor="ctr"/>
          <a:lstStyle/>
          <a:p>
            <a:pPr marL="0" indent="0" algn="r">
              <a:buNone/>
            </a:pPr>
            <a:r>
              <a:rPr lang="en-US" sz="1100" dirty="0">
                <a:solidFill>
                  <a:srgbClr val="CCCCCC"/>
                </a:solidFill>
                <a:latin typeface="Calibri" pitchFamily="34" charset="0"/>
                <a:ea typeface="Calibri" pitchFamily="34" charset="-122"/>
                <a:cs typeface="Calibri" pitchFamily="34" charset="-120"/>
              </a:rPr>
              <a:t>LinkedIn:  /in/</a:t>
            </a:r>
            <a:r>
              <a:rPr lang="en-US" sz="1100" dirty="0" err="1">
                <a:solidFill>
                  <a:srgbClr val="CCCCCC"/>
                </a:solidFill>
                <a:latin typeface="Calibri" pitchFamily="34" charset="0"/>
                <a:ea typeface="Calibri" pitchFamily="34" charset="-122"/>
                <a:cs typeface="Calibri" pitchFamily="34" charset="-120"/>
              </a:rPr>
              <a:t>seymasa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148</TotalTime>
  <Words>2889</Words>
  <Application>Microsoft Macintosh PowerPoint</Application>
  <PresentationFormat>On-screen Show (16:9)</PresentationFormat>
  <Paragraphs>479</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Softtech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Görünen Agent, Görünmeyen Harness</dc:title>
  <dc:subject>Agent Harness Mimarisi</dc:subject>
  <dc:creator>Şeyma Sarıgıl</dc:creator>
  <cp:lastModifiedBy>Seyma SARIGİL</cp:lastModifiedBy>
  <cp:revision>13</cp:revision>
  <dcterms:created xsi:type="dcterms:W3CDTF">2026-05-06T05:10:26Z</dcterms:created>
  <dcterms:modified xsi:type="dcterms:W3CDTF">2026-05-06T07:49:20Z</dcterms:modified>
</cp:coreProperties>
</file>